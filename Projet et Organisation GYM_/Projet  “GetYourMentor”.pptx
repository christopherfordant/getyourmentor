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5143500" cx="9144000"/>
  <p:notesSz cx="6858000" cy="9144000"/>
  <p:embeddedFontLst>
    <p:embeddedFont>
      <p:font typeface="Montserrat"/>
      <p:regular r:id="rId44"/>
      <p:bold r:id="rId45"/>
      <p:italic r:id="rId46"/>
      <p:boldItalic r:id="rId47"/>
    </p:embeddedFont>
    <p:embeddedFont>
      <p:font typeface="Lato"/>
      <p:regular r:id="rId48"/>
      <p:bold r:id="rId49"/>
      <p:italic r:id="rId50"/>
      <p:boldItalic r:id="rId51"/>
    </p:embeddedFont>
    <p:embeddedFont>
      <p:font typeface="Kumbh Sans"/>
      <p:regular r:id="rId52"/>
      <p:bold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9" name="Steven FORDANT"/>
  <p:cmAuthor clrIdx="1" id="1" initials="" lastIdx="11" name="Madison Seck"/>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Montserrat-regular.fntdata"/><Relationship Id="rId43" Type="http://schemas.openxmlformats.org/officeDocument/2006/relationships/slide" Target="slides/slide37.xml"/><Relationship Id="rId46" Type="http://schemas.openxmlformats.org/officeDocument/2006/relationships/font" Target="fonts/Montserrat-italic.fntdata"/><Relationship Id="rId45" Type="http://schemas.openxmlformats.org/officeDocument/2006/relationships/font" Target="fonts/Montserra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font" Target="fonts/Lato-regular.fntdata"/><Relationship Id="rId47" Type="http://schemas.openxmlformats.org/officeDocument/2006/relationships/font" Target="fonts/Montserrat-boldItalic.fntdata"/><Relationship Id="rId49" Type="http://schemas.openxmlformats.org/officeDocument/2006/relationships/font" Target="fonts/La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Lato-boldItalic.fntdata"/><Relationship Id="rId50" Type="http://schemas.openxmlformats.org/officeDocument/2006/relationships/font" Target="fonts/Lato-italic.fntdata"/><Relationship Id="rId53" Type="http://schemas.openxmlformats.org/officeDocument/2006/relationships/font" Target="fonts/KumbhSans-bold.fntdata"/><Relationship Id="rId52" Type="http://schemas.openxmlformats.org/officeDocument/2006/relationships/font" Target="fonts/KumbhSans-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02-05T15:16:14.647">
    <p:pos x="6000" y="0"/>
    <p:text>Après les sports où il n'y a pas beaucoup de licenciés pas sur que ça marche...</p:text>
  </p:cm>
  <p:cm authorId="1" idx="1" dt="2024-02-05T15:20:14.129">
    <p:pos x="414" y="830"/>
    <p:text>Faut il se positionner sur certains sports ? lesquels ?</p:text>
  </p:cm>
  <p:cm authorId="0" idx="2" dt="2024-02-05T15:16:51.418">
    <p:pos x="414" y="830"/>
    <p:text>A mon avis squatch padel il n'y a pas de cours...</p:text>
  </p:cm>
  <p:cm authorId="0" idx="3" dt="2024-02-05T15:20:14.129">
    <p:pos x="414" y="830"/>
    <p:text>les petits milieux comme le mma, la boxe, l'athlétisme... à mon avis tout le monde se connais...??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 dt="2024-02-06T10:11:54.382">
    <p:pos x="99" y="1146"/>
    <p:text>tout les coachs diplômés peuvent avoir une carte d'éducateur sportif. c'est national et tout sport confondue, ca permettra une certification des diplômes peut importe le sport.</p:text>
  </p:cm>
  <p:cm authorId="0" idx="4" dt="2024-02-06T10:11:54.382">
    <p:pos x="99" y="1146"/>
    <p:text>Oui c'est obligatoire, je pense quil faut demander CI, Diplome, Carte pro.
Les 3 sont indispensables</p:text>
  </p:cm>
  <p:cm authorId="1" idx="3" dt="2024-02-05T21:53:04.266">
    <p:pos x="99" y="1246"/>
    <p:text>à voir, je pense qu'on peut le faire</p:text>
  </p:cm>
  <p:cm authorId="0" idx="5" dt="2024-02-05T15:35:52.900">
    <p:pos x="99" y="1246"/>
    <p:text>J'y connais rien au volley...</p:text>
  </p:cm>
  <p:cm authorId="0" idx="6" dt="2024-02-05T15:36:35.648">
    <p:pos x="99" y="1246"/>
    <p:text>Et avec le foot on peut être débordé en les joueurs er les coachs...</p:text>
  </p:cm>
  <p:cm authorId="1" idx="4" dt="2024-02-05T15:38:44.385">
    <p:pos x="99" y="1246"/>
    <p:text>il va falloir que chacun d'entre nous se spécialise sur plusieurs sports en prenant des informations à gauche à droite, et par nos connaissance et ce qu'il se fait dans les autres sports pour mettre un prix etc...  je pense, on se divisera les sports et les taches</p:text>
  </p:cm>
  <p:cm authorId="1" idx="5" dt="2024-02-05T21:46:57.912">
    <p:pos x="99" y="1246"/>
    <p:text>Après je pense qu’il faut pas toucher beaucoup de sport au début je pense prendre le basket et le coaching personnalisé parce que si on veut trop en faire on risque nous de se perdre</p:text>
  </p:cm>
  <p:cm authorId="0" idx="7" dt="2024-02-05T21:53:04.266">
    <p:pos x="99" y="1246"/>
    <p:text>Le foot ça me parait indispensable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4-02-06T13:11:34.594">
    <p:pos x="37" y="735"/>
    <p:text>Les tarifs doivent aussi être différents en fonction s'il y a 1 ou 4 joueurs...
De plus je penses que l'on ne peut pas fixer les prix mais plutôt mettre une fourchette et les coachs choisisses. car en fonction des des régions, de la concurrence les prix peuvent varier...?</p:text>
  </p:cm>
  <p:cm authorId="1" idx="6" dt="2024-02-06T13:07:20.334">
    <p:pos x="37" y="735"/>
    <p:text>Un peu à la système blablacar, ou ça te met en rouge car ton annonce est trop chère ?</p:text>
  </p:cm>
  <p:cm authorId="1" idx="7" dt="2024-02-06T13:08:51.490">
    <p:pos x="37" y="735"/>
    <p:text>je sais pas, je regardais sur le site superprof et enfaite, il y a plein d'escroc. Exemple, il y a un entraineur qui fixe son prix et qui met 50€ l'heure, alors que le mec c'est un coach qui a des diplomes départemental</p:text>
  </p:cm>
  <p:cm authorId="1" idx="8" dt="2024-02-06T13:09:23.037">
    <p:pos x="37" y="735"/>
    <p:text>et à coté de ça, t as un mec avec le diplome regionnal, qui met 30€ la séance</p:text>
  </p:cm>
  <p:cm authorId="1" idx="9" dt="2024-02-06T13:11:34.594">
    <p:pos x="37" y="735"/>
    <p:text>Moi, je pense qu'on doit prédéfinir les tarifs : 1 pour que ce soit attractif pour le client. 
2 pour démarqué les meilleurs des plus nazes 3 pour ne pas avoir d'escroc sur le site</p:text>
  </p:cm>
  <p:cm authorId="1" idx="10" dt="2024-02-06T13:05:30.351">
    <p:pos x="37" y="835"/>
    <p:text>A voir ce que vous pensez de ça. Et à terme, faire payer au coach un abonnement au mois + les options qu'il voudra sur son annonce. Prix à modifier j'ai mis ça comme ca pour que le coach est une annonce complète à 20€ par mois.</p:text>
  </p:cm>
  <p:cm authorId="0" idx="9" dt="2024-02-06T10:07:27.386">
    <p:pos x="37" y="835"/>
    <p:text>20€ ça me parait beaucoup...
en plus une application avec statistique, vidéo et tout ça c'est archi cher.... mais pourquoi pas dans le temps...</p:text>
  </p:cm>
  <p:cm authorId="1" idx="11" dt="2024-02-06T13:05:30.351">
    <p:pos x="37" y="835"/>
    <p:text>bah si on met, plus tard, quand tout le monde est fidélisé, un abonnement par mois pour les entraineurs de 10€ qui augmentera au fur et à mesure des années avec des options qu'il peut payer pour parfaire son annonce ou son compte, je pense que ca va, à voir</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b68f8ba9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b68f8ba9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b6920f126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b6920f126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b68f8ba942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b68f8ba942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b68f8ba942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b68f8ba942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b68f8ba942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b68f8ba942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b68f8ba942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b68f8ba942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b68f8ba942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b68f8ba942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b68f8ba942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b68f8ba942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b68f8ba942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b68f8ba942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b68f8ba942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b68f8ba942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b68f8ba942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b68f8ba942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b68f8ba942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b68f8ba942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b68f8ba942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b68f8ba942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b6eb5933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b6eb5933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24ecdb2b7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24ecdb2b7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24ecdb2b7e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24ecdb2b7e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24ecdb2b7e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24ecdb2b7e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d7c4ec36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d7c4ec36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a516df43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a516df43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b68f8ba942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b68f8ba942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b68f8ba942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b68f8ba942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f0feddc97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f0feddc97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2fb3861a5d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2fb3861a5d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f1c1d33f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f1c1d33f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b7044b3a2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b7044b3a2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270a4bf9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270a4bf9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270a4bf97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270a4bf97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2af16a02d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2af16a02d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b68f8ba942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b68f8ba942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2af16a02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2af16a02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2fb3861a5d_1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2fb3861a5d_1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b7e34252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2b7e34252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2af16a02d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2af16a02d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f1c0e26cf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f1c0e26c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2fb3861a5d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2fb3861a5d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270a4bf97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270a4bf97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rps 1">
  <p:cSld name="TITLE_AND_BODY_1">
    <p:spTree>
      <p:nvGrpSpPr>
        <p:cNvPr id="130" name="Shape 130"/>
        <p:cNvGrpSpPr/>
        <p:nvPr/>
      </p:nvGrpSpPr>
      <p:grpSpPr>
        <a:xfrm>
          <a:off x="0" y="0"/>
          <a:ext cx="0" cy="0"/>
          <a:chOff x="0" y="0"/>
          <a:chExt cx="0" cy="0"/>
        </a:xfrm>
      </p:grpSpPr>
      <p:sp>
        <p:nvSpPr>
          <p:cNvPr id="131" name="Google Shape;131;p13"/>
          <p:cNvSpPr txBox="1"/>
          <p:nvPr>
            <p:ph type="title"/>
          </p:nvPr>
        </p:nvSpPr>
        <p:spPr>
          <a:xfrm>
            <a:off x="901625" y="216425"/>
            <a:ext cx="79308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A10455"/>
              </a:buClr>
              <a:buSzPts val="2800"/>
              <a:buNone/>
              <a:defRPr>
                <a:solidFill>
                  <a:srgbClr val="A10455"/>
                </a:solidFill>
              </a:defRPr>
            </a:lvl1pPr>
            <a:lvl2pPr lvl="1">
              <a:spcBef>
                <a:spcPts val="0"/>
              </a:spcBef>
              <a:spcAft>
                <a:spcPts val="0"/>
              </a:spcAft>
              <a:buClr>
                <a:srgbClr val="A10455"/>
              </a:buClr>
              <a:buSzPts val="2100"/>
              <a:buNone/>
              <a:defRPr sz="2100">
                <a:solidFill>
                  <a:srgbClr val="A10455"/>
                </a:solidFill>
              </a:defRPr>
            </a:lvl2pPr>
            <a:lvl3pPr lvl="2">
              <a:spcBef>
                <a:spcPts val="0"/>
              </a:spcBef>
              <a:spcAft>
                <a:spcPts val="0"/>
              </a:spcAft>
              <a:buClr>
                <a:srgbClr val="A10455"/>
              </a:buClr>
              <a:buSzPts val="2100"/>
              <a:buNone/>
              <a:defRPr sz="2100">
                <a:solidFill>
                  <a:srgbClr val="A10455"/>
                </a:solidFill>
              </a:defRPr>
            </a:lvl3pPr>
            <a:lvl4pPr lvl="3">
              <a:spcBef>
                <a:spcPts val="0"/>
              </a:spcBef>
              <a:spcAft>
                <a:spcPts val="0"/>
              </a:spcAft>
              <a:buClr>
                <a:srgbClr val="A10455"/>
              </a:buClr>
              <a:buSzPts val="2100"/>
              <a:buNone/>
              <a:defRPr sz="2100">
                <a:solidFill>
                  <a:srgbClr val="A10455"/>
                </a:solidFill>
              </a:defRPr>
            </a:lvl4pPr>
            <a:lvl5pPr lvl="4">
              <a:spcBef>
                <a:spcPts val="0"/>
              </a:spcBef>
              <a:spcAft>
                <a:spcPts val="0"/>
              </a:spcAft>
              <a:buClr>
                <a:srgbClr val="A10455"/>
              </a:buClr>
              <a:buSzPts val="2100"/>
              <a:buNone/>
              <a:defRPr sz="2100">
                <a:solidFill>
                  <a:srgbClr val="A10455"/>
                </a:solidFill>
              </a:defRPr>
            </a:lvl5pPr>
            <a:lvl6pPr lvl="5">
              <a:spcBef>
                <a:spcPts val="0"/>
              </a:spcBef>
              <a:spcAft>
                <a:spcPts val="0"/>
              </a:spcAft>
              <a:buClr>
                <a:srgbClr val="A10455"/>
              </a:buClr>
              <a:buSzPts val="2100"/>
              <a:buNone/>
              <a:defRPr sz="2100">
                <a:solidFill>
                  <a:srgbClr val="A10455"/>
                </a:solidFill>
              </a:defRPr>
            </a:lvl6pPr>
            <a:lvl7pPr lvl="6">
              <a:spcBef>
                <a:spcPts val="0"/>
              </a:spcBef>
              <a:spcAft>
                <a:spcPts val="0"/>
              </a:spcAft>
              <a:buClr>
                <a:srgbClr val="A10455"/>
              </a:buClr>
              <a:buSzPts val="2100"/>
              <a:buNone/>
              <a:defRPr sz="2100">
                <a:solidFill>
                  <a:srgbClr val="A10455"/>
                </a:solidFill>
              </a:defRPr>
            </a:lvl7pPr>
            <a:lvl8pPr lvl="7">
              <a:spcBef>
                <a:spcPts val="0"/>
              </a:spcBef>
              <a:spcAft>
                <a:spcPts val="0"/>
              </a:spcAft>
              <a:buClr>
                <a:srgbClr val="A10455"/>
              </a:buClr>
              <a:buSzPts val="2100"/>
              <a:buNone/>
              <a:defRPr sz="2100">
                <a:solidFill>
                  <a:srgbClr val="A10455"/>
                </a:solidFill>
              </a:defRPr>
            </a:lvl8pPr>
            <a:lvl9pPr lvl="8">
              <a:spcBef>
                <a:spcPts val="0"/>
              </a:spcBef>
              <a:spcAft>
                <a:spcPts val="0"/>
              </a:spcAft>
              <a:buClr>
                <a:srgbClr val="A10455"/>
              </a:buClr>
              <a:buSzPts val="2100"/>
              <a:buNone/>
              <a:defRPr sz="2100">
                <a:solidFill>
                  <a:srgbClr val="A10455"/>
                </a:solidFill>
              </a:defRPr>
            </a:lvl9pPr>
          </a:lstStyle>
          <a:p/>
        </p:txBody>
      </p:sp>
      <p:sp>
        <p:nvSpPr>
          <p:cNvPr id="132" name="Google Shape;132;p13"/>
          <p:cNvSpPr txBox="1"/>
          <p:nvPr>
            <p:ph idx="1" type="body"/>
          </p:nvPr>
        </p:nvSpPr>
        <p:spPr>
          <a:xfrm>
            <a:off x="901500" y="1152475"/>
            <a:ext cx="79308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3" name="Google Shape;133;p13"/>
          <p:cNvSpPr txBox="1"/>
          <p:nvPr>
            <p:ph idx="2" type="subTitle"/>
          </p:nvPr>
        </p:nvSpPr>
        <p:spPr>
          <a:xfrm>
            <a:off x="531825" y="307789"/>
            <a:ext cx="270000" cy="284400"/>
          </a:xfrm>
          <a:prstGeom prst="rect">
            <a:avLst/>
          </a:prstGeom>
        </p:spPr>
        <p:txBody>
          <a:bodyPr anchorCtr="0" anchor="t" bIns="0" lIns="0" spcFirstLastPara="1" rIns="0" wrap="square" tIns="0">
            <a:normAutofit/>
          </a:bodyPr>
          <a:lstStyle>
            <a:lvl1pPr lvl="0">
              <a:spcBef>
                <a:spcPts val="0"/>
              </a:spcBef>
              <a:spcAft>
                <a:spcPts val="0"/>
              </a:spcAft>
              <a:buClr>
                <a:srgbClr val="A10455"/>
              </a:buClr>
              <a:buSzPts val="2100"/>
              <a:buNone/>
              <a:defRPr b="1" sz="2100">
                <a:solidFill>
                  <a:srgbClr val="A10455"/>
                </a:solidFill>
              </a:defRPr>
            </a:lvl1pPr>
            <a:lvl2pPr lvl="1">
              <a:spcBef>
                <a:spcPts val="0"/>
              </a:spcBef>
              <a:spcAft>
                <a:spcPts val="0"/>
              </a:spcAft>
              <a:buClr>
                <a:srgbClr val="475CA8"/>
              </a:buClr>
              <a:buSzPts val="2100"/>
              <a:buNone/>
              <a:defRPr sz="2100">
                <a:solidFill>
                  <a:srgbClr val="475CA8"/>
                </a:solidFill>
              </a:defRPr>
            </a:lvl2pPr>
            <a:lvl3pPr lvl="2">
              <a:spcBef>
                <a:spcPts val="0"/>
              </a:spcBef>
              <a:spcAft>
                <a:spcPts val="0"/>
              </a:spcAft>
              <a:buClr>
                <a:srgbClr val="475CA8"/>
              </a:buClr>
              <a:buSzPts val="2100"/>
              <a:buNone/>
              <a:defRPr sz="2100">
                <a:solidFill>
                  <a:srgbClr val="475CA8"/>
                </a:solidFill>
              </a:defRPr>
            </a:lvl3pPr>
            <a:lvl4pPr lvl="3">
              <a:spcBef>
                <a:spcPts val="0"/>
              </a:spcBef>
              <a:spcAft>
                <a:spcPts val="0"/>
              </a:spcAft>
              <a:buClr>
                <a:srgbClr val="475CA8"/>
              </a:buClr>
              <a:buSzPts val="2100"/>
              <a:buNone/>
              <a:defRPr sz="2100">
                <a:solidFill>
                  <a:srgbClr val="475CA8"/>
                </a:solidFill>
              </a:defRPr>
            </a:lvl4pPr>
            <a:lvl5pPr lvl="4">
              <a:spcBef>
                <a:spcPts val="0"/>
              </a:spcBef>
              <a:spcAft>
                <a:spcPts val="0"/>
              </a:spcAft>
              <a:buClr>
                <a:srgbClr val="475CA8"/>
              </a:buClr>
              <a:buSzPts val="2100"/>
              <a:buNone/>
              <a:defRPr sz="2100">
                <a:solidFill>
                  <a:srgbClr val="475CA8"/>
                </a:solidFill>
              </a:defRPr>
            </a:lvl5pPr>
            <a:lvl6pPr lvl="5">
              <a:spcBef>
                <a:spcPts val="0"/>
              </a:spcBef>
              <a:spcAft>
                <a:spcPts val="0"/>
              </a:spcAft>
              <a:buClr>
                <a:srgbClr val="475CA8"/>
              </a:buClr>
              <a:buSzPts val="2100"/>
              <a:buNone/>
              <a:defRPr sz="2100">
                <a:solidFill>
                  <a:srgbClr val="475CA8"/>
                </a:solidFill>
              </a:defRPr>
            </a:lvl6pPr>
            <a:lvl7pPr lvl="6">
              <a:spcBef>
                <a:spcPts val="0"/>
              </a:spcBef>
              <a:spcAft>
                <a:spcPts val="0"/>
              </a:spcAft>
              <a:buClr>
                <a:srgbClr val="475CA8"/>
              </a:buClr>
              <a:buSzPts val="2100"/>
              <a:buNone/>
              <a:defRPr sz="2100">
                <a:solidFill>
                  <a:srgbClr val="475CA8"/>
                </a:solidFill>
              </a:defRPr>
            </a:lvl7pPr>
            <a:lvl8pPr lvl="7">
              <a:spcBef>
                <a:spcPts val="0"/>
              </a:spcBef>
              <a:spcAft>
                <a:spcPts val="0"/>
              </a:spcAft>
              <a:buClr>
                <a:srgbClr val="475CA8"/>
              </a:buClr>
              <a:buSzPts val="2100"/>
              <a:buNone/>
              <a:defRPr sz="2100">
                <a:solidFill>
                  <a:srgbClr val="475CA8"/>
                </a:solidFill>
              </a:defRPr>
            </a:lvl8pPr>
            <a:lvl9pPr lvl="8">
              <a:spcBef>
                <a:spcPts val="0"/>
              </a:spcBef>
              <a:spcAft>
                <a:spcPts val="0"/>
              </a:spcAft>
              <a:buClr>
                <a:srgbClr val="475CA8"/>
              </a:buClr>
              <a:buSzPts val="2100"/>
              <a:buNone/>
              <a:defRPr sz="2100">
                <a:solidFill>
                  <a:srgbClr val="475CA8"/>
                </a:solidFill>
              </a:defRPr>
            </a:lvl9pPr>
          </a:lstStyle>
          <a:p/>
        </p:txBody>
      </p:sp>
      <p:sp>
        <p:nvSpPr>
          <p:cNvPr id="134" name="Google Shape;134;p13"/>
          <p:cNvSpPr txBox="1"/>
          <p:nvPr>
            <p:ph idx="12" type="sldNum"/>
          </p:nvPr>
        </p:nvSpPr>
        <p:spPr>
          <a:xfrm>
            <a:off x="8472458" y="4815617"/>
            <a:ext cx="548700" cy="393600"/>
          </a:xfrm>
          <a:prstGeom prst="rect">
            <a:avLst/>
          </a:prstGeom>
        </p:spPr>
        <p:txBody>
          <a:bodyPr anchorCtr="0" anchor="ctr" bIns="91425" lIns="91425" spcFirstLastPara="1" rIns="91425" wrap="square" tIns="91425">
            <a:normAutofit/>
          </a:bodyPr>
          <a:lstStyle>
            <a:lvl1pPr lvl="0" algn="r">
              <a:buNone/>
              <a:defRPr sz="1000">
                <a:solidFill>
                  <a:srgbClr val="8B9BDA"/>
                </a:solidFill>
              </a:defRPr>
            </a:lvl1pPr>
            <a:lvl2pPr lvl="1" algn="r">
              <a:buNone/>
              <a:defRPr sz="1000">
                <a:solidFill>
                  <a:srgbClr val="8B9BDA"/>
                </a:solidFill>
              </a:defRPr>
            </a:lvl2pPr>
            <a:lvl3pPr lvl="2" algn="r">
              <a:buNone/>
              <a:defRPr sz="1000">
                <a:solidFill>
                  <a:srgbClr val="8B9BDA"/>
                </a:solidFill>
              </a:defRPr>
            </a:lvl3pPr>
            <a:lvl4pPr lvl="3" algn="r">
              <a:buNone/>
              <a:defRPr sz="1000">
                <a:solidFill>
                  <a:srgbClr val="8B9BDA"/>
                </a:solidFill>
              </a:defRPr>
            </a:lvl4pPr>
            <a:lvl5pPr lvl="4" algn="r">
              <a:buNone/>
              <a:defRPr sz="1000">
                <a:solidFill>
                  <a:srgbClr val="8B9BDA"/>
                </a:solidFill>
              </a:defRPr>
            </a:lvl5pPr>
            <a:lvl6pPr lvl="5" algn="r">
              <a:buNone/>
              <a:defRPr sz="1000">
                <a:solidFill>
                  <a:srgbClr val="8B9BDA"/>
                </a:solidFill>
              </a:defRPr>
            </a:lvl6pPr>
            <a:lvl7pPr lvl="6" algn="r">
              <a:buNone/>
              <a:defRPr sz="1000">
                <a:solidFill>
                  <a:srgbClr val="8B9BDA"/>
                </a:solidFill>
              </a:defRPr>
            </a:lvl7pPr>
            <a:lvl8pPr lvl="7" algn="r">
              <a:buNone/>
              <a:defRPr sz="1000">
                <a:solidFill>
                  <a:srgbClr val="8B9BDA"/>
                </a:solidFill>
              </a:defRPr>
            </a:lvl8pPr>
            <a:lvl9pPr lvl="8" algn="r">
              <a:buNone/>
              <a:defRPr sz="1000">
                <a:solidFill>
                  <a:srgbClr val="8B9BDA"/>
                </a:solidFill>
              </a:defRPr>
            </a:lvl9pPr>
          </a:lstStyle>
          <a:p>
            <a:pPr indent="0" lvl="0" marL="0" rtl="0" algn="r">
              <a:spcBef>
                <a:spcPts val="0"/>
              </a:spcBef>
              <a:spcAft>
                <a:spcPts val="0"/>
              </a:spcAft>
              <a:buNone/>
            </a:pPr>
            <a:fld id="{00000000-1234-1234-1234-123412341234}" type="slidenum">
              <a:rPr lang="fr"/>
              <a:t>‹#›</a:t>
            </a:fld>
            <a:endParaRPr/>
          </a:p>
        </p:txBody>
      </p:sp>
      <p:pic>
        <p:nvPicPr>
          <p:cNvPr id="135" name="Google Shape;135;p13"/>
          <p:cNvPicPr preferRelativeResize="0"/>
          <p:nvPr/>
        </p:nvPicPr>
        <p:blipFill>
          <a:blip r:embed="rId2">
            <a:alphaModFix/>
          </a:blip>
          <a:stretch>
            <a:fillRect/>
          </a:stretch>
        </p:blipFill>
        <p:spPr>
          <a:xfrm>
            <a:off x="0" y="0"/>
            <a:ext cx="433064" cy="284400"/>
          </a:xfrm>
          <a:prstGeom prst="rect">
            <a:avLst/>
          </a:prstGeom>
          <a:noFill/>
          <a:ln>
            <a:noFill/>
          </a:ln>
        </p:spPr>
      </p:pic>
      <p:pic>
        <p:nvPicPr>
          <p:cNvPr id="136" name="Google Shape;136;p13"/>
          <p:cNvPicPr preferRelativeResize="0"/>
          <p:nvPr/>
        </p:nvPicPr>
        <p:blipFill>
          <a:blip r:embed="rId3">
            <a:alphaModFix/>
          </a:blip>
          <a:stretch>
            <a:fillRect/>
          </a:stretch>
        </p:blipFill>
        <p:spPr>
          <a:xfrm>
            <a:off x="8285426" y="166949"/>
            <a:ext cx="515225" cy="90809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omments" Target="../comments/comment2.xml"/><Relationship Id="rId4" Type="http://schemas.openxmlformats.org/officeDocument/2006/relationships/hyperlink" Target="https://eapspublic.sports.gouv.fr/CarteProRecherche/RechercherEducateurCartePro" TargetMode="External"/><Relationship Id="rId5" Type="http://schemas.openxmlformats.org/officeDocument/2006/relationships/hyperlink" Target="https://recherche-educateur.sports.gouv.fr/accueil#result" TargetMode="External"/><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comments" Target="../comments/comment3.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gymlib.com/fr/search?activities_fr=Yoga&amp;area=46.37301186710194%2C-0.3804152265692873%2C46.28173253531628%2C-0.5422233786017837" TargetMode="Externa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1" Type="http://schemas.openxmlformats.org/officeDocument/2006/relationships/hyperlink" Target="https://hypeauditor.com/fr/instagram/cleoppatre/" TargetMode="External"/><Relationship Id="rId10" Type="http://schemas.openxmlformats.org/officeDocument/2006/relationships/hyperlink" Target="https://hypeauditor.com/fr/instagram/nassim.sahili/" TargetMode="External"/><Relationship Id="rId13" Type="http://schemas.openxmlformats.org/officeDocument/2006/relationships/hyperlink" Target="https://veryimportantpeople.fr/Categorie/COMBAT/Reseaux/INSTAGRAM" TargetMode="External"/><Relationship Id="rId12" Type="http://schemas.openxmlformats.org/officeDocument/2006/relationships/hyperlink" Target="https://hypeauditor.com/fr/instagram/alain_rocben/" TargetMode="External"/><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findly.co/meilleurs-influenceurs/instagram/basketball" TargetMode="External"/><Relationship Id="rId4" Type="http://schemas.openxmlformats.org/officeDocument/2006/relationships/hyperlink" Target="https://hypeauditor.com/fr/instagram-category-basketball/" TargetMode="External"/><Relationship Id="rId9" Type="http://schemas.openxmlformats.org/officeDocument/2006/relationships/hyperlink" Target="https://hypeauditor.com/fr/instagram/coach_david007/" TargetMode="External"/><Relationship Id="rId14" Type="http://schemas.openxmlformats.org/officeDocument/2006/relationships/image" Target="../media/image3.png"/><Relationship Id="rId5" Type="http://schemas.openxmlformats.org/officeDocument/2006/relationships/hyperlink" Target="https://www.woo.paris/blog/top-influenceurs-foot-2024#toc-vinsky-l-influenceur-360-" TargetMode="External"/><Relationship Id="rId6" Type="http://schemas.openxmlformats.org/officeDocument/2006/relationships/hyperlink" Target="https://www.woo.paris/blog/top-influenceurs-foot-2024#toc-val-lienard" TargetMode="External"/><Relationship Id="rId7" Type="http://schemas.openxmlformats.org/officeDocument/2006/relationships/hyperlink" Target="https://hypeauditor.com/fr/instagram/alexia_mori__/" TargetMode="External"/><Relationship Id="rId8" Type="http://schemas.openxmlformats.org/officeDocument/2006/relationships/hyperlink" Target="https://hypeauditor.com/fr/instagram/alexia_mori__/" TargetMode="External"/></Relationships>
</file>

<file path=ppt/slides/_rels/slide23.xml.rels><?xml version="1.0" encoding="UTF-8" standalone="yes"?><Relationships xmlns="http://schemas.openxmlformats.org/package/2006/relationships"><Relationship Id="rId11" Type="http://schemas.openxmlformats.org/officeDocument/2006/relationships/hyperlink" Target="https://www.ownsport.fr/" TargetMode="External"/><Relationship Id="rId10" Type="http://schemas.openxmlformats.org/officeDocument/2006/relationships/hyperlink" Target="https://www.bark.com/fr/fr/" TargetMode="External"/><Relationship Id="rId13" Type="http://schemas.openxmlformats.org/officeDocument/2006/relationships/hyperlink" Target="https://basket-nation.com/deviens-coach-individuel/coach-maxime/" TargetMode="External"/><Relationship Id="rId12" Type="http://schemas.openxmlformats.org/officeDocument/2006/relationships/hyperlink" Target="https://coach-de-sport.com/" TargetMode="External"/><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trainingcoachingsystem.fr/" TargetMode="External"/><Relationship Id="rId4" Type="http://schemas.openxmlformats.org/officeDocument/2006/relationships/hyperlink" Target="https://www.justcoaching.fr/seance-decouverte-ai-3/?utm_source=bing&amp;utm_medium=cpc&amp;utm_campaign=B-SRC-FR-Coach-Client&amp;utm_content=Coach-sportif&amp;utm_term=Coach%20Sportif&amp;msclkid=97bcb3eb0805147a029cd6222a55bcf3" TargetMode="External"/><Relationship Id="rId9" Type="http://schemas.openxmlformats.org/officeDocument/2006/relationships/hyperlink" Target="https://football-coaching.fr/" TargetMode="External"/><Relationship Id="rId15" Type="http://schemas.openxmlformats.org/officeDocument/2006/relationships/hyperlink" Target="https://www.domicilgym.fr/coach-sportif/mike-riquet/" TargetMode="External"/><Relationship Id="rId14" Type="http://schemas.openxmlformats.org/officeDocument/2006/relationships/hyperlink" Target="https://lemeilleurcoach.com/coachs/?keyword_search=&amp;tax-listing_category%5B%5D=fitness&amp;location_search=Niort%2C+France&amp;action=listeo_get_listings" TargetMode="External"/><Relationship Id="rId17" Type="http://schemas.openxmlformats.org/officeDocument/2006/relationships/image" Target="../media/image3.png"/><Relationship Id="rId16" Type="http://schemas.openxmlformats.org/officeDocument/2006/relationships/hyperlink" Target="https://www.bark.com/fr/fr/" TargetMode="External"/><Relationship Id="rId5" Type="http://schemas.openxmlformats.org/officeDocument/2006/relationships/hyperlink" Target="https://protrainer.fr/" TargetMode="External"/><Relationship Id="rId6" Type="http://schemas.openxmlformats.org/officeDocument/2006/relationships/hyperlink" Target="https://www.votrecoachperso.fr/prix-coach-sportif" TargetMode="External"/><Relationship Id="rId7" Type="http://schemas.openxmlformats.org/officeDocument/2006/relationships/hyperlink" Target="https://www.domicilgym.fr/" TargetMode="External"/><Relationship Id="rId8" Type="http://schemas.openxmlformats.org/officeDocument/2006/relationships/hyperlink" Target="https://pro.coach-eo.fr/fonctionnalites/outil-de-reservation-en-lign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fr.trustpilot.com/categories/sports" TargetMode="Externa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www.facebook.com/SCBasket" TargetMode="Externa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gamingcampus.fr/metiers/community-manager-jeu-video.html?utm_term=%2Fmetiers%2Fcommunity-manager-jeu-video.html&amp;utm_campaign=SEA-GBS-Etudiants&amp;utm_source=bing&amp;utm_medium=ppc&amp;hsa_acc=5656227748&amp;hsa_cam=11871344085&amp;hsa_grp=1187474284527582&amp;hsa_ad=&amp;hsa_src=o&amp;hsa_tgt=dat-2326016848967100:loc-66&amp;hsa_kw=%2Fmetiers%2Fcommunity-manager-jeu-video.html&amp;hsa_mt=b&amp;hsa_net=adwords&amp;hsa_ver=3&amp;msclkid=3e29503d776119a8ada037a199c7b647" TargetMode="External"/><Relationship Id="rId4" Type="http://schemas.openxmlformats.org/officeDocument/2006/relationships/hyperlink" Target="https://www.iscod.fr/offres-emploi-en-alternance-paris?utm_source=bing&amp;utm_medium=cpc&amp;utm_campaign=ISCOD_Emploi_Alternance_Paris_AB&amp;utm_term=offre%20alternance%20paris&amp;utm_content=Emploi%20alternance%20Paris" TargetMode="External"/><Relationship Id="rId5" Type="http://schemas.openxmlformats.org/officeDocument/2006/relationships/hyperlink" Target="https://lecolefrancaise.fr/infos-utiles/acquisition-reseaux-sociaux-webmarketing/?utm_source=bing&amp;utm_medium=cpc&amp;utm_campaign=sn_reseauxsociaux_digitaletmarketing_formationcourte_cpf&amp;utm_term=formation%20community%20management&amp;msclkid=6b75589b8509109ae0fd3f076a93ce12&amp;utm_source=bing&amp;utm_medium=cpc&amp;utm_campaign=sn_reseauxsociaux_digitaletmarketing_formationcourte_cpf&amp;utm_term=formation%20community%20management&amp;utm_content=synonyme_sn_reseauxsociaux_digitaletmarketing_formationcourte" TargetMode="External"/><Relationship Id="rId6" Type="http://schemas.openxmlformats.org/officeDocument/2006/relationships/hyperlink" Target="https://www.efap.com/metier/community-manager" TargetMode="External"/><Relationship Id="rId7"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www.resalib.fr/praticien/99160-mari-seznec-coach-sportif-pont-l-abbe" TargetMode="External"/><Relationship Id="rId4" Type="http://schemas.openxmlformats.org/officeDocument/2006/relationships/hyperlink" Target="https://fr.goodjob.gg/" TargetMode="External"/><Relationship Id="rId5" Type="http://schemas.openxmlformats.org/officeDocument/2006/relationships/hyperlink" Target="https://www.bing.com/ck/a?!&amp;&amp;p=0d475724fb989b5d8c7e209ced8e822c209a731cbbaa155637111c5f5bf1dddfJmltdHM9MTczODI4MTYwMA&amp;ptn=3&amp;ver=2&amp;hsh=4&amp;fclid=08a0fbb0-f758-65c9-2b65-efa3f6856477&amp;psq=recherche+coaching+E-sport&amp;u=a1aHR0cHM6Ly9wb2xlLWVzcG9ydC5mci9jb2FjaGluZy8&amp;ntb=1" TargetMode="External"/><Relationship Id="rId6"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www.jesuiscoach.fr/annuaire/coach-sportif" TargetMode="External"/><Relationship Id="rId4" Type="http://schemas.openxmlformats.org/officeDocument/2006/relationships/hyperlink" Target="https://annuairecoaching.fr/coaching-sportif/" TargetMode="External"/><Relationship Id="rId5" Type="http://schemas.openxmlformats.org/officeDocument/2006/relationships/hyperlink" Target="https://annuaire-coaching.fr/category/coaching-sportif/" TargetMode="External"/><Relationship Id="rId6" Type="http://schemas.openxmlformats.org/officeDocument/2006/relationships/hyperlink" Target="https://coach-de-sport.com/a-proximite/nouvelle-aquitaine/" TargetMode="External"/><Relationship Id="rId7" Type="http://schemas.openxmlformats.org/officeDocument/2006/relationships/hyperlink" Target="http://coach-sportif.fr/" TargetMode="External"/><Relationship Id="rId8"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ctrTitle"/>
          </p:nvPr>
        </p:nvSpPr>
        <p:spPr>
          <a:xfrm>
            <a:off x="624275" y="2412875"/>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Projet </a:t>
            </a:r>
            <a:endParaRPr/>
          </a:p>
          <a:p>
            <a:pPr indent="0" lvl="0" marL="0" rtl="0" algn="l">
              <a:spcBef>
                <a:spcPts val="0"/>
              </a:spcBef>
              <a:spcAft>
                <a:spcPts val="0"/>
              </a:spcAft>
              <a:buNone/>
            </a:pPr>
            <a:r>
              <a:rPr lang="fr"/>
              <a:t>“GetYourMentor”</a:t>
            </a:r>
            <a:endParaRPr/>
          </a:p>
        </p:txBody>
      </p:sp>
      <p:sp>
        <p:nvSpPr>
          <p:cNvPr id="142" name="Google Shape;142;p14"/>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143" name="Google Shape;143;p14"/>
          <p:cNvPicPr preferRelativeResize="0"/>
          <p:nvPr/>
        </p:nvPicPr>
        <p:blipFill>
          <a:blip r:embed="rId3">
            <a:alphaModFix/>
          </a:blip>
          <a:stretch>
            <a:fillRect/>
          </a:stretch>
        </p:blipFill>
        <p:spPr>
          <a:xfrm>
            <a:off x="5608500" y="1424200"/>
            <a:ext cx="3081800" cy="993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5"/>
          <p:cNvSpPr txBox="1"/>
          <p:nvPr>
            <p:ph type="title"/>
          </p:nvPr>
        </p:nvSpPr>
        <p:spPr>
          <a:xfrm>
            <a:off x="658150" y="1318650"/>
            <a:ext cx="7760100" cy="90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Application</a:t>
            </a:r>
            <a:r>
              <a:rPr lang="fr"/>
              <a:t> de mise en relation entre les sportifs et les coachs</a:t>
            </a:r>
            <a:endParaRPr/>
          </a:p>
          <a:p>
            <a:pPr indent="0" lvl="0" marL="0" rtl="0" algn="l">
              <a:spcBef>
                <a:spcPts val="0"/>
              </a:spcBef>
              <a:spcAft>
                <a:spcPts val="0"/>
              </a:spcAft>
              <a:buNone/>
            </a:pPr>
            <a:r>
              <a:t/>
            </a:r>
            <a:endParaRPr/>
          </a:p>
        </p:txBody>
      </p:sp>
      <p:sp>
        <p:nvSpPr>
          <p:cNvPr id="149" name="Google Shape;149;p15"/>
          <p:cNvSpPr txBox="1"/>
          <p:nvPr>
            <p:ph idx="1" type="body"/>
          </p:nvPr>
        </p:nvSpPr>
        <p:spPr>
          <a:xfrm>
            <a:off x="873750" y="2331100"/>
            <a:ext cx="2042400" cy="231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Sport Collectif :			</a:t>
            </a:r>
            <a:endParaRPr/>
          </a:p>
          <a:p>
            <a:pPr indent="-311150" lvl="0" marL="457200" rtl="0" algn="l">
              <a:spcBef>
                <a:spcPts val="1200"/>
              </a:spcBef>
              <a:spcAft>
                <a:spcPts val="0"/>
              </a:spcAft>
              <a:buSzPts val="1300"/>
              <a:buChar char="●"/>
            </a:pPr>
            <a:r>
              <a:rPr b="1" lang="fr" u="sng"/>
              <a:t>*</a:t>
            </a:r>
            <a:r>
              <a:rPr b="1" lang="fr" u="sng"/>
              <a:t>Basket</a:t>
            </a:r>
            <a:r>
              <a:rPr lang="fr"/>
              <a:t>			</a:t>
            </a:r>
            <a:endParaRPr/>
          </a:p>
          <a:p>
            <a:pPr indent="-311150" lvl="0" marL="457200" rtl="0" algn="l">
              <a:spcBef>
                <a:spcPts val="0"/>
              </a:spcBef>
              <a:spcAft>
                <a:spcPts val="0"/>
              </a:spcAft>
              <a:buSzPts val="1300"/>
              <a:buChar char="●"/>
            </a:pPr>
            <a:r>
              <a:rPr b="1" lang="fr" u="sng"/>
              <a:t>*</a:t>
            </a:r>
            <a:r>
              <a:rPr b="1" lang="fr" u="sng"/>
              <a:t>Football</a:t>
            </a:r>
            <a:endParaRPr b="1" u="sng"/>
          </a:p>
          <a:p>
            <a:pPr indent="-311150" lvl="0" marL="457200" rtl="0" algn="l">
              <a:spcBef>
                <a:spcPts val="0"/>
              </a:spcBef>
              <a:spcAft>
                <a:spcPts val="0"/>
              </a:spcAft>
              <a:buSzPts val="1300"/>
              <a:buChar char="●"/>
            </a:pPr>
            <a:r>
              <a:rPr lang="fr"/>
              <a:t>Rugby </a:t>
            </a:r>
            <a:endParaRPr/>
          </a:p>
          <a:p>
            <a:pPr indent="-311150" lvl="0" marL="457200" rtl="0" algn="l">
              <a:spcBef>
                <a:spcPts val="0"/>
              </a:spcBef>
              <a:spcAft>
                <a:spcPts val="0"/>
              </a:spcAft>
              <a:buSzPts val="1300"/>
              <a:buChar char="●"/>
            </a:pPr>
            <a:r>
              <a:rPr lang="fr"/>
              <a:t>Handball</a:t>
            </a:r>
            <a:endParaRPr/>
          </a:p>
          <a:p>
            <a:pPr indent="-311150" lvl="0" marL="457200" rtl="0" algn="l">
              <a:spcBef>
                <a:spcPts val="0"/>
              </a:spcBef>
              <a:spcAft>
                <a:spcPts val="0"/>
              </a:spcAft>
              <a:buSzPts val="1300"/>
              <a:buChar char="●"/>
            </a:pPr>
            <a:r>
              <a:rPr lang="fr"/>
              <a:t>Volleyball</a:t>
            </a:r>
            <a:endParaRPr/>
          </a:p>
        </p:txBody>
      </p:sp>
      <p:sp>
        <p:nvSpPr>
          <p:cNvPr id="150" name="Google Shape;150;p15"/>
          <p:cNvSpPr txBox="1"/>
          <p:nvPr/>
        </p:nvSpPr>
        <p:spPr>
          <a:xfrm>
            <a:off x="2916150" y="2331100"/>
            <a:ext cx="2735100" cy="242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dk2"/>
                </a:solidFill>
                <a:latin typeface="Calibri"/>
                <a:ea typeface="Calibri"/>
                <a:cs typeface="Calibri"/>
                <a:sym typeface="Calibri"/>
              </a:rPr>
              <a:t>Sport individuel :</a:t>
            </a:r>
            <a:endParaRPr b="1" sz="1300">
              <a:solidFill>
                <a:schemeClr val="dk2"/>
              </a:solidFill>
              <a:latin typeface="Calibri"/>
              <a:ea typeface="Calibri"/>
              <a:cs typeface="Calibri"/>
              <a:sym typeface="Calibri"/>
            </a:endParaRPr>
          </a:p>
          <a:p>
            <a:pPr indent="0" lvl="0" marL="0" rtl="0" algn="l">
              <a:spcBef>
                <a:spcPts val="0"/>
              </a:spcBef>
              <a:spcAft>
                <a:spcPts val="0"/>
              </a:spcAft>
              <a:buNone/>
            </a:pPr>
            <a:r>
              <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fr" sz="1300" u="sng">
                <a:solidFill>
                  <a:schemeClr val="dk2"/>
                </a:solidFill>
                <a:latin typeface="Calibri"/>
                <a:ea typeface="Calibri"/>
                <a:cs typeface="Calibri"/>
                <a:sym typeface="Calibri"/>
              </a:rPr>
              <a:t>Tennis</a:t>
            </a:r>
            <a:endParaRPr sz="1300" u="sng">
              <a:solidFill>
                <a:schemeClr val="dk2"/>
              </a:solidFill>
              <a:latin typeface="Calibri"/>
              <a:ea typeface="Calibri"/>
              <a:cs typeface="Calibri"/>
              <a:sym typeface="Calibri"/>
            </a:endParaRPr>
          </a:p>
          <a:p>
            <a:pPr indent="0" lvl="0" marL="0" rtl="0" algn="l">
              <a:spcBef>
                <a:spcPts val="0"/>
              </a:spcBef>
              <a:spcAft>
                <a:spcPts val="0"/>
              </a:spcAft>
              <a:buNone/>
            </a:pPr>
            <a:r>
              <a:rPr b="1" lang="fr" sz="1300" u="sng">
                <a:solidFill>
                  <a:schemeClr val="dk2"/>
                </a:solidFill>
                <a:latin typeface="Calibri"/>
                <a:ea typeface="Calibri"/>
                <a:cs typeface="Calibri"/>
                <a:sym typeface="Calibri"/>
              </a:rPr>
              <a:t>*Sports de combat </a:t>
            </a:r>
            <a:endParaRPr b="1" sz="1300">
              <a:solidFill>
                <a:schemeClr val="dk2"/>
              </a:solidFill>
              <a:latin typeface="Calibri"/>
              <a:ea typeface="Calibri"/>
              <a:cs typeface="Calibri"/>
              <a:sym typeface="Calibri"/>
            </a:endParaRPr>
          </a:p>
          <a:p>
            <a:pPr indent="0" lvl="0" marL="0" rtl="0" algn="l">
              <a:spcBef>
                <a:spcPts val="0"/>
              </a:spcBef>
              <a:spcAft>
                <a:spcPts val="0"/>
              </a:spcAft>
              <a:buNone/>
            </a:pPr>
            <a:r>
              <a:rPr b="1" lang="fr" sz="1300" u="sng">
                <a:solidFill>
                  <a:schemeClr val="dk2"/>
                </a:solidFill>
                <a:latin typeface="Calibri"/>
                <a:ea typeface="Calibri"/>
                <a:cs typeface="Calibri"/>
                <a:sym typeface="Calibri"/>
              </a:rPr>
              <a:t>*Metiers de la forme</a:t>
            </a:r>
            <a:endParaRPr b="1" sz="1300" u="sng">
              <a:solidFill>
                <a:schemeClr val="dk2"/>
              </a:solidFill>
              <a:latin typeface="Calibri"/>
              <a:ea typeface="Calibri"/>
              <a:cs typeface="Calibri"/>
              <a:sym typeface="Calibri"/>
            </a:endParaRPr>
          </a:p>
          <a:p>
            <a:pPr indent="0" lvl="0" marL="0" rtl="0" algn="l">
              <a:spcBef>
                <a:spcPts val="0"/>
              </a:spcBef>
              <a:spcAft>
                <a:spcPts val="0"/>
              </a:spcAft>
              <a:buNone/>
            </a:pPr>
            <a:r>
              <a:rPr lang="fr" sz="1300" u="sng">
                <a:solidFill>
                  <a:schemeClr val="dk2"/>
                </a:solidFill>
                <a:latin typeface="Calibri"/>
                <a:ea typeface="Calibri"/>
                <a:cs typeface="Calibri"/>
                <a:sym typeface="Calibri"/>
              </a:rPr>
              <a:t>Natation</a:t>
            </a:r>
            <a:endParaRPr sz="1300">
              <a:solidFill>
                <a:schemeClr val="dk2"/>
              </a:solidFill>
              <a:latin typeface="Calibri"/>
              <a:ea typeface="Calibri"/>
              <a:cs typeface="Calibri"/>
              <a:sym typeface="Calibri"/>
            </a:endParaRPr>
          </a:p>
          <a:p>
            <a:pPr indent="0" lvl="0" marL="0" rtl="0" algn="l">
              <a:spcBef>
                <a:spcPts val="0"/>
              </a:spcBef>
              <a:spcAft>
                <a:spcPts val="0"/>
              </a:spcAft>
              <a:buNone/>
            </a:pPr>
            <a:r>
              <a:rPr lang="fr" sz="1300" u="sng">
                <a:solidFill>
                  <a:schemeClr val="dk2"/>
                </a:solidFill>
                <a:latin typeface="Calibri"/>
                <a:ea typeface="Calibri"/>
                <a:cs typeface="Calibri"/>
                <a:sym typeface="Calibri"/>
              </a:rPr>
              <a:t>Danse</a:t>
            </a:r>
            <a:endParaRPr sz="1300" u="sng">
              <a:solidFill>
                <a:schemeClr val="dk2"/>
              </a:solidFill>
              <a:latin typeface="Calibri"/>
              <a:ea typeface="Calibri"/>
              <a:cs typeface="Calibri"/>
              <a:sym typeface="Calibri"/>
            </a:endParaRPr>
          </a:p>
          <a:p>
            <a:pPr indent="0" lvl="0" marL="0" rtl="0" algn="l">
              <a:spcBef>
                <a:spcPts val="0"/>
              </a:spcBef>
              <a:spcAft>
                <a:spcPts val="0"/>
              </a:spcAft>
              <a:buNone/>
            </a:pPr>
            <a:r>
              <a:rPr lang="fr" sz="1300" u="sng">
                <a:solidFill>
                  <a:schemeClr val="dk2"/>
                </a:solidFill>
                <a:latin typeface="Calibri"/>
                <a:ea typeface="Calibri"/>
                <a:cs typeface="Calibri"/>
                <a:sym typeface="Calibri"/>
              </a:rPr>
              <a:t>Sport d’hiver</a:t>
            </a:r>
            <a:endParaRPr sz="1300" u="sng">
              <a:solidFill>
                <a:schemeClr val="dk2"/>
              </a:solidFill>
              <a:latin typeface="Calibri"/>
              <a:ea typeface="Calibri"/>
              <a:cs typeface="Calibri"/>
              <a:sym typeface="Calibri"/>
            </a:endParaRPr>
          </a:p>
          <a:p>
            <a:pPr indent="0" lvl="0" marL="0" rtl="0" algn="l">
              <a:spcBef>
                <a:spcPts val="0"/>
              </a:spcBef>
              <a:spcAft>
                <a:spcPts val="0"/>
              </a:spcAft>
              <a:buNone/>
            </a:pPr>
            <a:r>
              <a:t/>
            </a:r>
            <a:endParaRPr sz="1300" u="sng">
              <a:solidFill>
                <a:schemeClr val="dk2"/>
              </a:solidFill>
              <a:latin typeface="Calibri"/>
              <a:ea typeface="Calibri"/>
              <a:cs typeface="Calibri"/>
              <a:sym typeface="Calibri"/>
            </a:endParaRPr>
          </a:p>
        </p:txBody>
      </p:sp>
      <p:pic>
        <p:nvPicPr>
          <p:cNvPr id="151" name="Google Shape;151;p15"/>
          <p:cNvPicPr preferRelativeResize="0"/>
          <p:nvPr/>
        </p:nvPicPr>
        <p:blipFill>
          <a:blip r:embed="rId4">
            <a:alphaModFix/>
          </a:blip>
          <a:stretch>
            <a:fillRect/>
          </a:stretch>
        </p:blipFill>
        <p:spPr>
          <a:xfrm>
            <a:off x="7063000" y="194475"/>
            <a:ext cx="1905000" cy="790575"/>
          </a:xfrm>
          <a:prstGeom prst="rect">
            <a:avLst/>
          </a:prstGeom>
          <a:noFill/>
          <a:ln>
            <a:noFill/>
          </a:ln>
        </p:spPr>
      </p:pic>
      <p:sp>
        <p:nvSpPr>
          <p:cNvPr id="152" name="Google Shape;152;p15"/>
          <p:cNvSpPr txBox="1"/>
          <p:nvPr>
            <p:ph idx="1" type="body"/>
          </p:nvPr>
        </p:nvSpPr>
        <p:spPr>
          <a:xfrm>
            <a:off x="5971975" y="2331100"/>
            <a:ext cx="2686800" cy="252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Autres : </a:t>
            </a:r>
            <a:endParaRPr/>
          </a:p>
          <a:p>
            <a:pPr indent="0" lvl="0" marL="0" rtl="0" algn="l">
              <a:spcBef>
                <a:spcPts val="1200"/>
              </a:spcBef>
              <a:spcAft>
                <a:spcPts val="0"/>
              </a:spcAft>
              <a:buNone/>
            </a:pPr>
            <a:r>
              <a:rPr lang="fr" u="sng">
                <a:solidFill>
                  <a:schemeClr val="dk2"/>
                </a:solidFill>
                <a:latin typeface="Calibri"/>
                <a:ea typeface="Calibri"/>
                <a:cs typeface="Calibri"/>
                <a:sym typeface="Calibri"/>
              </a:rPr>
              <a:t>Préparateur mental</a:t>
            </a:r>
            <a:r>
              <a:rPr lang="fr"/>
              <a:t>		</a:t>
            </a:r>
            <a:endParaRPr/>
          </a:p>
          <a:p>
            <a:pPr indent="0" lvl="0" marL="4572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6"/>
          <p:cNvSpPr txBox="1"/>
          <p:nvPr>
            <p:ph type="ctrTitle"/>
          </p:nvPr>
        </p:nvSpPr>
        <p:spPr>
          <a:xfrm>
            <a:off x="820300" y="389100"/>
            <a:ext cx="4774200" cy="83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besoins </a:t>
            </a:r>
            <a:endParaRPr/>
          </a:p>
        </p:txBody>
      </p:sp>
      <p:sp>
        <p:nvSpPr>
          <p:cNvPr id="158" name="Google Shape;158;p16"/>
          <p:cNvSpPr txBox="1"/>
          <p:nvPr>
            <p:ph idx="1" type="subTitle"/>
          </p:nvPr>
        </p:nvSpPr>
        <p:spPr>
          <a:xfrm>
            <a:off x="159875" y="2276475"/>
            <a:ext cx="8984100" cy="26733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fr"/>
              <a:t>Pour : </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
              <a:t>les joueurs</a:t>
            </a:r>
            <a:r>
              <a:rPr lang="fr"/>
              <a:t> : </a:t>
            </a:r>
            <a:r>
              <a:rPr lang="fr"/>
              <a:t>s'entraîner</a:t>
            </a:r>
            <a:r>
              <a:rPr lang="fr"/>
              <a:t> plus, progresser plus, faciliter l’accès à un cours privé (réel ou c2c)</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
              <a:t>les amateurs/non licenciés</a:t>
            </a:r>
            <a:r>
              <a:rPr lang="fr"/>
              <a:t> : découvrir un sport sans avoir à payer une licence, pour de l’amusement, une activitée ? </a:t>
            </a:r>
            <a:r>
              <a:rPr lang="fr"/>
              <a:t>Intérêt</a:t>
            </a:r>
            <a:r>
              <a:rPr lang="fr"/>
              <a:t> pour les parents qui n’ont pas forcément envie de prendre une licence au risque que leurs enfants </a:t>
            </a:r>
            <a:r>
              <a:rPr lang="fr"/>
              <a:t>arrêtent</a:t>
            </a:r>
            <a:r>
              <a:rPr lang="fr"/>
              <a:t> durant l’année.</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
              <a:t>les coachs </a:t>
            </a:r>
            <a:r>
              <a:rPr lang="fr"/>
              <a:t>: plus de revenus, devenir spécialiste de </a:t>
            </a:r>
            <a:r>
              <a:rPr lang="fr"/>
              <a:t>l'entraînement</a:t>
            </a:r>
            <a:r>
              <a:rPr lang="fr"/>
              <a:t> individuel ? </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
              <a:t>les clubs</a:t>
            </a:r>
            <a:r>
              <a:rPr lang="fr"/>
              <a:t> : réaliser du profit, faire travailler leurs salariés (</a:t>
            </a:r>
            <a:r>
              <a:rPr lang="fr"/>
              <a:t>entraîneurs</a:t>
            </a:r>
            <a:r>
              <a:rPr lang="fr"/>
              <a:t> + accès au gymnase etc…) </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
              <a:t>les fédérations</a:t>
            </a:r>
            <a:r>
              <a:rPr lang="fr"/>
              <a:t> : augmenter leur nombre de </a:t>
            </a:r>
            <a:r>
              <a:rPr lang="fr"/>
              <a:t>licenciés (gain de subvention par l’Etat)</a:t>
            </a:r>
            <a:r>
              <a:rPr lang="fr"/>
              <a:t>, </a:t>
            </a:r>
            <a:r>
              <a:rPr lang="fr"/>
              <a:t>contrôler</a:t>
            </a:r>
            <a:r>
              <a:rPr lang="fr"/>
              <a:t> et encadrer les pratiques autour de leur sport</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
              <a:t>les structures</a:t>
            </a:r>
            <a:r>
              <a:rPr lang="fr"/>
              <a:t> : Combler créneaux disponibles, promouvoir leur entreprise</a:t>
            </a:r>
            <a:endParaRPr/>
          </a:p>
          <a:p>
            <a:pPr indent="0" lvl="0" marL="0" rtl="0" algn="l">
              <a:spcBef>
                <a:spcPts val="0"/>
              </a:spcBef>
              <a:spcAft>
                <a:spcPts val="0"/>
              </a:spcAft>
              <a:buNone/>
            </a:pPr>
            <a:r>
              <a:t/>
            </a:r>
            <a:endParaRPr/>
          </a:p>
          <a:p>
            <a:pPr indent="0" lvl="0" marL="0" rtl="0" algn="l">
              <a:spcBef>
                <a:spcPts val="0"/>
              </a:spcBef>
              <a:spcAft>
                <a:spcPts val="0"/>
              </a:spcAft>
              <a:buNone/>
            </a:pPr>
            <a:r>
              <a:rPr b="1" lang="fr"/>
              <a:t>les particuliers </a:t>
            </a:r>
            <a:r>
              <a:rPr lang="fr"/>
              <a:t>: mettre à disposition leurs installations, matériaux en le louant (profit)</a:t>
            </a:r>
            <a:endParaRPr/>
          </a:p>
        </p:txBody>
      </p:sp>
      <p:pic>
        <p:nvPicPr>
          <p:cNvPr id="159" name="Google Shape;159;p16"/>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Coachs</a:t>
            </a:r>
            <a:endParaRPr/>
          </a:p>
        </p:txBody>
      </p:sp>
      <p:sp>
        <p:nvSpPr>
          <p:cNvPr id="165" name="Google Shape;165;p17"/>
          <p:cNvSpPr txBox="1"/>
          <p:nvPr>
            <p:ph idx="1" type="body"/>
          </p:nvPr>
        </p:nvSpPr>
        <p:spPr>
          <a:xfrm>
            <a:off x="157550" y="1820350"/>
            <a:ext cx="8986500" cy="3038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CV à certifier (rémunéré des experts de chaque sport pour certifier et classifier chaque cv, rémunération par cv traité ?)</a:t>
            </a:r>
            <a:endParaRPr/>
          </a:p>
          <a:p>
            <a:pPr indent="-311150" lvl="0" marL="457200" rtl="0" algn="l">
              <a:spcBef>
                <a:spcPts val="0"/>
              </a:spcBef>
              <a:spcAft>
                <a:spcPts val="0"/>
              </a:spcAft>
              <a:buSzPts val="1300"/>
              <a:buChar char="●"/>
            </a:pPr>
            <a:r>
              <a:rPr lang="fr"/>
              <a:t>Note et commentaire attribué par les joueurs</a:t>
            </a:r>
            <a:endParaRPr/>
          </a:p>
          <a:p>
            <a:pPr indent="-311150" lvl="0" marL="457200" rtl="0" algn="l">
              <a:spcBef>
                <a:spcPts val="0"/>
              </a:spcBef>
              <a:spcAft>
                <a:spcPts val="0"/>
              </a:spcAft>
              <a:buSzPts val="1300"/>
              <a:buChar char="●"/>
            </a:pPr>
            <a:r>
              <a:rPr lang="fr"/>
              <a:t>Doivent choisir les </a:t>
            </a:r>
            <a:r>
              <a:rPr lang="fr"/>
              <a:t>endroits</a:t>
            </a:r>
            <a:r>
              <a:rPr lang="fr"/>
              <a:t> où ils sont disponibles (</a:t>
            </a:r>
            <a:r>
              <a:rPr lang="fr"/>
              <a:t>géolocalisation</a:t>
            </a:r>
            <a:r>
              <a:rPr lang="fr"/>
              <a:t>)</a:t>
            </a:r>
            <a:endParaRPr/>
          </a:p>
          <a:p>
            <a:pPr indent="-311150" lvl="0" marL="457200" rtl="0" algn="l">
              <a:spcBef>
                <a:spcPts val="0"/>
              </a:spcBef>
              <a:spcAft>
                <a:spcPts val="0"/>
              </a:spcAft>
              <a:buSzPts val="1300"/>
              <a:buChar char="●"/>
            </a:pPr>
            <a:r>
              <a:rPr lang="fr"/>
              <a:t>Doivent trouver le lieux </a:t>
            </a:r>
            <a:r>
              <a:rPr lang="fr"/>
              <a:t>d'entraînement ou passer par un partenaire (créneaux et lieu à définir en même temps)</a:t>
            </a:r>
            <a:endParaRPr/>
          </a:p>
          <a:p>
            <a:pPr indent="-311150" lvl="0" marL="457200" rtl="0" algn="l">
              <a:spcBef>
                <a:spcPts val="0"/>
              </a:spcBef>
              <a:spcAft>
                <a:spcPts val="0"/>
              </a:spcAft>
              <a:buSzPts val="1300"/>
              <a:buChar char="●"/>
            </a:pPr>
            <a:r>
              <a:rPr lang="fr"/>
              <a:t>Mettre leurs disponibilités sur le planning (voir ci dessus)</a:t>
            </a:r>
            <a:endParaRPr/>
          </a:p>
          <a:p>
            <a:pPr indent="-311150" lvl="0" marL="457200" rtl="0" algn="l">
              <a:spcBef>
                <a:spcPts val="0"/>
              </a:spcBef>
              <a:spcAft>
                <a:spcPts val="0"/>
              </a:spcAft>
              <a:buSzPts val="1300"/>
              <a:buChar char="●"/>
            </a:pPr>
            <a:r>
              <a:rPr lang="fr"/>
              <a:t>Classification en fonction de leur expérience, leur niveau de diplôme et leur abonnement (coach tendance, meilleure note, nouveau, par prix ?)</a:t>
            </a:r>
            <a:endParaRPr/>
          </a:p>
          <a:p>
            <a:pPr indent="-311150" lvl="0" marL="457200" rtl="0" algn="l">
              <a:spcBef>
                <a:spcPts val="0"/>
              </a:spcBef>
              <a:spcAft>
                <a:spcPts val="0"/>
              </a:spcAft>
              <a:buSzPts val="1300"/>
              <a:buChar char="●"/>
            </a:pPr>
            <a:r>
              <a:rPr lang="fr"/>
              <a:t>Pour chaque coach, demandez la copie de la carte professionnel d’éducateur sportif (les </a:t>
            </a:r>
            <a:r>
              <a:rPr lang="fr"/>
              <a:t>diplômes</a:t>
            </a:r>
            <a:r>
              <a:rPr lang="fr"/>
              <a:t> et conditions d’exercices sont écrites dessus). La vérification s’effectue sur </a:t>
            </a:r>
            <a:r>
              <a:rPr lang="fr" u="sng">
                <a:solidFill>
                  <a:schemeClr val="hlink"/>
                </a:solidFill>
                <a:hlinkClick r:id="rId4"/>
              </a:rPr>
              <a:t>https://eapspublic.sports.gouv.fr/CarteProRecherche/RechercherEducateurCartePro</a:t>
            </a:r>
            <a:r>
              <a:rPr lang="fr"/>
              <a:t> ou </a:t>
            </a:r>
            <a:r>
              <a:rPr lang="fr" u="sng">
                <a:solidFill>
                  <a:schemeClr val="hlink"/>
                </a:solidFill>
                <a:hlinkClick r:id="rId5"/>
              </a:rPr>
              <a:t>https://recherche-educateur.sports.gouv.fr/accueil#result</a:t>
            </a:r>
            <a:r>
              <a:rPr lang="fr"/>
              <a:t> (PACA)</a:t>
            </a:r>
            <a:endParaRPr/>
          </a:p>
        </p:txBody>
      </p:sp>
      <p:pic>
        <p:nvPicPr>
          <p:cNvPr id="166" name="Google Shape;166;p17"/>
          <p:cNvPicPr preferRelativeResize="0"/>
          <p:nvPr/>
        </p:nvPicPr>
        <p:blipFill>
          <a:blip r:embed="rId6">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Joueurs</a:t>
            </a:r>
            <a:endParaRPr/>
          </a:p>
        </p:txBody>
      </p:sp>
      <p:sp>
        <p:nvSpPr>
          <p:cNvPr id="172" name="Google Shape;172;p18"/>
          <p:cNvSpPr txBox="1"/>
          <p:nvPr>
            <p:ph idx="1" type="body"/>
          </p:nvPr>
        </p:nvSpPr>
        <p:spPr>
          <a:xfrm>
            <a:off x="729450" y="1929300"/>
            <a:ext cx="7505700" cy="3044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A partir de l’application ils peuvent choisir un coach</a:t>
            </a:r>
            <a:endParaRPr/>
          </a:p>
          <a:p>
            <a:pPr indent="-311150" lvl="0" marL="457200" rtl="0" algn="l">
              <a:spcBef>
                <a:spcPts val="0"/>
              </a:spcBef>
              <a:spcAft>
                <a:spcPts val="0"/>
              </a:spcAft>
              <a:buSzPts val="1300"/>
              <a:buChar char="●"/>
            </a:pPr>
            <a:r>
              <a:rPr lang="fr"/>
              <a:t>La classification des coachs permet aux joueurs de choisir </a:t>
            </a:r>
            <a:r>
              <a:rPr lang="fr"/>
              <a:t>l'entraîneur</a:t>
            </a:r>
            <a:r>
              <a:rPr lang="fr"/>
              <a:t> le plus adapté à leur besoin</a:t>
            </a:r>
            <a:endParaRPr/>
          </a:p>
          <a:p>
            <a:pPr indent="-311150" lvl="0" marL="457200" rtl="0" algn="l">
              <a:spcBef>
                <a:spcPts val="0"/>
              </a:spcBef>
              <a:spcAft>
                <a:spcPts val="0"/>
              </a:spcAft>
              <a:buSzPts val="1300"/>
              <a:buChar char="●"/>
            </a:pPr>
            <a:r>
              <a:rPr lang="fr"/>
              <a:t>Peuvent choisir un </a:t>
            </a:r>
            <a:r>
              <a:rPr lang="fr"/>
              <a:t>entraîneur</a:t>
            </a:r>
            <a:r>
              <a:rPr lang="fr"/>
              <a:t> en fonction du lieux (vacances, domicile…)</a:t>
            </a:r>
            <a:endParaRPr/>
          </a:p>
          <a:p>
            <a:pPr indent="-311150" lvl="0" marL="457200" rtl="0" algn="l">
              <a:spcBef>
                <a:spcPts val="0"/>
              </a:spcBef>
              <a:spcAft>
                <a:spcPts val="0"/>
              </a:spcAft>
              <a:buSzPts val="1300"/>
              <a:buChar char="●"/>
            </a:pPr>
            <a:r>
              <a:rPr lang="fr"/>
              <a:t>Peuvent mettre une note et un commentaire au coach</a:t>
            </a:r>
            <a:endParaRPr/>
          </a:p>
          <a:p>
            <a:pPr indent="-311150" lvl="0" marL="457200" rtl="0" algn="l">
              <a:spcBef>
                <a:spcPts val="0"/>
              </a:spcBef>
              <a:spcAft>
                <a:spcPts val="0"/>
              </a:spcAft>
              <a:buSzPts val="1300"/>
              <a:buChar char="●"/>
            </a:pPr>
            <a:r>
              <a:rPr lang="fr"/>
              <a:t>Paiement en ligne (attente validation du coach)</a:t>
            </a:r>
            <a:endParaRPr/>
          </a:p>
          <a:p>
            <a:pPr indent="-311150" lvl="0" marL="457200" rtl="0" algn="l">
              <a:spcBef>
                <a:spcPts val="0"/>
              </a:spcBef>
              <a:spcAft>
                <a:spcPts val="0"/>
              </a:spcAft>
              <a:buSzPts val="1300"/>
              <a:buChar char="●"/>
            </a:pPr>
            <a:r>
              <a:rPr lang="fr"/>
              <a:t>Nous </a:t>
            </a:r>
            <a:r>
              <a:rPr lang="fr"/>
              <a:t>prenons</a:t>
            </a:r>
            <a:r>
              <a:rPr lang="fr"/>
              <a:t> une commission sur chaque transaction (</a:t>
            </a:r>
            <a:r>
              <a:rPr lang="fr"/>
              <a:t>business</a:t>
            </a:r>
            <a:r>
              <a:rPr lang="fr"/>
              <a:t> plan)</a:t>
            </a:r>
            <a:endParaRPr/>
          </a:p>
        </p:txBody>
      </p:sp>
      <p:pic>
        <p:nvPicPr>
          <p:cNvPr id="173" name="Google Shape;173;p18"/>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Terrains</a:t>
            </a:r>
            <a:endParaRPr/>
          </a:p>
        </p:txBody>
      </p:sp>
      <p:sp>
        <p:nvSpPr>
          <p:cNvPr id="179" name="Google Shape;179;p19"/>
          <p:cNvSpPr txBox="1"/>
          <p:nvPr>
            <p:ph idx="1" type="body"/>
          </p:nvPr>
        </p:nvSpPr>
        <p:spPr>
          <a:xfrm>
            <a:off x="275575" y="2078875"/>
            <a:ext cx="8142600" cy="27615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fr"/>
              <a:t>Possibilité terrain extérieur</a:t>
            </a:r>
            <a:endParaRPr/>
          </a:p>
          <a:p>
            <a:pPr indent="-311150" lvl="0" marL="457200" rtl="0" algn="l">
              <a:spcBef>
                <a:spcPts val="0"/>
              </a:spcBef>
              <a:spcAft>
                <a:spcPts val="0"/>
              </a:spcAft>
              <a:buSzPts val="1300"/>
              <a:buChar char="●"/>
            </a:pPr>
            <a:r>
              <a:rPr lang="fr"/>
              <a:t>Possibilité terrain privé tel que “hoops summit”, “hoops factory”, “five”...</a:t>
            </a:r>
            <a:endParaRPr/>
          </a:p>
          <a:p>
            <a:pPr indent="0" lvl="0" marL="457200" rtl="0" algn="l">
              <a:spcBef>
                <a:spcPts val="1200"/>
              </a:spcBef>
              <a:spcAft>
                <a:spcPts val="0"/>
              </a:spcAft>
              <a:buNone/>
            </a:pPr>
            <a:r>
              <a:rPr lang="fr"/>
              <a:t>=&gt; Dans </a:t>
            </a:r>
            <a:r>
              <a:rPr lang="fr"/>
              <a:t>l'Évolution</a:t>
            </a:r>
            <a:r>
              <a:rPr lang="fr"/>
              <a:t>, les terrains privé </a:t>
            </a:r>
            <a:r>
              <a:rPr lang="fr"/>
              <a:t>mettront</a:t>
            </a:r>
            <a:r>
              <a:rPr lang="fr"/>
              <a:t> leur disponibilités sur </a:t>
            </a:r>
            <a:r>
              <a:rPr lang="fr"/>
              <a:t>notre</a:t>
            </a:r>
            <a:r>
              <a:rPr lang="fr"/>
              <a:t> plateforme</a:t>
            </a:r>
            <a:endParaRPr/>
          </a:p>
          <a:p>
            <a:pPr indent="0" lvl="0" marL="457200" rtl="0" algn="l">
              <a:spcBef>
                <a:spcPts val="1200"/>
              </a:spcBef>
              <a:spcAft>
                <a:spcPts val="0"/>
              </a:spcAft>
              <a:buNone/>
            </a:pPr>
            <a:r>
              <a:rPr lang="fr"/>
              <a:t>=&gt; Négociation des tarifs de réservation pour les coachs</a:t>
            </a:r>
            <a:endParaRPr/>
          </a:p>
          <a:p>
            <a:pPr indent="0" lvl="0" marL="457200" rtl="0" algn="l">
              <a:spcBef>
                <a:spcPts val="1200"/>
              </a:spcBef>
              <a:spcAft>
                <a:spcPts val="0"/>
              </a:spcAft>
              <a:buNone/>
            </a:pPr>
            <a:r>
              <a:rPr lang="fr"/>
              <a:t>=&gt; Prendre une commission sur chaque réservation</a:t>
            </a:r>
            <a:endParaRPr/>
          </a:p>
          <a:p>
            <a:pPr indent="-311150" lvl="0" marL="457200" rtl="0" algn="l">
              <a:spcBef>
                <a:spcPts val="1200"/>
              </a:spcBef>
              <a:spcAft>
                <a:spcPts val="0"/>
              </a:spcAft>
              <a:buSzPts val="1300"/>
              <a:buChar char="●"/>
            </a:pPr>
            <a:r>
              <a:rPr lang="fr"/>
              <a:t>Gymnase des clubs</a:t>
            </a:r>
            <a:endParaRPr/>
          </a:p>
          <a:p>
            <a:pPr indent="-311150" lvl="0" marL="457200" rtl="0" algn="l">
              <a:spcBef>
                <a:spcPts val="0"/>
              </a:spcBef>
              <a:spcAft>
                <a:spcPts val="0"/>
              </a:spcAft>
              <a:buSzPts val="1300"/>
              <a:buChar char="●"/>
            </a:pPr>
            <a:r>
              <a:rPr lang="fr"/>
              <a:t>Ils seront géolocalisé et les joueurs pourront s’inscrire à une séance en fonction des disponibilités</a:t>
            </a:r>
            <a:endParaRPr/>
          </a:p>
          <a:p>
            <a:pPr indent="-311150" lvl="0" marL="457200" rtl="0" algn="l">
              <a:spcBef>
                <a:spcPts val="0"/>
              </a:spcBef>
              <a:spcAft>
                <a:spcPts val="0"/>
              </a:spcAft>
              <a:buSzPts val="1300"/>
              <a:buChar char="●"/>
            </a:pPr>
            <a:r>
              <a:rPr lang="fr"/>
              <a:t>Terrain particulier, laisse le choix aux </a:t>
            </a:r>
            <a:r>
              <a:rPr lang="fr"/>
              <a:t>entraîneurs</a:t>
            </a:r>
            <a:r>
              <a:rPr lang="fr"/>
              <a:t> d’aller chez un habitant, si il dispose par exemple d’un court de tennis, d’un espace pour faire du foot, ou d’un terrain ou demi terrain de basket. </a:t>
            </a:r>
            <a:endParaRPr/>
          </a:p>
        </p:txBody>
      </p:sp>
      <p:pic>
        <p:nvPicPr>
          <p:cNvPr id="180" name="Google Shape;180;p19"/>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Clubs</a:t>
            </a:r>
            <a:endParaRPr/>
          </a:p>
        </p:txBody>
      </p:sp>
      <p:sp>
        <p:nvSpPr>
          <p:cNvPr id="186" name="Google Shape;186;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Peuvent mettre à </a:t>
            </a:r>
            <a:r>
              <a:rPr lang="fr"/>
              <a:t>disposition</a:t>
            </a:r>
            <a:r>
              <a:rPr lang="fr"/>
              <a:t> leur gymnase sur des créneaux non utilisé</a:t>
            </a:r>
            <a:endParaRPr/>
          </a:p>
          <a:p>
            <a:pPr indent="-311150" lvl="0" marL="457200" rtl="0" algn="l">
              <a:spcBef>
                <a:spcPts val="0"/>
              </a:spcBef>
              <a:spcAft>
                <a:spcPts val="0"/>
              </a:spcAft>
              <a:buSzPts val="1300"/>
              <a:buChar char="●"/>
            </a:pPr>
            <a:r>
              <a:rPr lang="fr"/>
              <a:t>Peuvent créer un créneau pour qu’un de leur salarié </a:t>
            </a:r>
            <a:r>
              <a:rPr lang="fr"/>
              <a:t>entraîne</a:t>
            </a:r>
            <a:r>
              <a:rPr lang="fr"/>
              <a:t> mais le paiement leur reviendra</a:t>
            </a:r>
            <a:endParaRPr/>
          </a:p>
        </p:txBody>
      </p:sp>
      <p:pic>
        <p:nvPicPr>
          <p:cNvPr id="187" name="Google Shape;187;p20"/>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Créneaux</a:t>
            </a:r>
            <a:endParaRPr/>
          </a:p>
        </p:txBody>
      </p:sp>
      <p:sp>
        <p:nvSpPr>
          <p:cNvPr id="193" name="Google Shape;193;p2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Peuvent être choisis par lieux </a:t>
            </a:r>
            <a:r>
              <a:rPr lang="fr"/>
              <a:t>d'entraînement</a:t>
            </a:r>
            <a:r>
              <a:rPr lang="fr"/>
              <a:t> ou par coach</a:t>
            </a:r>
            <a:endParaRPr/>
          </a:p>
          <a:p>
            <a:pPr indent="-311150" lvl="0" marL="457200" rtl="0" algn="l">
              <a:spcBef>
                <a:spcPts val="0"/>
              </a:spcBef>
              <a:spcAft>
                <a:spcPts val="0"/>
              </a:spcAft>
              <a:buSzPts val="1300"/>
              <a:buChar char="●"/>
            </a:pPr>
            <a:r>
              <a:rPr lang="fr"/>
              <a:t>Les joueurs, les coachs et les lieux seront géolocalisé</a:t>
            </a:r>
            <a:endParaRPr/>
          </a:p>
          <a:p>
            <a:pPr indent="-311150" lvl="0" marL="457200" rtl="0" algn="l">
              <a:spcBef>
                <a:spcPts val="0"/>
              </a:spcBef>
              <a:spcAft>
                <a:spcPts val="0"/>
              </a:spcAft>
              <a:buSzPts val="1300"/>
              <a:buChar char="●"/>
            </a:pPr>
            <a:r>
              <a:rPr lang="fr"/>
              <a:t>Les tarifs sont dégressifs si il y a un, deux ,trois ou quatre pratiquants</a:t>
            </a:r>
            <a:endParaRPr/>
          </a:p>
          <a:p>
            <a:pPr indent="-311150" lvl="0" marL="457200" rtl="0" algn="l">
              <a:spcBef>
                <a:spcPts val="0"/>
              </a:spcBef>
              <a:spcAft>
                <a:spcPts val="0"/>
              </a:spcAft>
              <a:buSzPts val="1300"/>
              <a:buChar char="●"/>
            </a:pPr>
            <a:r>
              <a:rPr lang="fr"/>
              <a:t>Les joueurs peuvent choisir s’ils souhaitent être seul ou pas dans leur critère</a:t>
            </a:r>
            <a:endParaRPr/>
          </a:p>
          <a:p>
            <a:pPr indent="-311150" lvl="0" marL="457200" rtl="0" algn="l">
              <a:spcBef>
                <a:spcPts val="0"/>
              </a:spcBef>
              <a:spcAft>
                <a:spcPts val="0"/>
              </a:spcAft>
              <a:buSzPts val="1300"/>
              <a:buChar char="●"/>
            </a:pPr>
            <a:r>
              <a:rPr lang="fr"/>
              <a:t>Les joueurs peuvent choisir d’être entre femme ou une coach femme</a:t>
            </a:r>
            <a:endParaRPr/>
          </a:p>
          <a:p>
            <a:pPr indent="-311150" lvl="0" marL="457200" rtl="0" algn="l">
              <a:spcBef>
                <a:spcPts val="0"/>
              </a:spcBef>
              <a:spcAft>
                <a:spcPts val="0"/>
              </a:spcAft>
              <a:buSzPts val="1300"/>
              <a:buChar char="●"/>
            </a:pPr>
            <a:r>
              <a:rPr lang="fr"/>
              <a:t>Les joueurs peuvent choisir s’ils souhaitent être qu’avec des joueurs d’un niveau équivalent à le leur ou juste d’un niveau en dessous</a:t>
            </a:r>
            <a:endParaRPr/>
          </a:p>
          <a:p>
            <a:pPr indent="0" lvl="0" marL="457200" rtl="0" algn="l">
              <a:spcBef>
                <a:spcPts val="1200"/>
              </a:spcBef>
              <a:spcAft>
                <a:spcPts val="0"/>
              </a:spcAft>
              <a:buNone/>
            </a:pPr>
            <a:r>
              <a:rPr lang="fr"/>
              <a:t>=&gt; Exemple, un Or veut bien être avec un argent mais pas un bronze…</a:t>
            </a:r>
            <a:endParaRPr/>
          </a:p>
          <a:p>
            <a:pPr indent="0" lvl="0" marL="457200" rtl="0" algn="l">
              <a:spcBef>
                <a:spcPts val="1200"/>
              </a:spcBef>
              <a:spcAft>
                <a:spcPts val="1200"/>
              </a:spcAft>
              <a:buNone/>
            </a:pPr>
            <a:r>
              <a:t/>
            </a:r>
            <a:endParaRPr/>
          </a:p>
        </p:txBody>
      </p:sp>
      <p:pic>
        <p:nvPicPr>
          <p:cNvPr id="194" name="Google Shape;194;p21"/>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Avantages pour les coachs</a:t>
            </a:r>
            <a:endParaRPr/>
          </a:p>
        </p:txBody>
      </p:sp>
      <p:sp>
        <p:nvSpPr>
          <p:cNvPr id="200" name="Google Shape;200;p22"/>
          <p:cNvSpPr txBox="1"/>
          <p:nvPr>
            <p:ph idx="1" type="body"/>
          </p:nvPr>
        </p:nvSpPr>
        <p:spPr>
          <a:xfrm>
            <a:off x="729450" y="1697875"/>
            <a:ext cx="7688700" cy="3132600"/>
          </a:xfrm>
          <a:prstGeom prst="rect">
            <a:avLst/>
          </a:prstGeom>
        </p:spPr>
        <p:txBody>
          <a:bodyPr anchorCtr="0" anchor="t" bIns="91425" lIns="91425" spcFirstLastPara="1" rIns="91425" wrap="square" tIns="91425">
            <a:normAutofit fontScale="92500" lnSpcReduction="20000"/>
          </a:bodyPr>
          <a:lstStyle/>
          <a:p>
            <a:pPr indent="-304958" lvl="0" marL="457200" rtl="0" algn="l">
              <a:spcBef>
                <a:spcPts val="0"/>
              </a:spcBef>
              <a:spcAft>
                <a:spcPts val="0"/>
              </a:spcAft>
              <a:buSzPct val="100000"/>
              <a:buChar char="●"/>
            </a:pPr>
            <a:r>
              <a:rPr lang="fr"/>
              <a:t>Mise en relation avec des clients</a:t>
            </a:r>
            <a:endParaRPr/>
          </a:p>
          <a:p>
            <a:pPr indent="-304958" lvl="0" marL="457200" rtl="0" algn="l">
              <a:spcBef>
                <a:spcPts val="0"/>
              </a:spcBef>
              <a:spcAft>
                <a:spcPts val="0"/>
              </a:spcAft>
              <a:buSzPct val="100000"/>
              <a:buChar char="●"/>
            </a:pPr>
            <a:r>
              <a:rPr lang="fr"/>
              <a:t>Revenus réguliers</a:t>
            </a:r>
            <a:endParaRPr/>
          </a:p>
          <a:p>
            <a:pPr indent="-304958" lvl="0" marL="457200" rtl="0" algn="l">
              <a:spcBef>
                <a:spcPts val="0"/>
              </a:spcBef>
              <a:spcAft>
                <a:spcPts val="0"/>
              </a:spcAft>
              <a:buSzPct val="100000"/>
              <a:buChar char="●"/>
            </a:pPr>
            <a:r>
              <a:rPr lang="fr"/>
              <a:t>Paiement directement sur leur compte</a:t>
            </a:r>
            <a:endParaRPr/>
          </a:p>
          <a:p>
            <a:pPr indent="-304958" lvl="0" marL="457200" rtl="0" algn="l">
              <a:spcBef>
                <a:spcPts val="0"/>
              </a:spcBef>
              <a:spcAft>
                <a:spcPts val="0"/>
              </a:spcAft>
              <a:buSzPct val="100000"/>
              <a:buChar char="●"/>
            </a:pPr>
            <a:r>
              <a:rPr lang="fr"/>
              <a:t>Visibilité de leur profil par notre plateforme</a:t>
            </a:r>
            <a:endParaRPr/>
          </a:p>
          <a:p>
            <a:pPr indent="-304958" lvl="0" marL="457200" rtl="0" algn="l">
              <a:spcBef>
                <a:spcPts val="0"/>
              </a:spcBef>
              <a:spcAft>
                <a:spcPts val="0"/>
              </a:spcAft>
              <a:buSzPct val="100000"/>
              <a:buChar char="●"/>
            </a:pPr>
            <a:r>
              <a:rPr lang="fr"/>
              <a:t>Augmentation de leur CA</a:t>
            </a:r>
            <a:endParaRPr/>
          </a:p>
          <a:p>
            <a:pPr indent="-304958" lvl="0" marL="457200" rtl="0" algn="l">
              <a:spcBef>
                <a:spcPts val="0"/>
              </a:spcBef>
              <a:spcAft>
                <a:spcPts val="0"/>
              </a:spcAft>
              <a:buSzPct val="100000"/>
              <a:buChar char="●"/>
            </a:pPr>
            <a:r>
              <a:rPr lang="fr"/>
              <a:t>Meilleure organisation </a:t>
            </a:r>
            <a:endParaRPr/>
          </a:p>
          <a:p>
            <a:pPr indent="-304958" lvl="0" marL="457200" rtl="0" algn="l">
              <a:spcBef>
                <a:spcPts val="0"/>
              </a:spcBef>
              <a:spcAft>
                <a:spcPts val="0"/>
              </a:spcAft>
              <a:buSzPct val="100000"/>
              <a:buChar char="●"/>
            </a:pPr>
            <a:r>
              <a:rPr lang="fr"/>
              <a:t>Facilité pour la prise de rdv</a:t>
            </a:r>
            <a:endParaRPr/>
          </a:p>
          <a:p>
            <a:pPr indent="-304958" lvl="0" marL="457200" rtl="0" algn="l">
              <a:spcBef>
                <a:spcPts val="0"/>
              </a:spcBef>
              <a:spcAft>
                <a:spcPts val="0"/>
              </a:spcAft>
              <a:buSzPct val="100000"/>
              <a:buChar char="●"/>
            </a:pPr>
            <a:r>
              <a:rPr lang="fr"/>
              <a:t>Une fois le paiement effectué, mise en relation entre le coach et le joueur (se mettre d’accord sur les besoins…)</a:t>
            </a:r>
            <a:endParaRPr/>
          </a:p>
          <a:p>
            <a:pPr indent="0" lvl="0" marL="0" rtl="0" algn="l">
              <a:spcBef>
                <a:spcPts val="1200"/>
              </a:spcBef>
              <a:spcAft>
                <a:spcPts val="0"/>
              </a:spcAft>
              <a:buNone/>
            </a:pPr>
            <a:r>
              <a:rPr lang="fr"/>
              <a:t>Propositions :</a:t>
            </a:r>
            <a:endParaRPr/>
          </a:p>
          <a:p>
            <a:pPr indent="-304958" lvl="0" marL="457200" rtl="0" algn="l">
              <a:spcBef>
                <a:spcPts val="1200"/>
              </a:spcBef>
              <a:spcAft>
                <a:spcPts val="0"/>
              </a:spcAft>
              <a:buSzPct val="100000"/>
              <a:buChar char="●"/>
            </a:pPr>
            <a:r>
              <a:rPr lang="fr"/>
              <a:t>Forfait plusieurs cours</a:t>
            </a:r>
            <a:endParaRPr/>
          </a:p>
          <a:p>
            <a:pPr indent="-304958" lvl="0" marL="457200" rtl="0" algn="l">
              <a:spcBef>
                <a:spcPts val="0"/>
              </a:spcBef>
              <a:spcAft>
                <a:spcPts val="0"/>
              </a:spcAft>
              <a:buSzPct val="100000"/>
              <a:buChar char="●"/>
            </a:pPr>
            <a:r>
              <a:rPr lang="fr"/>
              <a:t>Vidéo live</a:t>
            </a:r>
            <a:endParaRPr/>
          </a:p>
          <a:p>
            <a:pPr indent="-304958" lvl="0" marL="457200" rtl="0" algn="l">
              <a:spcBef>
                <a:spcPts val="0"/>
              </a:spcBef>
              <a:spcAft>
                <a:spcPts val="0"/>
              </a:spcAft>
              <a:buSzPct val="100000"/>
              <a:buChar char="●"/>
            </a:pPr>
            <a:r>
              <a:rPr lang="fr"/>
              <a:t>T</a:t>
            </a:r>
            <a:r>
              <a:rPr lang="fr"/>
              <a:t>éléchargement vidéo (boutique perso)</a:t>
            </a:r>
            <a:endParaRPr/>
          </a:p>
          <a:p>
            <a:pPr indent="-304958" lvl="0" marL="457200" rtl="0" algn="l">
              <a:spcBef>
                <a:spcPts val="0"/>
              </a:spcBef>
              <a:spcAft>
                <a:spcPts val="0"/>
              </a:spcAft>
              <a:buSzPct val="100000"/>
              <a:buChar char="●"/>
            </a:pPr>
            <a:r>
              <a:rPr lang="fr"/>
              <a:t>Rdv Cours individuel ou collectifs</a:t>
            </a:r>
            <a:endParaRPr/>
          </a:p>
          <a:p>
            <a:pPr indent="-304958" lvl="0" marL="457200" rtl="0" algn="l">
              <a:spcBef>
                <a:spcPts val="0"/>
              </a:spcBef>
              <a:spcAft>
                <a:spcPts val="0"/>
              </a:spcAft>
              <a:buSzPct val="100000"/>
              <a:buChar char="●"/>
            </a:pPr>
            <a:r>
              <a:rPr lang="fr"/>
              <a:t>Téléchargement exercice  (boutique perso)</a:t>
            </a:r>
            <a:endParaRPr/>
          </a:p>
        </p:txBody>
      </p:sp>
      <p:pic>
        <p:nvPicPr>
          <p:cNvPr id="201" name="Google Shape;201;p22"/>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Avantages pour les joueurs</a:t>
            </a:r>
            <a:endParaRPr/>
          </a:p>
        </p:txBody>
      </p:sp>
      <p:sp>
        <p:nvSpPr>
          <p:cNvPr id="207" name="Google Shape;207;p2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Un large choix de coachs</a:t>
            </a:r>
            <a:endParaRPr/>
          </a:p>
          <a:p>
            <a:pPr indent="-311150" lvl="0" marL="457200" rtl="0" algn="l">
              <a:spcBef>
                <a:spcPts val="0"/>
              </a:spcBef>
              <a:spcAft>
                <a:spcPts val="0"/>
              </a:spcAft>
              <a:buSzPts val="1300"/>
              <a:buChar char="●"/>
            </a:pPr>
            <a:r>
              <a:rPr lang="fr"/>
              <a:t>Un large choix de créneaux</a:t>
            </a:r>
            <a:endParaRPr/>
          </a:p>
          <a:p>
            <a:pPr indent="-311150" lvl="0" marL="457200" rtl="0" algn="l">
              <a:spcBef>
                <a:spcPts val="0"/>
              </a:spcBef>
              <a:spcAft>
                <a:spcPts val="0"/>
              </a:spcAft>
              <a:buSzPts val="1300"/>
              <a:buChar char="●"/>
            </a:pPr>
            <a:r>
              <a:rPr lang="fr"/>
              <a:t>+ </a:t>
            </a:r>
            <a:r>
              <a:rPr lang="fr"/>
              <a:t>d'entraînement</a:t>
            </a:r>
            <a:r>
              <a:rPr lang="fr"/>
              <a:t> </a:t>
            </a:r>
            <a:r>
              <a:rPr lang="fr"/>
              <a:t>individualisé</a:t>
            </a:r>
            <a:r>
              <a:rPr lang="fr"/>
              <a:t> donc + de progression</a:t>
            </a:r>
            <a:endParaRPr/>
          </a:p>
          <a:p>
            <a:pPr indent="-311150" lvl="0" marL="457200" rtl="0" algn="l">
              <a:spcBef>
                <a:spcPts val="0"/>
              </a:spcBef>
              <a:spcAft>
                <a:spcPts val="0"/>
              </a:spcAft>
              <a:buSzPts val="1300"/>
              <a:buChar char="●"/>
            </a:pPr>
            <a:r>
              <a:rPr lang="fr"/>
              <a:t>Facilité de prise de rdv adapté à son niveau</a:t>
            </a:r>
            <a:endParaRPr/>
          </a:p>
          <a:p>
            <a:pPr indent="-311150" lvl="0" marL="457200" rtl="0" algn="l">
              <a:spcBef>
                <a:spcPts val="0"/>
              </a:spcBef>
              <a:spcAft>
                <a:spcPts val="0"/>
              </a:spcAft>
              <a:buSzPts val="1300"/>
              <a:buChar char="●"/>
            </a:pPr>
            <a:r>
              <a:rPr lang="fr"/>
              <a:t>Possibilité</a:t>
            </a:r>
            <a:r>
              <a:rPr lang="fr"/>
              <a:t> de prendre des cours partout dans le monde</a:t>
            </a:r>
            <a:endParaRPr/>
          </a:p>
        </p:txBody>
      </p:sp>
      <p:pic>
        <p:nvPicPr>
          <p:cNvPr id="208" name="Google Shape;208;p23"/>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Avantages pour les clubs</a:t>
            </a:r>
            <a:endParaRPr/>
          </a:p>
        </p:txBody>
      </p:sp>
      <p:sp>
        <p:nvSpPr>
          <p:cNvPr id="214" name="Google Shape;214;p2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Source de revenus </a:t>
            </a:r>
            <a:r>
              <a:rPr lang="fr"/>
              <a:t>supplémentaire</a:t>
            </a:r>
            <a:r>
              <a:rPr lang="fr"/>
              <a:t> </a:t>
            </a:r>
            <a:endParaRPr/>
          </a:p>
          <a:p>
            <a:pPr indent="0" lvl="0" marL="0" rtl="0" algn="l">
              <a:spcBef>
                <a:spcPts val="1200"/>
              </a:spcBef>
              <a:spcAft>
                <a:spcPts val="0"/>
              </a:spcAft>
              <a:buNone/>
            </a:pPr>
            <a:r>
              <a:rPr lang="fr"/>
              <a:t>=&gt; </a:t>
            </a:r>
            <a:r>
              <a:rPr lang="fr"/>
              <a:t>Paiement</a:t>
            </a:r>
            <a:r>
              <a:rPr lang="fr"/>
              <a:t> de leur gymnase</a:t>
            </a:r>
            <a:endParaRPr/>
          </a:p>
          <a:p>
            <a:pPr indent="0" lvl="0" marL="0" rtl="0" algn="l">
              <a:spcBef>
                <a:spcPts val="1200"/>
              </a:spcBef>
              <a:spcAft>
                <a:spcPts val="0"/>
              </a:spcAft>
              <a:buNone/>
            </a:pPr>
            <a:r>
              <a:rPr lang="fr"/>
              <a:t>=&gt; Leur salarié donne des cours individuels pour le compte du club</a:t>
            </a:r>
            <a:endParaRPr/>
          </a:p>
          <a:p>
            <a:pPr indent="-311150" lvl="0" marL="457200" rtl="0" algn="l">
              <a:spcBef>
                <a:spcPts val="1200"/>
              </a:spcBef>
              <a:spcAft>
                <a:spcPts val="0"/>
              </a:spcAft>
              <a:buSzPts val="1300"/>
              <a:buChar char="●"/>
            </a:pPr>
            <a:r>
              <a:rPr lang="fr"/>
              <a:t>Compléter le temps de travail de leur salarié</a:t>
            </a:r>
            <a:endParaRPr/>
          </a:p>
          <a:p>
            <a:pPr indent="-311150" lvl="0" marL="457200" rtl="0" algn="l">
              <a:spcBef>
                <a:spcPts val="0"/>
              </a:spcBef>
              <a:spcAft>
                <a:spcPts val="0"/>
              </a:spcAft>
              <a:buSzPts val="1300"/>
              <a:buChar char="●"/>
            </a:pPr>
            <a:r>
              <a:rPr lang="fr"/>
              <a:t>Financer un salarié</a:t>
            </a:r>
            <a:endParaRPr/>
          </a:p>
          <a:p>
            <a:pPr indent="0" lvl="0" marL="457200" rtl="0" algn="l">
              <a:spcBef>
                <a:spcPts val="1200"/>
              </a:spcBef>
              <a:spcAft>
                <a:spcPts val="1200"/>
              </a:spcAft>
              <a:buNone/>
            </a:pPr>
            <a:r>
              <a:t/>
            </a:r>
            <a:endParaRPr/>
          </a:p>
        </p:txBody>
      </p:sp>
      <p:pic>
        <p:nvPicPr>
          <p:cNvPr id="215" name="Google Shape;215;p24"/>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Avantages pour les terrains privés</a:t>
            </a:r>
            <a:endParaRPr/>
          </a:p>
        </p:txBody>
      </p:sp>
      <p:sp>
        <p:nvSpPr>
          <p:cNvPr id="221" name="Google Shape;221;p2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Réservations sur </a:t>
            </a:r>
            <a:r>
              <a:rPr lang="fr"/>
              <a:t>notre</a:t>
            </a:r>
            <a:r>
              <a:rPr lang="fr"/>
              <a:t> site augmente leur visibilité</a:t>
            </a:r>
            <a:endParaRPr/>
          </a:p>
          <a:p>
            <a:pPr indent="-311150" lvl="0" marL="457200" rtl="0" algn="l">
              <a:spcBef>
                <a:spcPts val="0"/>
              </a:spcBef>
              <a:spcAft>
                <a:spcPts val="0"/>
              </a:spcAft>
              <a:buSzPts val="1300"/>
              <a:buChar char="●"/>
            </a:pPr>
            <a:r>
              <a:rPr lang="fr"/>
              <a:t>Apporte des clients supplémentaires</a:t>
            </a:r>
            <a:endParaRPr/>
          </a:p>
          <a:p>
            <a:pPr indent="-311150" lvl="0" marL="457200" rtl="0" algn="l">
              <a:spcBef>
                <a:spcPts val="0"/>
              </a:spcBef>
              <a:spcAft>
                <a:spcPts val="0"/>
              </a:spcAft>
              <a:buSzPts val="1300"/>
              <a:buChar char="●"/>
            </a:pPr>
            <a:r>
              <a:rPr lang="fr"/>
              <a:t>Augmentation du CA</a:t>
            </a:r>
            <a:endParaRPr/>
          </a:p>
        </p:txBody>
      </p:sp>
      <p:pic>
        <p:nvPicPr>
          <p:cNvPr id="222" name="Google Shape;222;p25"/>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Risques</a:t>
            </a:r>
            <a:endParaRPr/>
          </a:p>
        </p:txBody>
      </p:sp>
      <p:sp>
        <p:nvSpPr>
          <p:cNvPr id="228" name="Google Shape;228;p2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Des concurrents arrivent sur le marché</a:t>
            </a:r>
            <a:endParaRPr/>
          </a:p>
          <a:p>
            <a:pPr indent="-311150" lvl="0" marL="457200" rtl="0" algn="l">
              <a:spcBef>
                <a:spcPts val="0"/>
              </a:spcBef>
              <a:spcAft>
                <a:spcPts val="0"/>
              </a:spcAft>
              <a:buSzPts val="1300"/>
              <a:buChar char="●"/>
            </a:pPr>
            <a:r>
              <a:rPr lang="fr"/>
              <a:t>Les coachs et les joueurs ne passent plus par l’application</a:t>
            </a:r>
            <a:endParaRPr/>
          </a:p>
          <a:p>
            <a:pPr indent="0" lvl="0" marL="0" rtl="0" algn="l">
              <a:spcBef>
                <a:spcPts val="1200"/>
              </a:spcBef>
              <a:spcAft>
                <a:spcPts val="0"/>
              </a:spcAft>
              <a:buNone/>
            </a:pPr>
            <a:r>
              <a:rPr lang="fr"/>
              <a:t>=&gt; l’abonnement permet de prendre de l’argent même s’ils passent en direct</a:t>
            </a:r>
            <a:endParaRPr/>
          </a:p>
          <a:p>
            <a:pPr indent="0" lvl="0" marL="0" rtl="0" algn="l">
              <a:spcBef>
                <a:spcPts val="1200"/>
              </a:spcBef>
              <a:spcAft>
                <a:spcPts val="0"/>
              </a:spcAft>
              <a:buNone/>
            </a:pPr>
            <a:r>
              <a:rPr lang="fr"/>
              <a:t>=&gt; possibilité de pertes d’argents si beaucoup de cours sont pris</a:t>
            </a:r>
            <a:endParaRPr/>
          </a:p>
          <a:p>
            <a:pPr indent="-311150" lvl="0" marL="457200" rtl="0" algn="l">
              <a:spcBef>
                <a:spcPts val="1200"/>
              </a:spcBef>
              <a:spcAft>
                <a:spcPts val="0"/>
              </a:spcAft>
              <a:buSzPts val="1300"/>
              <a:buChar char="●"/>
            </a:pPr>
            <a:r>
              <a:rPr lang="fr"/>
              <a:t>Refus des terrains privé de collaborer</a:t>
            </a:r>
            <a:endParaRPr/>
          </a:p>
          <a:p>
            <a:pPr indent="0" lvl="0" marL="0" rtl="0" algn="l">
              <a:spcBef>
                <a:spcPts val="1200"/>
              </a:spcBef>
              <a:spcAft>
                <a:spcPts val="1200"/>
              </a:spcAft>
              <a:buNone/>
            </a:pPr>
            <a:r>
              <a:t/>
            </a:r>
            <a:endParaRPr/>
          </a:p>
        </p:txBody>
      </p:sp>
      <p:pic>
        <p:nvPicPr>
          <p:cNvPr id="229" name="Google Shape;229;p26"/>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7"/>
          <p:cNvSpPr txBox="1"/>
          <p:nvPr>
            <p:ph type="title"/>
          </p:nvPr>
        </p:nvSpPr>
        <p:spPr>
          <a:xfrm>
            <a:off x="727650" y="9145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Business</a:t>
            </a:r>
            <a:r>
              <a:rPr lang="fr"/>
              <a:t> plan - Modèle économique (évolutif)</a:t>
            </a:r>
            <a:endParaRPr/>
          </a:p>
        </p:txBody>
      </p:sp>
      <p:sp>
        <p:nvSpPr>
          <p:cNvPr id="235" name="Google Shape;235;p27"/>
          <p:cNvSpPr txBox="1"/>
          <p:nvPr>
            <p:ph idx="1" type="body"/>
          </p:nvPr>
        </p:nvSpPr>
        <p:spPr>
          <a:xfrm>
            <a:off x="31450" y="1449750"/>
            <a:ext cx="3747000" cy="36471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fr"/>
              <a:t>Abonnement des coachs ?€ / mois</a:t>
            </a:r>
            <a:endParaRPr/>
          </a:p>
          <a:p>
            <a:pPr indent="-311150" lvl="0" marL="457200" rtl="0" algn="l">
              <a:spcBef>
                <a:spcPts val="0"/>
              </a:spcBef>
              <a:spcAft>
                <a:spcPts val="0"/>
              </a:spcAft>
              <a:buSzPts val="1300"/>
              <a:buChar char="●"/>
            </a:pPr>
            <a:r>
              <a:rPr lang="fr"/>
              <a:t>Pourcentage pris sur les joueurs à chaque cours pris 5% ?</a:t>
            </a:r>
            <a:endParaRPr/>
          </a:p>
          <a:p>
            <a:pPr indent="-311150" lvl="0" marL="457200" rtl="0" algn="l">
              <a:spcBef>
                <a:spcPts val="0"/>
              </a:spcBef>
              <a:spcAft>
                <a:spcPts val="0"/>
              </a:spcAft>
              <a:buSzPts val="1300"/>
              <a:buChar char="●"/>
            </a:pPr>
            <a:r>
              <a:rPr lang="fr"/>
              <a:t>Pourcentage pris sur les coachs à chaque cours pris 5% (dans un second temps) ?</a:t>
            </a:r>
            <a:endParaRPr/>
          </a:p>
          <a:p>
            <a:pPr indent="-311150" lvl="0" marL="457200" rtl="0" algn="l">
              <a:spcBef>
                <a:spcPts val="0"/>
              </a:spcBef>
              <a:spcAft>
                <a:spcPts val="0"/>
              </a:spcAft>
              <a:buSzPts val="1300"/>
              <a:buChar char="●"/>
            </a:pPr>
            <a:r>
              <a:rPr lang="fr"/>
              <a:t>Pourcentage sur le terrain privé à chaque réservation prise par notre site ? (second temps)</a:t>
            </a:r>
            <a:endParaRPr/>
          </a:p>
          <a:p>
            <a:pPr indent="-311150" lvl="0" marL="457200" rtl="0" algn="l">
              <a:spcBef>
                <a:spcPts val="0"/>
              </a:spcBef>
              <a:spcAft>
                <a:spcPts val="0"/>
              </a:spcAft>
              <a:buSzPts val="1300"/>
              <a:buChar char="●"/>
            </a:pPr>
            <a:r>
              <a:rPr lang="fr"/>
              <a:t>10€ / mois pour les asso + 5%</a:t>
            </a:r>
            <a:endParaRPr/>
          </a:p>
          <a:p>
            <a:pPr indent="-311150" lvl="0" marL="457200" rtl="0" algn="l">
              <a:spcBef>
                <a:spcPts val="0"/>
              </a:spcBef>
              <a:spcAft>
                <a:spcPts val="0"/>
              </a:spcAft>
              <a:buSzPts val="1300"/>
              <a:buChar char="●"/>
            </a:pPr>
            <a:r>
              <a:rPr lang="fr"/>
              <a:t>Création d’un pack entrainement individuel avec un suivi à distance par un coach 5%</a:t>
            </a:r>
            <a:endParaRPr b="1"/>
          </a:p>
          <a:p>
            <a:pPr indent="-311150" lvl="0" marL="457200" rtl="0" algn="l">
              <a:spcBef>
                <a:spcPts val="0"/>
              </a:spcBef>
              <a:spcAft>
                <a:spcPts val="0"/>
              </a:spcAft>
              <a:buSzPts val="1300"/>
              <a:buChar char="●"/>
            </a:pPr>
            <a:r>
              <a:rPr lang="fr"/>
              <a:t>Création d’un pack d’exercice d'entraînement individuel avec démonstration filmée 5%</a:t>
            </a:r>
            <a:endParaRPr b="1"/>
          </a:p>
          <a:p>
            <a:pPr indent="-311150" lvl="0" marL="457200" rtl="0" algn="l">
              <a:spcBef>
                <a:spcPts val="0"/>
              </a:spcBef>
              <a:spcAft>
                <a:spcPts val="0"/>
              </a:spcAft>
              <a:buSzPts val="1300"/>
              <a:buChar char="●"/>
            </a:pPr>
            <a:r>
              <a:rPr lang="fr"/>
              <a:t>Les coachs fixent leur prix</a:t>
            </a:r>
            <a:endParaRPr/>
          </a:p>
          <a:p>
            <a:pPr indent="-311150" lvl="0" marL="457200" rtl="0" algn="l">
              <a:spcBef>
                <a:spcPts val="0"/>
              </a:spcBef>
              <a:spcAft>
                <a:spcPts val="0"/>
              </a:spcAft>
              <a:buSzPts val="1300"/>
              <a:buChar char="●"/>
            </a:pPr>
            <a:r>
              <a:rPr lang="fr"/>
              <a:t>Inscription gratuite pour les joueurs</a:t>
            </a:r>
            <a:endParaRPr/>
          </a:p>
        </p:txBody>
      </p:sp>
      <p:sp>
        <p:nvSpPr>
          <p:cNvPr id="236" name="Google Shape;236;p27"/>
          <p:cNvSpPr txBox="1"/>
          <p:nvPr/>
        </p:nvSpPr>
        <p:spPr>
          <a:xfrm>
            <a:off x="4329025" y="1449750"/>
            <a:ext cx="4452000" cy="36471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1300">
                <a:solidFill>
                  <a:schemeClr val="lt1"/>
                </a:solidFill>
                <a:latin typeface="Lato"/>
                <a:ea typeface="Lato"/>
                <a:cs typeface="Lato"/>
                <a:sym typeface="Lato"/>
              </a:rPr>
              <a:t>Exemple :</a:t>
            </a:r>
            <a:endParaRPr sz="1300">
              <a:solidFill>
                <a:schemeClr val="lt1"/>
              </a:solidFill>
              <a:latin typeface="Lato"/>
              <a:ea typeface="Lato"/>
              <a:cs typeface="Lato"/>
              <a:sym typeface="Lato"/>
            </a:endParaRPr>
          </a:p>
          <a:p>
            <a:pPr indent="0" lvl="0" marL="0" rtl="0" algn="l">
              <a:lnSpc>
                <a:spcPct val="100000"/>
              </a:lnSpc>
              <a:spcBef>
                <a:spcPts val="1200"/>
              </a:spcBef>
              <a:spcAft>
                <a:spcPts val="0"/>
              </a:spcAft>
              <a:buNone/>
            </a:pPr>
            <a:r>
              <a:rPr lang="fr" sz="1300">
                <a:solidFill>
                  <a:schemeClr val="lt1"/>
                </a:solidFill>
                <a:latin typeface="Lato"/>
                <a:ea typeface="Lato"/>
                <a:cs typeface="Lato"/>
                <a:sym typeface="Lato"/>
              </a:rPr>
              <a:t>Pour 200 coachs </a:t>
            </a:r>
            <a:endParaRPr sz="1300">
              <a:solidFill>
                <a:schemeClr val="lt1"/>
              </a:solidFill>
              <a:latin typeface="Lato"/>
              <a:ea typeface="Lato"/>
              <a:cs typeface="Lato"/>
              <a:sym typeface="Lato"/>
            </a:endParaRPr>
          </a:p>
          <a:p>
            <a:pPr indent="0" lvl="0" marL="0" rtl="0" algn="l">
              <a:lnSpc>
                <a:spcPct val="100000"/>
              </a:lnSpc>
              <a:spcBef>
                <a:spcPts val="1200"/>
              </a:spcBef>
              <a:spcAft>
                <a:spcPts val="0"/>
              </a:spcAft>
              <a:buNone/>
            </a:pPr>
            <a:r>
              <a:rPr lang="fr" sz="1300">
                <a:solidFill>
                  <a:schemeClr val="lt1"/>
                </a:solidFill>
                <a:latin typeface="Lato"/>
                <a:ea typeface="Lato"/>
                <a:cs typeface="Lato"/>
                <a:sym typeface="Lato"/>
              </a:rPr>
              <a:t>Une séance 25€ en moyenne</a:t>
            </a:r>
            <a:endParaRPr sz="1300">
              <a:solidFill>
                <a:schemeClr val="lt1"/>
              </a:solidFill>
              <a:latin typeface="Lato"/>
              <a:ea typeface="Lato"/>
              <a:cs typeface="Lato"/>
              <a:sym typeface="Lato"/>
            </a:endParaRPr>
          </a:p>
          <a:p>
            <a:pPr indent="0" lvl="0" marL="0" rtl="0" algn="l">
              <a:lnSpc>
                <a:spcPct val="100000"/>
              </a:lnSpc>
              <a:spcBef>
                <a:spcPts val="1200"/>
              </a:spcBef>
              <a:spcAft>
                <a:spcPts val="0"/>
              </a:spcAft>
              <a:buNone/>
            </a:pPr>
            <a:r>
              <a:rPr lang="fr" sz="1300">
                <a:solidFill>
                  <a:schemeClr val="lt1"/>
                </a:solidFill>
                <a:latin typeface="Lato"/>
                <a:ea typeface="Lato"/>
                <a:cs typeface="Lato"/>
                <a:sym typeface="Lato"/>
              </a:rPr>
              <a:t>3 cours par semaine avec 2 élèvent à chaque fois = 6 cours par semaine</a:t>
            </a:r>
            <a:endParaRPr sz="1300">
              <a:solidFill>
                <a:schemeClr val="lt1"/>
              </a:solidFill>
              <a:latin typeface="Lato"/>
              <a:ea typeface="Lato"/>
              <a:cs typeface="Lato"/>
              <a:sym typeface="Lato"/>
            </a:endParaRPr>
          </a:p>
          <a:p>
            <a:pPr indent="0" lvl="0" marL="0" rtl="0" algn="l">
              <a:lnSpc>
                <a:spcPct val="100000"/>
              </a:lnSpc>
              <a:spcBef>
                <a:spcPts val="1200"/>
              </a:spcBef>
              <a:spcAft>
                <a:spcPts val="0"/>
              </a:spcAft>
              <a:buNone/>
            </a:pPr>
            <a:r>
              <a:rPr lang="fr" sz="1300">
                <a:solidFill>
                  <a:schemeClr val="lt1"/>
                </a:solidFill>
                <a:latin typeface="Lato"/>
                <a:ea typeface="Lato"/>
                <a:cs typeface="Lato"/>
                <a:sym typeface="Lato"/>
              </a:rPr>
              <a:t>6 cours X 200 coachs = 1200 cours par semaine</a:t>
            </a:r>
            <a:endParaRPr sz="1300">
              <a:solidFill>
                <a:schemeClr val="lt1"/>
              </a:solidFill>
              <a:latin typeface="Lato"/>
              <a:ea typeface="Lato"/>
              <a:cs typeface="Lato"/>
              <a:sym typeface="Lato"/>
            </a:endParaRPr>
          </a:p>
          <a:p>
            <a:pPr indent="0" lvl="0" marL="0" rtl="0" algn="l">
              <a:lnSpc>
                <a:spcPct val="100000"/>
              </a:lnSpc>
              <a:spcBef>
                <a:spcPts val="1200"/>
              </a:spcBef>
              <a:spcAft>
                <a:spcPts val="0"/>
              </a:spcAft>
              <a:buNone/>
            </a:pPr>
            <a:r>
              <a:rPr lang="fr" sz="1300">
                <a:solidFill>
                  <a:schemeClr val="lt1"/>
                </a:solidFill>
                <a:latin typeface="Lato"/>
                <a:ea typeface="Lato"/>
                <a:cs typeface="Lato"/>
                <a:sym typeface="Lato"/>
              </a:rPr>
              <a:t>25€ X 1200 = 30000 € / semaine générée par les coachs	30000 X 4 semaines = 120000 €</a:t>
            </a:r>
            <a:endParaRPr sz="1300">
              <a:solidFill>
                <a:schemeClr val="lt1"/>
              </a:solidFill>
              <a:latin typeface="Lato"/>
              <a:ea typeface="Lato"/>
              <a:cs typeface="Lato"/>
              <a:sym typeface="Lato"/>
            </a:endParaRPr>
          </a:p>
          <a:p>
            <a:pPr indent="0" lvl="0" marL="0" rtl="0" algn="l">
              <a:lnSpc>
                <a:spcPct val="100000"/>
              </a:lnSpc>
              <a:spcBef>
                <a:spcPts val="1200"/>
              </a:spcBef>
              <a:spcAft>
                <a:spcPts val="0"/>
              </a:spcAft>
              <a:buNone/>
            </a:pPr>
            <a:r>
              <a:rPr lang="fr" sz="1300">
                <a:solidFill>
                  <a:schemeClr val="lt1"/>
                </a:solidFill>
                <a:latin typeface="Lato"/>
                <a:ea typeface="Lato"/>
                <a:cs typeface="Lato"/>
                <a:sym typeface="Lato"/>
              </a:rPr>
              <a:t>5%  coach + 5% joueurs de 1200000 € = 12000 € par mois</a:t>
            </a:r>
            <a:endParaRPr sz="1300">
              <a:solidFill>
                <a:schemeClr val="lt1"/>
              </a:solidFill>
              <a:latin typeface="Lato"/>
              <a:ea typeface="Lato"/>
              <a:cs typeface="Lato"/>
              <a:sym typeface="Lato"/>
            </a:endParaRPr>
          </a:p>
          <a:p>
            <a:pPr indent="0" lvl="0" marL="0" rtl="0" algn="l">
              <a:lnSpc>
                <a:spcPct val="100000"/>
              </a:lnSpc>
              <a:spcBef>
                <a:spcPts val="1200"/>
              </a:spcBef>
              <a:spcAft>
                <a:spcPts val="0"/>
              </a:spcAft>
              <a:buNone/>
            </a:pPr>
            <a:r>
              <a:rPr lang="fr" sz="1300">
                <a:solidFill>
                  <a:schemeClr val="lt1"/>
                </a:solidFill>
                <a:latin typeface="Lato"/>
                <a:ea typeface="Lato"/>
                <a:cs typeface="Lato"/>
                <a:sym typeface="Lato"/>
              </a:rPr>
              <a:t>200 X 5€ (abonnement) = 1000 €</a:t>
            </a:r>
            <a:endParaRPr sz="1300">
              <a:solidFill>
                <a:schemeClr val="lt1"/>
              </a:solidFill>
              <a:latin typeface="Lato"/>
              <a:ea typeface="Lato"/>
              <a:cs typeface="Lato"/>
              <a:sym typeface="Lato"/>
            </a:endParaRPr>
          </a:p>
          <a:p>
            <a:pPr indent="0" lvl="0" marL="0" rtl="0" algn="l">
              <a:lnSpc>
                <a:spcPct val="100000"/>
              </a:lnSpc>
              <a:spcBef>
                <a:spcPts val="1200"/>
              </a:spcBef>
              <a:spcAft>
                <a:spcPts val="1200"/>
              </a:spcAft>
              <a:buNone/>
            </a:pPr>
            <a:r>
              <a:rPr b="1" lang="fr" sz="1300">
                <a:solidFill>
                  <a:schemeClr val="lt1"/>
                </a:solidFill>
                <a:latin typeface="Lato"/>
                <a:ea typeface="Lato"/>
                <a:cs typeface="Lato"/>
                <a:sym typeface="Lato"/>
              </a:rPr>
              <a:t>CA par mois 13000 €</a:t>
            </a:r>
            <a:endParaRPr b="1" sz="1300">
              <a:solidFill>
                <a:schemeClr val="lt1"/>
              </a:solidFill>
              <a:latin typeface="Lato"/>
              <a:ea typeface="Lato"/>
              <a:cs typeface="Lato"/>
              <a:sym typeface="Lato"/>
            </a:endParaRPr>
          </a:p>
        </p:txBody>
      </p:sp>
      <p:pic>
        <p:nvPicPr>
          <p:cNvPr id="237" name="Google Shape;237;p27"/>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8"/>
          <p:cNvSpPr txBox="1"/>
          <p:nvPr>
            <p:ph type="title"/>
          </p:nvPr>
        </p:nvSpPr>
        <p:spPr>
          <a:xfrm>
            <a:off x="327950" y="71267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Business</a:t>
            </a:r>
            <a:r>
              <a:rPr lang="fr"/>
              <a:t> plan</a:t>
            </a:r>
            <a:endParaRPr/>
          </a:p>
        </p:txBody>
      </p:sp>
      <p:sp>
        <p:nvSpPr>
          <p:cNvPr id="243" name="Google Shape;243;p28"/>
          <p:cNvSpPr txBox="1"/>
          <p:nvPr>
            <p:ph idx="1" type="body"/>
          </p:nvPr>
        </p:nvSpPr>
        <p:spPr>
          <a:xfrm>
            <a:off x="59125" y="1167625"/>
            <a:ext cx="8908800" cy="3975900"/>
          </a:xfrm>
          <a:prstGeom prst="rect">
            <a:avLst/>
          </a:prstGeom>
          <a:solidFill>
            <a:schemeClr val="dk1"/>
          </a:solidFill>
        </p:spPr>
        <p:txBody>
          <a:bodyPr anchorCtr="0" anchor="t" bIns="91425" lIns="91425" spcFirstLastPara="1" rIns="91425" wrap="square" tIns="91425">
            <a:noAutofit/>
          </a:bodyPr>
          <a:lstStyle/>
          <a:p>
            <a:pPr indent="0" lvl="0" marL="0" rtl="0" algn="l">
              <a:spcBef>
                <a:spcPts val="0"/>
              </a:spcBef>
              <a:spcAft>
                <a:spcPts val="0"/>
              </a:spcAft>
              <a:buNone/>
            </a:pPr>
            <a:r>
              <a:rPr b="1" lang="fr" sz="1800"/>
              <a:t>Objectif :</a:t>
            </a:r>
            <a:endParaRPr b="1" sz="1800"/>
          </a:p>
          <a:p>
            <a:pPr indent="0" lvl="0" marL="0" rtl="0" algn="l">
              <a:spcBef>
                <a:spcPts val="1200"/>
              </a:spcBef>
              <a:spcAft>
                <a:spcPts val="0"/>
              </a:spcAft>
              <a:buNone/>
            </a:pPr>
            <a:r>
              <a:rPr b="1" lang="fr" sz="1800"/>
              <a:t>Avoir le maximum de profil joueur pour attirer les coachs !</a:t>
            </a:r>
            <a:endParaRPr sz="1800">
              <a:solidFill>
                <a:schemeClr val="accent3"/>
              </a:solidFill>
            </a:endParaRPr>
          </a:p>
          <a:p>
            <a:pPr indent="0" lvl="0" marL="0" rtl="0" algn="l">
              <a:spcBef>
                <a:spcPts val="1200"/>
              </a:spcBef>
              <a:spcAft>
                <a:spcPts val="0"/>
              </a:spcAft>
              <a:buNone/>
            </a:pPr>
            <a:r>
              <a:rPr lang="fr" sz="1400"/>
              <a:t>➤</a:t>
            </a:r>
            <a:r>
              <a:rPr lang="fr" sz="1400"/>
              <a:t> Options payante pour le coach :       Mise en ligne d’un support vidéo, </a:t>
            </a:r>
            <a:r>
              <a:rPr lang="fr" sz="1400"/>
              <a:t>sa pub</a:t>
            </a:r>
            <a:r>
              <a:rPr lang="fr" sz="1400"/>
              <a:t> </a:t>
            </a:r>
            <a:endParaRPr sz="1400"/>
          </a:p>
          <a:p>
            <a:pPr indent="0" lvl="0" marL="0" rtl="0" algn="l">
              <a:spcBef>
                <a:spcPts val="1200"/>
              </a:spcBef>
              <a:spcAft>
                <a:spcPts val="0"/>
              </a:spcAft>
              <a:buNone/>
            </a:pPr>
            <a:r>
              <a:rPr lang="fr" sz="1400"/>
              <a:t> 				  Communication des statistiques de l’annonce </a:t>
            </a:r>
            <a:endParaRPr sz="1400"/>
          </a:p>
          <a:p>
            <a:pPr indent="0" lvl="0" marL="0" rtl="0" algn="l">
              <a:spcBef>
                <a:spcPts val="1200"/>
              </a:spcBef>
              <a:spcAft>
                <a:spcPts val="0"/>
              </a:spcAft>
              <a:buNone/>
            </a:pPr>
            <a:r>
              <a:rPr lang="fr" sz="1400"/>
              <a:t>				   Mise en ligne d’un catalogue d’exercice (boutique) sur son annonce, à payer par les joueurs . Les joueurs payent les frais de gest°</a:t>
            </a:r>
            <a:endParaRPr sz="1400"/>
          </a:p>
          <a:p>
            <a:pPr indent="0" lvl="0" marL="0" rtl="0" algn="l">
              <a:spcBef>
                <a:spcPts val="1200"/>
              </a:spcBef>
              <a:spcAft>
                <a:spcPts val="0"/>
              </a:spcAft>
              <a:buNone/>
            </a:pPr>
            <a:r>
              <a:rPr lang="fr" sz="1400"/>
              <a:t>				   </a:t>
            </a:r>
            <a:r>
              <a:rPr lang="fr" sz="1400"/>
              <a:t>Apparaître</a:t>
            </a:r>
            <a:r>
              <a:rPr lang="fr" sz="1400"/>
              <a:t> devant les autres coachs à note égale (3€ par mois)</a:t>
            </a:r>
            <a:endParaRPr sz="1400"/>
          </a:p>
          <a:p>
            <a:pPr indent="0" lvl="0" marL="0" rtl="0" algn="l">
              <a:spcBef>
                <a:spcPts val="1200"/>
              </a:spcBef>
              <a:spcAft>
                <a:spcPts val="0"/>
              </a:spcAft>
              <a:buNone/>
            </a:pPr>
            <a:r>
              <a:rPr lang="fr" sz="1400"/>
              <a:t>				  Suivi à distance des joueurs (exercices - conseil etc…) 4€ par mois. Le joueur paye lui 14.99€  par mois au coach et nous prenons 5%  de chaque transaction</a:t>
            </a:r>
            <a:r>
              <a:rPr lang="fr" sz="1400"/>
              <a:t> ?</a:t>
            </a:r>
            <a:endParaRPr sz="1400"/>
          </a:p>
          <a:p>
            <a:pPr indent="0" lvl="0" marL="0" rtl="0" algn="l">
              <a:spcBef>
                <a:spcPts val="1200"/>
              </a:spcBef>
              <a:spcAft>
                <a:spcPts val="1200"/>
              </a:spcAft>
              <a:buNone/>
            </a:pPr>
            <a:r>
              <a:rPr lang="fr" sz="1400"/>
              <a:t>➤ 3 mois offert pour les premiers coachs</a:t>
            </a:r>
            <a:endParaRPr sz="1400"/>
          </a:p>
        </p:txBody>
      </p:sp>
      <p:pic>
        <p:nvPicPr>
          <p:cNvPr id="244" name="Google Shape;244;p28"/>
          <p:cNvPicPr preferRelativeResize="0"/>
          <p:nvPr/>
        </p:nvPicPr>
        <p:blipFill>
          <a:blip r:embed="rId4">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9"/>
          <p:cNvSpPr txBox="1"/>
          <p:nvPr>
            <p:ph type="title"/>
          </p:nvPr>
        </p:nvSpPr>
        <p:spPr>
          <a:xfrm>
            <a:off x="140475" y="139300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Planification - Evolution</a:t>
            </a:r>
            <a:endParaRPr/>
          </a:p>
        </p:txBody>
      </p:sp>
      <p:sp>
        <p:nvSpPr>
          <p:cNvPr id="250" name="Google Shape;250;p29"/>
          <p:cNvSpPr txBox="1"/>
          <p:nvPr>
            <p:ph idx="1" type="body"/>
          </p:nvPr>
        </p:nvSpPr>
        <p:spPr>
          <a:xfrm>
            <a:off x="140475" y="2050950"/>
            <a:ext cx="4216200" cy="2108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fr" u="sng"/>
              <a:t>Planification</a:t>
            </a:r>
            <a:endParaRPr u="sng"/>
          </a:p>
          <a:p>
            <a:pPr indent="0" lvl="0" marL="0" rtl="0" algn="l">
              <a:spcBef>
                <a:spcPts val="1200"/>
              </a:spcBef>
              <a:spcAft>
                <a:spcPts val="0"/>
              </a:spcAft>
              <a:buNone/>
            </a:pPr>
            <a:r>
              <a:rPr lang="fr"/>
              <a:t>1er temps : Gratuit pour tout le monde</a:t>
            </a:r>
            <a:endParaRPr/>
          </a:p>
          <a:p>
            <a:pPr indent="0" lvl="0" marL="0" rtl="0" algn="l">
              <a:spcBef>
                <a:spcPts val="1200"/>
              </a:spcBef>
              <a:spcAft>
                <a:spcPts val="0"/>
              </a:spcAft>
              <a:buNone/>
            </a:pPr>
            <a:r>
              <a:rPr lang="fr"/>
              <a:t>2ème temps : Abonnement pour les coachs / les clubs</a:t>
            </a:r>
            <a:endParaRPr/>
          </a:p>
          <a:p>
            <a:pPr indent="0" lvl="0" marL="0" rtl="0" algn="l">
              <a:spcBef>
                <a:spcPts val="1200"/>
              </a:spcBef>
              <a:spcAft>
                <a:spcPts val="0"/>
              </a:spcAft>
              <a:buNone/>
            </a:pPr>
            <a:r>
              <a:rPr lang="fr"/>
              <a:t>=&gt; différentes formules à ce moment là</a:t>
            </a:r>
            <a:endParaRPr/>
          </a:p>
          <a:p>
            <a:pPr indent="0" lvl="0" marL="0" rtl="0" algn="l">
              <a:spcBef>
                <a:spcPts val="1200"/>
              </a:spcBef>
              <a:spcAft>
                <a:spcPts val="0"/>
              </a:spcAft>
              <a:buNone/>
            </a:pPr>
            <a:r>
              <a:rPr lang="fr"/>
              <a:t>3ème temps : Pourcentage pour les sportifs</a:t>
            </a:r>
            <a:endParaRPr/>
          </a:p>
          <a:p>
            <a:pPr indent="0" lvl="0" marL="0" rtl="0" algn="l">
              <a:spcBef>
                <a:spcPts val="1200"/>
              </a:spcBef>
              <a:spcAft>
                <a:spcPts val="1200"/>
              </a:spcAft>
              <a:buNone/>
            </a:pPr>
            <a:r>
              <a:rPr lang="fr"/>
              <a:t>4ème temps : Pourcentage pour les coachs</a:t>
            </a:r>
            <a:endParaRPr/>
          </a:p>
        </p:txBody>
      </p:sp>
      <p:sp>
        <p:nvSpPr>
          <p:cNvPr id="251" name="Google Shape;251;p29"/>
          <p:cNvSpPr txBox="1"/>
          <p:nvPr>
            <p:ph type="title"/>
          </p:nvPr>
        </p:nvSpPr>
        <p:spPr>
          <a:xfrm>
            <a:off x="327950" y="71267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Business plan</a:t>
            </a:r>
            <a:endParaRPr/>
          </a:p>
        </p:txBody>
      </p:sp>
      <p:pic>
        <p:nvPicPr>
          <p:cNvPr id="252" name="Google Shape;252;p29"/>
          <p:cNvPicPr preferRelativeResize="0"/>
          <p:nvPr/>
        </p:nvPicPr>
        <p:blipFill>
          <a:blip r:embed="rId3">
            <a:alphaModFix/>
          </a:blip>
          <a:stretch>
            <a:fillRect/>
          </a:stretch>
        </p:blipFill>
        <p:spPr>
          <a:xfrm>
            <a:off x="7063000" y="194475"/>
            <a:ext cx="1905000" cy="790575"/>
          </a:xfrm>
          <a:prstGeom prst="rect">
            <a:avLst/>
          </a:prstGeom>
          <a:noFill/>
          <a:ln>
            <a:noFill/>
          </a:ln>
        </p:spPr>
      </p:pic>
      <p:sp>
        <p:nvSpPr>
          <p:cNvPr id="253" name="Google Shape;253;p29"/>
          <p:cNvSpPr txBox="1"/>
          <p:nvPr/>
        </p:nvSpPr>
        <p:spPr>
          <a:xfrm>
            <a:off x="5082500" y="2154700"/>
            <a:ext cx="3826500" cy="198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300" u="sng">
                <a:solidFill>
                  <a:schemeClr val="lt1"/>
                </a:solidFill>
                <a:latin typeface="Lato"/>
                <a:ea typeface="Lato"/>
                <a:cs typeface="Lato"/>
                <a:sym typeface="Lato"/>
              </a:rPr>
              <a:t>Evolution</a:t>
            </a:r>
            <a:endParaRPr sz="1300" u="sng">
              <a:solidFill>
                <a:schemeClr val="lt1"/>
              </a:solidFill>
              <a:latin typeface="Lato"/>
              <a:ea typeface="Lato"/>
              <a:cs typeface="Lato"/>
              <a:sym typeface="Lato"/>
            </a:endParaRPr>
          </a:p>
          <a:p>
            <a:pPr indent="0" lvl="0" marL="0" rtl="0" algn="l">
              <a:spcBef>
                <a:spcPts val="0"/>
              </a:spcBef>
              <a:spcAft>
                <a:spcPts val="0"/>
              </a:spcAft>
              <a:buNone/>
            </a:pPr>
            <a:r>
              <a:t/>
            </a:r>
            <a:endParaRPr sz="1300" u="sng">
              <a:solidFill>
                <a:schemeClr val="lt1"/>
              </a:solidFill>
              <a:latin typeface="Lato"/>
              <a:ea typeface="Lato"/>
              <a:cs typeface="Lato"/>
              <a:sym typeface="Lato"/>
            </a:endParaRPr>
          </a:p>
          <a:p>
            <a:pPr indent="0" lvl="0" marL="0" rtl="0" algn="l">
              <a:spcBef>
                <a:spcPts val="0"/>
              </a:spcBef>
              <a:spcAft>
                <a:spcPts val="0"/>
              </a:spcAft>
              <a:buNone/>
            </a:pPr>
            <a:r>
              <a:rPr lang="fr" sz="1300">
                <a:solidFill>
                  <a:schemeClr val="lt1"/>
                </a:solidFill>
                <a:latin typeface="Lato"/>
                <a:ea typeface="Lato"/>
                <a:cs typeface="Lato"/>
                <a:sym typeface="Lato"/>
              </a:rPr>
              <a:t>Partenariat avec les </a:t>
            </a:r>
            <a:r>
              <a:rPr lang="fr" sz="1300">
                <a:solidFill>
                  <a:schemeClr val="lt1"/>
                </a:solidFill>
                <a:latin typeface="Lato"/>
                <a:ea typeface="Lato"/>
                <a:cs typeface="Lato"/>
                <a:sym typeface="Lato"/>
              </a:rPr>
              <a:t>fédérations</a:t>
            </a:r>
            <a:endParaRPr sz="1300">
              <a:solidFill>
                <a:schemeClr val="lt1"/>
              </a:solidFill>
              <a:latin typeface="Lato"/>
              <a:ea typeface="Lato"/>
              <a:cs typeface="Lato"/>
              <a:sym typeface="Lato"/>
            </a:endParaRPr>
          </a:p>
          <a:p>
            <a:pPr indent="0" lvl="0" marL="0" rtl="0" algn="l">
              <a:spcBef>
                <a:spcPts val="0"/>
              </a:spcBef>
              <a:spcAft>
                <a:spcPts val="0"/>
              </a:spcAft>
              <a:buNone/>
            </a:pPr>
            <a:r>
              <a:rPr lang="fr" sz="1300">
                <a:solidFill>
                  <a:schemeClr val="lt1"/>
                </a:solidFill>
                <a:latin typeface="Lato"/>
                <a:ea typeface="Lato"/>
                <a:cs typeface="Lato"/>
                <a:sym typeface="Lato"/>
              </a:rPr>
              <a:t>Partenariat avec les terrains privés</a:t>
            </a:r>
            <a:endParaRPr sz="1300">
              <a:solidFill>
                <a:schemeClr val="lt1"/>
              </a:solidFill>
              <a:latin typeface="Lato"/>
              <a:ea typeface="Lato"/>
              <a:cs typeface="Lato"/>
              <a:sym typeface="Lato"/>
            </a:endParaRPr>
          </a:p>
          <a:p>
            <a:pPr indent="0" lvl="0" marL="0" rtl="0" algn="l">
              <a:spcBef>
                <a:spcPts val="0"/>
              </a:spcBef>
              <a:spcAft>
                <a:spcPts val="0"/>
              </a:spcAft>
              <a:buNone/>
            </a:pPr>
            <a:r>
              <a:rPr lang="fr" sz="1300">
                <a:solidFill>
                  <a:schemeClr val="lt1"/>
                </a:solidFill>
                <a:latin typeface="Lato"/>
                <a:ea typeface="Lato"/>
                <a:cs typeface="Lato"/>
                <a:sym typeface="Lato"/>
              </a:rPr>
              <a:t>Ouvrir à d’autres pays dans le temps ou dès le début ? </a:t>
            </a:r>
            <a:endParaRPr sz="1300">
              <a:solidFill>
                <a:schemeClr val="lt1"/>
              </a:solidFill>
              <a:latin typeface="Lato"/>
              <a:ea typeface="Lato"/>
              <a:cs typeface="Lato"/>
              <a:sym typeface="Lato"/>
            </a:endParaRPr>
          </a:p>
          <a:p>
            <a:pPr indent="0" lvl="0" marL="0" rtl="0" algn="l">
              <a:spcBef>
                <a:spcPts val="0"/>
              </a:spcBef>
              <a:spcAft>
                <a:spcPts val="0"/>
              </a:spcAft>
              <a:buNone/>
            </a:pPr>
            <a:r>
              <a:rPr lang="fr" sz="1300">
                <a:solidFill>
                  <a:schemeClr val="lt1"/>
                </a:solidFill>
                <a:latin typeface="Lato"/>
                <a:ea typeface="Lato"/>
                <a:cs typeface="Lato"/>
                <a:sym typeface="Lato"/>
              </a:rPr>
              <a:t>=&gt; France et Espagne en même temps ? réseaux d’Etienne en Espagne…</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0"/>
          <p:cNvSpPr txBox="1"/>
          <p:nvPr>
            <p:ph type="title"/>
          </p:nvPr>
        </p:nvSpPr>
        <p:spPr>
          <a:xfrm>
            <a:off x="140475" y="139300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clubs sportifs</a:t>
            </a:r>
            <a:endParaRPr/>
          </a:p>
        </p:txBody>
      </p:sp>
      <p:sp>
        <p:nvSpPr>
          <p:cNvPr id="259" name="Google Shape;259;p30"/>
          <p:cNvSpPr txBox="1"/>
          <p:nvPr>
            <p:ph idx="1" type="body"/>
          </p:nvPr>
        </p:nvSpPr>
        <p:spPr>
          <a:xfrm>
            <a:off x="140475" y="2050950"/>
            <a:ext cx="4216200" cy="2108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fr" u="sng"/>
              <a:t>Football</a:t>
            </a:r>
            <a:endParaRPr u="sng"/>
          </a:p>
          <a:p>
            <a:pPr indent="0" lvl="0" marL="0" rtl="0" algn="l">
              <a:spcBef>
                <a:spcPts val="1200"/>
              </a:spcBef>
              <a:spcAft>
                <a:spcPts val="0"/>
              </a:spcAft>
              <a:buNone/>
            </a:pPr>
            <a:r>
              <a:rPr lang="fr"/>
              <a:t>12000 clubs</a:t>
            </a:r>
            <a:endParaRPr/>
          </a:p>
          <a:p>
            <a:pPr indent="0" lvl="0" marL="0" rtl="0" algn="l">
              <a:spcBef>
                <a:spcPts val="1200"/>
              </a:spcBef>
              <a:spcAft>
                <a:spcPts val="0"/>
              </a:spcAft>
              <a:buNone/>
            </a:pPr>
            <a:r>
              <a:rPr lang="fr"/>
              <a:t>10% (1 club sur 10) abonné à Gym</a:t>
            </a:r>
            <a:endParaRPr/>
          </a:p>
          <a:p>
            <a:pPr indent="0" lvl="0" marL="0" rtl="0" algn="l">
              <a:spcBef>
                <a:spcPts val="1200"/>
              </a:spcBef>
              <a:spcAft>
                <a:spcPts val="0"/>
              </a:spcAft>
              <a:buNone/>
            </a:pPr>
            <a:r>
              <a:rPr lang="fr"/>
              <a:t>1200 club à 10€ / mois</a:t>
            </a:r>
            <a:endParaRPr/>
          </a:p>
          <a:p>
            <a:pPr indent="0" lvl="0" marL="0" rtl="0" algn="l">
              <a:spcBef>
                <a:spcPts val="1200"/>
              </a:spcBef>
              <a:spcAft>
                <a:spcPts val="0"/>
              </a:spcAft>
              <a:buNone/>
            </a:pPr>
            <a:r>
              <a:rPr b="1" lang="fr"/>
              <a:t>12000€ / mois</a:t>
            </a:r>
            <a:r>
              <a:rPr lang="fr"/>
              <a:t> + 10% de chaque cours (5% par club + 5% par sportif)</a:t>
            </a:r>
            <a:endParaRPr/>
          </a:p>
          <a:p>
            <a:pPr indent="0" lvl="0" marL="0" rtl="0" algn="l">
              <a:spcBef>
                <a:spcPts val="1200"/>
              </a:spcBef>
              <a:spcAft>
                <a:spcPts val="1200"/>
              </a:spcAft>
              <a:buNone/>
            </a:pPr>
            <a:r>
              <a:t/>
            </a:r>
            <a:endParaRPr/>
          </a:p>
        </p:txBody>
      </p:sp>
      <p:sp>
        <p:nvSpPr>
          <p:cNvPr id="260" name="Google Shape;260;p30"/>
          <p:cNvSpPr txBox="1"/>
          <p:nvPr>
            <p:ph type="title"/>
          </p:nvPr>
        </p:nvSpPr>
        <p:spPr>
          <a:xfrm>
            <a:off x="327950" y="71267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Business plan</a:t>
            </a:r>
            <a:endParaRPr/>
          </a:p>
        </p:txBody>
      </p:sp>
      <p:pic>
        <p:nvPicPr>
          <p:cNvPr id="261" name="Google Shape;261;p30"/>
          <p:cNvPicPr preferRelativeResize="0"/>
          <p:nvPr/>
        </p:nvPicPr>
        <p:blipFill>
          <a:blip r:embed="rId3">
            <a:alphaModFix/>
          </a:blip>
          <a:stretch>
            <a:fillRect/>
          </a:stretch>
        </p:blipFill>
        <p:spPr>
          <a:xfrm>
            <a:off x="7063000" y="194475"/>
            <a:ext cx="1905000" cy="790575"/>
          </a:xfrm>
          <a:prstGeom prst="rect">
            <a:avLst/>
          </a:prstGeom>
          <a:noFill/>
          <a:ln>
            <a:noFill/>
          </a:ln>
        </p:spPr>
      </p:pic>
      <p:sp>
        <p:nvSpPr>
          <p:cNvPr id="262" name="Google Shape;262;p30"/>
          <p:cNvSpPr txBox="1"/>
          <p:nvPr/>
        </p:nvSpPr>
        <p:spPr>
          <a:xfrm>
            <a:off x="5082500" y="2002300"/>
            <a:ext cx="3826500" cy="313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300" u="sng">
                <a:solidFill>
                  <a:schemeClr val="lt1"/>
                </a:solidFill>
                <a:latin typeface="Lato"/>
                <a:ea typeface="Lato"/>
                <a:cs typeface="Lato"/>
                <a:sym typeface="Lato"/>
              </a:rPr>
              <a:t>Basketball</a:t>
            </a:r>
            <a:endParaRPr sz="1300" u="sng">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fr" sz="1300">
                <a:solidFill>
                  <a:schemeClr val="lt1"/>
                </a:solidFill>
                <a:latin typeface="Lato"/>
                <a:ea typeface="Lato"/>
                <a:cs typeface="Lato"/>
                <a:sym typeface="Lato"/>
              </a:rPr>
              <a:t>3900</a:t>
            </a:r>
            <a:r>
              <a:rPr lang="fr" sz="1300">
                <a:solidFill>
                  <a:schemeClr val="lt1"/>
                </a:solidFill>
                <a:latin typeface="Lato"/>
                <a:ea typeface="Lato"/>
                <a:cs typeface="Lato"/>
                <a:sym typeface="Lato"/>
              </a:rPr>
              <a:t> clubs</a:t>
            </a:r>
            <a:endParaRPr sz="13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lang="fr" sz="1300">
                <a:solidFill>
                  <a:schemeClr val="lt1"/>
                </a:solidFill>
                <a:latin typeface="Lato"/>
                <a:ea typeface="Lato"/>
                <a:cs typeface="Lato"/>
                <a:sym typeface="Lato"/>
              </a:rPr>
              <a:t>10% (1 club sur 10) abonné à Gym</a:t>
            </a:r>
            <a:endParaRPr sz="13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lang="fr" sz="1300">
                <a:solidFill>
                  <a:schemeClr val="lt1"/>
                </a:solidFill>
                <a:latin typeface="Lato"/>
                <a:ea typeface="Lato"/>
                <a:cs typeface="Lato"/>
                <a:sym typeface="Lato"/>
              </a:rPr>
              <a:t>390 club à 10€ / mois</a:t>
            </a:r>
            <a:endParaRPr sz="13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b="1" lang="fr" sz="1300">
                <a:solidFill>
                  <a:schemeClr val="lt1"/>
                </a:solidFill>
                <a:latin typeface="Lato"/>
                <a:ea typeface="Lato"/>
                <a:cs typeface="Lato"/>
                <a:sym typeface="Lato"/>
              </a:rPr>
              <a:t>3900€ / mois</a:t>
            </a:r>
            <a:r>
              <a:rPr lang="fr" sz="1300">
                <a:solidFill>
                  <a:schemeClr val="lt1"/>
                </a:solidFill>
                <a:latin typeface="Lato"/>
                <a:ea typeface="Lato"/>
                <a:cs typeface="Lato"/>
                <a:sym typeface="Lato"/>
              </a:rPr>
              <a:t> + 10% de chaque cours (5% par club + 5% par sportif)</a:t>
            </a:r>
            <a:endParaRPr sz="1300">
              <a:solidFill>
                <a:schemeClr val="lt1"/>
              </a:solidFill>
              <a:latin typeface="Lato"/>
              <a:ea typeface="Lato"/>
              <a:cs typeface="Lato"/>
              <a:sym typeface="Lato"/>
            </a:endParaRPr>
          </a:p>
          <a:p>
            <a:pPr indent="0" lvl="0" marL="0" rtl="0" algn="l">
              <a:lnSpc>
                <a:spcPct val="115000"/>
              </a:lnSpc>
              <a:spcBef>
                <a:spcPts val="1200"/>
              </a:spcBef>
              <a:spcAft>
                <a:spcPts val="0"/>
              </a:spcAft>
              <a:buNone/>
            </a:pPr>
            <a:r>
              <a:t/>
            </a:r>
            <a:endParaRPr sz="1300">
              <a:solidFill>
                <a:schemeClr val="lt1"/>
              </a:solidFill>
              <a:latin typeface="Lato"/>
              <a:ea typeface="Lato"/>
              <a:cs typeface="Lato"/>
              <a:sym typeface="Lato"/>
            </a:endParaRPr>
          </a:p>
          <a:p>
            <a:pPr indent="0" lvl="0" marL="0" rtl="0" algn="l">
              <a:spcBef>
                <a:spcPts val="1200"/>
              </a:spcBef>
              <a:spcAft>
                <a:spcPts val="0"/>
              </a:spcAft>
              <a:buNone/>
            </a:pPr>
            <a:r>
              <a:t/>
            </a:r>
            <a:endParaRPr sz="1300" u="sng">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1"/>
          <p:cNvSpPr txBox="1"/>
          <p:nvPr>
            <p:ph type="title"/>
          </p:nvPr>
        </p:nvSpPr>
        <p:spPr>
          <a:xfrm>
            <a:off x="140475" y="139300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clubs sportifs</a:t>
            </a:r>
            <a:endParaRPr/>
          </a:p>
        </p:txBody>
      </p:sp>
      <p:sp>
        <p:nvSpPr>
          <p:cNvPr id="268" name="Google Shape;268;p31"/>
          <p:cNvSpPr txBox="1"/>
          <p:nvPr>
            <p:ph idx="1" type="body"/>
          </p:nvPr>
        </p:nvSpPr>
        <p:spPr>
          <a:xfrm>
            <a:off x="140475" y="2050950"/>
            <a:ext cx="4216200" cy="2108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fr" u="sng"/>
              <a:t>Hand</a:t>
            </a:r>
            <a:r>
              <a:rPr lang="fr" u="sng"/>
              <a:t>ball</a:t>
            </a:r>
            <a:endParaRPr u="sng"/>
          </a:p>
          <a:p>
            <a:pPr indent="0" lvl="0" marL="0" rtl="0" algn="l">
              <a:spcBef>
                <a:spcPts val="1200"/>
              </a:spcBef>
              <a:spcAft>
                <a:spcPts val="0"/>
              </a:spcAft>
              <a:buNone/>
            </a:pPr>
            <a:r>
              <a:rPr lang="fr"/>
              <a:t>2300</a:t>
            </a:r>
            <a:r>
              <a:rPr lang="fr"/>
              <a:t> clubs</a:t>
            </a:r>
            <a:endParaRPr/>
          </a:p>
          <a:p>
            <a:pPr indent="0" lvl="0" marL="0" rtl="0" algn="l">
              <a:spcBef>
                <a:spcPts val="1200"/>
              </a:spcBef>
              <a:spcAft>
                <a:spcPts val="0"/>
              </a:spcAft>
              <a:buNone/>
            </a:pPr>
            <a:r>
              <a:rPr lang="fr"/>
              <a:t>10% (1 club sur 10) abonné à Gym</a:t>
            </a:r>
            <a:endParaRPr/>
          </a:p>
          <a:p>
            <a:pPr indent="0" lvl="0" marL="0" rtl="0" algn="l">
              <a:spcBef>
                <a:spcPts val="1200"/>
              </a:spcBef>
              <a:spcAft>
                <a:spcPts val="0"/>
              </a:spcAft>
              <a:buNone/>
            </a:pPr>
            <a:r>
              <a:rPr lang="fr"/>
              <a:t>230 club à 10€ / mois</a:t>
            </a:r>
            <a:endParaRPr/>
          </a:p>
          <a:p>
            <a:pPr indent="0" lvl="0" marL="0" rtl="0" algn="l">
              <a:spcBef>
                <a:spcPts val="1200"/>
              </a:spcBef>
              <a:spcAft>
                <a:spcPts val="0"/>
              </a:spcAft>
              <a:buNone/>
            </a:pPr>
            <a:r>
              <a:rPr b="1" lang="fr"/>
              <a:t>2300</a:t>
            </a:r>
            <a:r>
              <a:rPr b="1" lang="fr"/>
              <a:t>€ / mois</a:t>
            </a:r>
            <a:r>
              <a:rPr lang="fr"/>
              <a:t> + 10% de chaque cours (5% par club + 5% par sportif)</a:t>
            </a:r>
            <a:endParaRPr/>
          </a:p>
          <a:p>
            <a:pPr indent="0" lvl="0" marL="0" rtl="0" algn="l">
              <a:spcBef>
                <a:spcPts val="1200"/>
              </a:spcBef>
              <a:spcAft>
                <a:spcPts val="1200"/>
              </a:spcAft>
              <a:buNone/>
            </a:pPr>
            <a:r>
              <a:t/>
            </a:r>
            <a:endParaRPr/>
          </a:p>
        </p:txBody>
      </p:sp>
      <p:sp>
        <p:nvSpPr>
          <p:cNvPr id="269" name="Google Shape;269;p31"/>
          <p:cNvSpPr txBox="1"/>
          <p:nvPr>
            <p:ph type="title"/>
          </p:nvPr>
        </p:nvSpPr>
        <p:spPr>
          <a:xfrm>
            <a:off x="327950" y="71267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Business plan</a:t>
            </a:r>
            <a:endParaRPr/>
          </a:p>
        </p:txBody>
      </p:sp>
      <p:pic>
        <p:nvPicPr>
          <p:cNvPr id="270" name="Google Shape;270;p31"/>
          <p:cNvPicPr preferRelativeResize="0"/>
          <p:nvPr/>
        </p:nvPicPr>
        <p:blipFill>
          <a:blip r:embed="rId3">
            <a:alphaModFix/>
          </a:blip>
          <a:stretch>
            <a:fillRect/>
          </a:stretch>
        </p:blipFill>
        <p:spPr>
          <a:xfrm>
            <a:off x="7063000" y="194475"/>
            <a:ext cx="1905000" cy="790575"/>
          </a:xfrm>
          <a:prstGeom prst="rect">
            <a:avLst/>
          </a:prstGeom>
          <a:noFill/>
          <a:ln>
            <a:noFill/>
          </a:ln>
        </p:spPr>
      </p:pic>
      <p:sp>
        <p:nvSpPr>
          <p:cNvPr id="271" name="Google Shape;271;p31"/>
          <p:cNvSpPr txBox="1"/>
          <p:nvPr/>
        </p:nvSpPr>
        <p:spPr>
          <a:xfrm>
            <a:off x="5082500" y="2002300"/>
            <a:ext cx="3826500" cy="313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300" u="sng">
                <a:solidFill>
                  <a:schemeClr val="lt1"/>
                </a:solidFill>
                <a:latin typeface="Lato"/>
                <a:ea typeface="Lato"/>
                <a:cs typeface="Lato"/>
                <a:sym typeface="Lato"/>
              </a:rPr>
              <a:t>Voley</a:t>
            </a:r>
            <a:r>
              <a:rPr lang="fr" sz="1300" u="sng">
                <a:solidFill>
                  <a:schemeClr val="lt1"/>
                </a:solidFill>
                <a:latin typeface="Lato"/>
                <a:ea typeface="Lato"/>
                <a:cs typeface="Lato"/>
                <a:sym typeface="Lato"/>
              </a:rPr>
              <a:t>ball</a:t>
            </a:r>
            <a:endParaRPr sz="1300" u="sng">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fr" sz="1300">
                <a:solidFill>
                  <a:schemeClr val="lt1"/>
                </a:solidFill>
                <a:latin typeface="Lato"/>
                <a:ea typeface="Lato"/>
                <a:cs typeface="Lato"/>
                <a:sym typeface="Lato"/>
              </a:rPr>
              <a:t>1300</a:t>
            </a:r>
            <a:r>
              <a:rPr lang="fr" sz="1300">
                <a:solidFill>
                  <a:schemeClr val="lt1"/>
                </a:solidFill>
                <a:latin typeface="Lato"/>
                <a:ea typeface="Lato"/>
                <a:cs typeface="Lato"/>
                <a:sym typeface="Lato"/>
              </a:rPr>
              <a:t> clubs</a:t>
            </a:r>
            <a:endParaRPr sz="13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lang="fr" sz="1300">
                <a:solidFill>
                  <a:schemeClr val="lt1"/>
                </a:solidFill>
                <a:latin typeface="Lato"/>
                <a:ea typeface="Lato"/>
                <a:cs typeface="Lato"/>
                <a:sym typeface="Lato"/>
              </a:rPr>
              <a:t>10% (1 club sur 10) abonné à Gym</a:t>
            </a:r>
            <a:endParaRPr sz="13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lang="fr" sz="1300">
                <a:solidFill>
                  <a:schemeClr val="lt1"/>
                </a:solidFill>
                <a:latin typeface="Lato"/>
                <a:ea typeface="Lato"/>
                <a:cs typeface="Lato"/>
                <a:sym typeface="Lato"/>
              </a:rPr>
              <a:t>130 club à 10€ / mois</a:t>
            </a:r>
            <a:endParaRPr sz="13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b="1" lang="fr" sz="1300">
                <a:solidFill>
                  <a:schemeClr val="lt1"/>
                </a:solidFill>
                <a:latin typeface="Lato"/>
                <a:ea typeface="Lato"/>
                <a:cs typeface="Lato"/>
                <a:sym typeface="Lato"/>
              </a:rPr>
              <a:t>1300</a:t>
            </a:r>
            <a:r>
              <a:rPr b="1" lang="fr" sz="1300">
                <a:solidFill>
                  <a:schemeClr val="lt1"/>
                </a:solidFill>
                <a:latin typeface="Lato"/>
                <a:ea typeface="Lato"/>
                <a:cs typeface="Lato"/>
                <a:sym typeface="Lato"/>
              </a:rPr>
              <a:t>€ / mois</a:t>
            </a:r>
            <a:r>
              <a:rPr lang="fr" sz="1300">
                <a:solidFill>
                  <a:schemeClr val="lt1"/>
                </a:solidFill>
                <a:latin typeface="Lato"/>
                <a:ea typeface="Lato"/>
                <a:cs typeface="Lato"/>
                <a:sym typeface="Lato"/>
              </a:rPr>
              <a:t> + 10% de chaque cours (5% par club + 5% par sportif)</a:t>
            </a:r>
            <a:endParaRPr sz="1300">
              <a:solidFill>
                <a:schemeClr val="lt1"/>
              </a:solidFill>
              <a:latin typeface="Lato"/>
              <a:ea typeface="Lato"/>
              <a:cs typeface="Lato"/>
              <a:sym typeface="Lato"/>
            </a:endParaRPr>
          </a:p>
          <a:p>
            <a:pPr indent="0" lvl="0" marL="0" rtl="0" algn="l">
              <a:lnSpc>
                <a:spcPct val="115000"/>
              </a:lnSpc>
              <a:spcBef>
                <a:spcPts val="1200"/>
              </a:spcBef>
              <a:spcAft>
                <a:spcPts val="0"/>
              </a:spcAft>
              <a:buNone/>
            </a:pPr>
            <a:r>
              <a:t/>
            </a:r>
            <a:endParaRPr sz="1300">
              <a:solidFill>
                <a:schemeClr val="lt1"/>
              </a:solidFill>
              <a:latin typeface="Lato"/>
              <a:ea typeface="Lato"/>
              <a:cs typeface="Lato"/>
              <a:sym typeface="Lato"/>
            </a:endParaRPr>
          </a:p>
          <a:p>
            <a:pPr indent="0" lvl="0" marL="0" rtl="0" algn="l">
              <a:spcBef>
                <a:spcPts val="1200"/>
              </a:spcBef>
              <a:spcAft>
                <a:spcPts val="0"/>
              </a:spcAft>
              <a:buNone/>
            </a:pPr>
            <a:r>
              <a:t/>
            </a:r>
            <a:endParaRPr sz="1300" u="sng">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2"/>
          <p:cNvSpPr txBox="1"/>
          <p:nvPr>
            <p:ph type="title"/>
          </p:nvPr>
        </p:nvSpPr>
        <p:spPr>
          <a:xfrm>
            <a:off x="1123475" y="718350"/>
            <a:ext cx="6120000" cy="459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Business plan</a:t>
            </a:r>
            <a:endParaRPr/>
          </a:p>
        </p:txBody>
      </p:sp>
      <p:sp>
        <p:nvSpPr>
          <p:cNvPr id="277" name="Google Shape;277;p32"/>
          <p:cNvSpPr txBox="1"/>
          <p:nvPr>
            <p:ph idx="1" type="body"/>
          </p:nvPr>
        </p:nvSpPr>
        <p:spPr>
          <a:xfrm>
            <a:off x="214000" y="1444450"/>
            <a:ext cx="3003600" cy="337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800">
                <a:latin typeface="Montserrat"/>
                <a:ea typeface="Montserrat"/>
                <a:cs typeface="Montserrat"/>
                <a:sym typeface="Montserrat"/>
              </a:rPr>
              <a:t>Les clubs sportifs </a:t>
            </a:r>
            <a:endParaRPr sz="1800">
              <a:latin typeface="Montserrat"/>
              <a:ea typeface="Montserrat"/>
              <a:cs typeface="Montserrat"/>
              <a:sym typeface="Montserrat"/>
            </a:endParaRPr>
          </a:p>
          <a:p>
            <a:pPr indent="0" lvl="0" marL="0" rtl="0" algn="l">
              <a:spcBef>
                <a:spcPts val="1200"/>
              </a:spcBef>
              <a:spcAft>
                <a:spcPts val="0"/>
              </a:spcAft>
              <a:buNone/>
            </a:pPr>
            <a:r>
              <a:rPr lang="fr" u="sng"/>
              <a:t>Tennis - FFT (tennis/padel/beach tennis)</a:t>
            </a:r>
            <a:endParaRPr u="sng"/>
          </a:p>
          <a:p>
            <a:pPr indent="0" lvl="0" marL="0" rtl="0" algn="l">
              <a:spcBef>
                <a:spcPts val="1200"/>
              </a:spcBef>
              <a:spcAft>
                <a:spcPts val="0"/>
              </a:spcAft>
              <a:buNone/>
            </a:pPr>
            <a:r>
              <a:rPr b="1" lang="fr"/>
              <a:t>7000 clubs - 1 169 000 licenciés</a:t>
            </a:r>
            <a:r>
              <a:rPr lang="fr"/>
              <a:t> </a:t>
            </a:r>
            <a:endParaRPr/>
          </a:p>
          <a:p>
            <a:pPr indent="0" lvl="0" marL="0" rtl="0" algn="l">
              <a:spcBef>
                <a:spcPts val="1200"/>
              </a:spcBef>
              <a:spcAft>
                <a:spcPts val="0"/>
              </a:spcAft>
              <a:buNone/>
            </a:pPr>
            <a:r>
              <a:rPr lang="fr"/>
              <a:t>10% (1 club sur 10 abonnés à GYM</a:t>
            </a:r>
            <a:endParaRPr/>
          </a:p>
          <a:p>
            <a:pPr indent="0" lvl="0" marL="0" rtl="0" algn="l">
              <a:spcBef>
                <a:spcPts val="1200"/>
              </a:spcBef>
              <a:spcAft>
                <a:spcPts val="0"/>
              </a:spcAft>
              <a:buNone/>
            </a:pPr>
            <a:r>
              <a:rPr lang="fr"/>
              <a:t>700 clubs à 10€ / mois</a:t>
            </a:r>
            <a:endParaRPr/>
          </a:p>
          <a:p>
            <a:pPr indent="0" lvl="0" marL="0" rtl="0" algn="l">
              <a:spcBef>
                <a:spcPts val="1200"/>
              </a:spcBef>
              <a:spcAft>
                <a:spcPts val="0"/>
              </a:spcAft>
              <a:buNone/>
            </a:pPr>
            <a:r>
              <a:rPr b="1" lang="fr"/>
              <a:t>7000</a:t>
            </a:r>
            <a:r>
              <a:rPr b="1" lang="fr"/>
              <a:t>€ / mois</a:t>
            </a:r>
            <a:r>
              <a:rPr lang="fr"/>
              <a:t> + 10% de chaque cours (5% par club + 5% par sportif)</a:t>
            </a:r>
            <a:endParaRPr/>
          </a:p>
          <a:p>
            <a:pPr indent="0" lvl="0" marL="0" rtl="0" algn="l">
              <a:spcBef>
                <a:spcPts val="1200"/>
              </a:spcBef>
              <a:spcAft>
                <a:spcPts val="1200"/>
              </a:spcAft>
              <a:buNone/>
            </a:pPr>
            <a:r>
              <a:t/>
            </a:r>
            <a:endParaRPr/>
          </a:p>
        </p:txBody>
      </p:sp>
      <p:pic>
        <p:nvPicPr>
          <p:cNvPr id="278" name="Google Shape;278;p32"/>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3"/>
          <p:cNvSpPr txBox="1"/>
          <p:nvPr>
            <p:ph type="title"/>
          </p:nvPr>
        </p:nvSpPr>
        <p:spPr>
          <a:xfrm>
            <a:off x="1123475" y="718350"/>
            <a:ext cx="6120000" cy="459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Business plan</a:t>
            </a:r>
            <a:endParaRPr/>
          </a:p>
        </p:txBody>
      </p:sp>
      <p:sp>
        <p:nvSpPr>
          <p:cNvPr id="284" name="Google Shape;284;p33"/>
          <p:cNvSpPr txBox="1"/>
          <p:nvPr>
            <p:ph idx="1" type="body"/>
          </p:nvPr>
        </p:nvSpPr>
        <p:spPr>
          <a:xfrm>
            <a:off x="214000" y="1444450"/>
            <a:ext cx="7182600" cy="337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800">
                <a:latin typeface="Montserrat"/>
                <a:ea typeface="Montserrat"/>
                <a:cs typeface="Montserrat"/>
                <a:sym typeface="Montserrat"/>
              </a:rPr>
              <a:t>Les clubs sportifs </a:t>
            </a:r>
            <a:endParaRPr sz="1800">
              <a:latin typeface="Montserrat"/>
              <a:ea typeface="Montserrat"/>
              <a:cs typeface="Montserrat"/>
              <a:sym typeface="Montserrat"/>
            </a:endParaRPr>
          </a:p>
          <a:p>
            <a:pPr indent="0" lvl="0" marL="0" rtl="0" algn="l">
              <a:spcBef>
                <a:spcPts val="1200"/>
              </a:spcBef>
              <a:spcAft>
                <a:spcPts val="0"/>
              </a:spcAft>
              <a:buNone/>
            </a:pPr>
            <a:r>
              <a:t/>
            </a:r>
            <a:endParaRPr sz="1800">
              <a:latin typeface="Montserrat"/>
              <a:ea typeface="Montserrat"/>
              <a:cs typeface="Montserrat"/>
              <a:sym typeface="Montserrat"/>
            </a:endParaRPr>
          </a:p>
          <a:p>
            <a:pPr indent="0" lvl="0" marL="0" rtl="0" algn="l">
              <a:spcBef>
                <a:spcPts val="1200"/>
              </a:spcBef>
              <a:spcAft>
                <a:spcPts val="0"/>
              </a:spcAft>
              <a:buNone/>
            </a:pPr>
            <a:r>
              <a:rPr lang="fr" sz="1800">
                <a:latin typeface="Montserrat"/>
                <a:ea typeface="Montserrat"/>
                <a:cs typeface="Montserrat"/>
                <a:sym typeface="Montserrat"/>
              </a:rPr>
              <a:t>10 % des clubs de Football, Basketball, Handball, Volleyball et Tennis </a:t>
            </a:r>
            <a:r>
              <a:rPr lang="fr" sz="1800">
                <a:latin typeface="Montserrat"/>
                <a:ea typeface="Montserrat"/>
                <a:cs typeface="Montserrat"/>
                <a:sym typeface="Montserrat"/>
              </a:rPr>
              <a:t>présenterai</a:t>
            </a:r>
            <a:r>
              <a:rPr lang="fr" sz="1800">
                <a:latin typeface="Montserrat"/>
                <a:ea typeface="Montserrat"/>
                <a:cs typeface="Montserrat"/>
                <a:sym typeface="Montserrat"/>
              </a:rPr>
              <a:t> en Chiffres </a:t>
            </a:r>
            <a:r>
              <a:rPr lang="fr" sz="1800">
                <a:latin typeface="Montserrat"/>
                <a:ea typeface="Montserrat"/>
                <a:cs typeface="Montserrat"/>
                <a:sym typeface="Montserrat"/>
              </a:rPr>
              <a:t>d'Affaire</a:t>
            </a:r>
            <a:r>
              <a:rPr lang="fr" sz="1800">
                <a:latin typeface="Montserrat"/>
                <a:ea typeface="Montserrat"/>
                <a:cs typeface="Montserrat"/>
                <a:sym typeface="Montserrat"/>
              </a:rPr>
              <a:t> de </a:t>
            </a:r>
            <a:endParaRPr sz="1800">
              <a:latin typeface="Montserrat"/>
              <a:ea typeface="Montserrat"/>
              <a:cs typeface="Montserrat"/>
              <a:sym typeface="Montserrat"/>
            </a:endParaRPr>
          </a:p>
          <a:p>
            <a:pPr indent="0" lvl="0" marL="0" rtl="0" algn="l">
              <a:spcBef>
                <a:spcPts val="1200"/>
              </a:spcBef>
              <a:spcAft>
                <a:spcPts val="0"/>
              </a:spcAft>
              <a:buNone/>
            </a:pPr>
            <a:r>
              <a:rPr b="1" lang="fr" sz="1800">
                <a:latin typeface="Montserrat"/>
                <a:ea typeface="Montserrat"/>
                <a:cs typeface="Montserrat"/>
                <a:sym typeface="Montserrat"/>
              </a:rPr>
              <a:t>26 000 € </a:t>
            </a:r>
            <a:r>
              <a:rPr lang="fr" sz="1800">
                <a:latin typeface="Montserrat"/>
                <a:ea typeface="Montserrat"/>
                <a:cs typeface="Montserrat"/>
                <a:sym typeface="Montserrat"/>
              </a:rPr>
              <a:t>/ mois + pourcentage sur chaque cours</a:t>
            </a:r>
            <a:endParaRPr sz="1800">
              <a:latin typeface="Montserrat"/>
              <a:ea typeface="Montserrat"/>
              <a:cs typeface="Montserrat"/>
              <a:sym typeface="Montserrat"/>
            </a:endParaRPr>
          </a:p>
          <a:p>
            <a:pPr indent="0" lvl="0" marL="0" rtl="0" algn="l">
              <a:spcBef>
                <a:spcPts val="1200"/>
              </a:spcBef>
              <a:spcAft>
                <a:spcPts val="0"/>
              </a:spcAft>
              <a:buNone/>
            </a:pPr>
            <a:r>
              <a:t/>
            </a:r>
            <a:endParaRPr sz="1800">
              <a:latin typeface="Montserrat"/>
              <a:ea typeface="Montserrat"/>
              <a:cs typeface="Montserrat"/>
              <a:sym typeface="Montserrat"/>
            </a:endParaRPr>
          </a:p>
          <a:p>
            <a:pPr indent="0" lvl="0" marL="0" rtl="0" algn="l">
              <a:spcBef>
                <a:spcPts val="1200"/>
              </a:spcBef>
              <a:spcAft>
                <a:spcPts val="1200"/>
              </a:spcAft>
              <a:buNone/>
            </a:pPr>
            <a:r>
              <a:t/>
            </a:r>
            <a:endParaRPr/>
          </a:p>
        </p:txBody>
      </p:sp>
      <p:pic>
        <p:nvPicPr>
          <p:cNvPr id="285" name="Google Shape;285;p33"/>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L’application</a:t>
            </a:r>
            <a:endParaRPr/>
          </a:p>
        </p:txBody>
      </p:sp>
      <p:sp>
        <p:nvSpPr>
          <p:cNvPr id="291" name="Google Shape;291;p34"/>
          <p:cNvSpPr txBox="1"/>
          <p:nvPr>
            <p:ph idx="1" type="body"/>
          </p:nvPr>
        </p:nvSpPr>
        <p:spPr>
          <a:xfrm>
            <a:off x="729450" y="2078875"/>
            <a:ext cx="4140300" cy="22611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fr"/>
              <a:t>Doit être intuitive</a:t>
            </a:r>
            <a:endParaRPr/>
          </a:p>
          <a:p>
            <a:pPr indent="-311150" lvl="0" marL="457200" rtl="0" algn="l">
              <a:spcBef>
                <a:spcPts val="0"/>
              </a:spcBef>
              <a:spcAft>
                <a:spcPts val="0"/>
              </a:spcAft>
              <a:buSzPts val="1300"/>
              <a:buChar char="●"/>
            </a:pPr>
            <a:r>
              <a:rPr lang="fr"/>
              <a:t>Doit être </a:t>
            </a:r>
            <a:r>
              <a:rPr lang="fr"/>
              <a:t>évolutive</a:t>
            </a:r>
            <a:endParaRPr/>
          </a:p>
          <a:p>
            <a:pPr indent="-311150" lvl="0" marL="457200" rtl="0" algn="l">
              <a:spcBef>
                <a:spcPts val="0"/>
              </a:spcBef>
              <a:spcAft>
                <a:spcPts val="0"/>
              </a:spcAft>
              <a:buSzPts val="1300"/>
              <a:buChar char="●"/>
            </a:pPr>
            <a:r>
              <a:rPr lang="fr"/>
              <a:t>Système de géolocalisation</a:t>
            </a:r>
            <a:endParaRPr/>
          </a:p>
          <a:p>
            <a:pPr indent="-311150" lvl="0" marL="457200" rtl="0" algn="l">
              <a:spcBef>
                <a:spcPts val="0"/>
              </a:spcBef>
              <a:spcAft>
                <a:spcPts val="0"/>
              </a:spcAft>
              <a:buSzPts val="1300"/>
              <a:buChar char="●"/>
            </a:pPr>
            <a:r>
              <a:rPr lang="fr"/>
              <a:t>Calendrier - Planning</a:t>
            </a:r>
            <a:endParaRPr/>
          </a:p>
          <a:p>
            <a:pPr indent="-311150" lvl="0" marL="457200" rtl="0" algn="l">
              <a:spcBef>
                <a:spcPts val="0"/>
              </a:spcBef>
              <a:spcAft>
                <a:spcPts val="0"/>
              </a:spcAft>
              <a:buSzPts val="1300"/>
              <a:buChar char="●"/>
            </a:pPr>
            <a:r>
              <a:rPr lang="fr"/>
              <a:t>Système de paiement en ligne sécurisé</a:t>
            </a:r>
            <a:endParaRPr/>
          </a:p>
          <a:p>
            <a:pPr indent="-311150" lvl="0" marL="457200" rtl="0" algn="l">
              <a:spcBef>
                <a:spcPts val="0"/>
              </a:spcBef>
              <a:spcAft>
                <a:spcPts val="0"/>
              </a:spcAft>
              <a:buSzPts val="1300"/>
              <a:buChar char="●"/>
            </a:pPr>
            <a:r>
              <a:rPr lang="fr"/>
              <a:t>Reversement</a:t>
            </a:r>
            <a:r>
              <a:rPr lang="fr"/>
              <a:t> ?</a:t>
            </a:r>
            <a:endParaRPr/>
          </a:p>
          <a:p>
            <a:pPr indent="-311150" lvl="0" marL="457200" rtl="0" algn="l">
              <a:spcBef>
                <a:spcPts val="0"/>
              </a:spcBef>
              <a:spcAft>
                <a:spcPts val="0"/>
              </a:spcAft>
              <a:buSzPts val="1300"/>
              <a:buChar char="●"/>
            </a:pPr>
            <a:r>
              <a:rPr lang="fr"/>
              <a:t>Création d’un logo</a:t>
            </a:r>
            <a:endParaRPr/>
          </a:p>
          <a:p>
            <a:pPr indent="-311150" lvl="0" marL="457200" rtl="0" algn="l">
              <a:spcBef>
                <a:spcPts val="0"/>
              </a:spcBef>
              <a:spcAft>
                <a:spcPts val="0"/>
              </a:spcAft>
              <a:buSzPts val="1300"/>
              <a:buChar char="●"/>
            </a:pPr>
            <a:r>
              <a:rPr lang="fr"/>
              <a:t>6 langues :</a:t>
            </a:r>
            <a:endParaRPr/>
          </a:p>
          <a:p>
            <a:pPr indent="0" lvl="0" marL="457200" rtl="0" algn="l">
              <a:spcBef>
                <a:spcPts val="1200"/>
              </a:spcBef>
              <a:spcAft>
                <a:spcPts val="1200"/>
              </a:spcAft>
              <a:buNone/>
            </a:pPr>
            <a:r>
              <a:rPr lang="fr"/>
              <a:t>=&gt; Anglais, français, espagnol, portuguais, italien, chinois ?</a:t>
            </a:r>
            <a:endParaRPr/>
          </a:p>
        </p:txBody>
      </p:sp>
      <p:sp>
        <p:nvSpPr>
          <p:cNvPr id="292" name="Google Shape;292;p34"/>
          <p:cNvSpPr txBox="1"/>
          <p:nvPr/>
        </p:nvSpPr>
        <p:spPr>
          <a:xfrm>
            <a:off x="5538000" y="2146475"/>
            <a:ext cx="3624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100" u="sng">
                <a:solidFill>
                  <a:schemeClr val="hlink"/>
                </a:solidFill>
                <a:hlinkClick r:id="rId3"/>
              </a:rPr>
              <a:t>Gymlib : Recherche</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pic>
        <p:nvPicPr>
          <p:cNvPr id="293" name="Google Shape;293;p34"/>
          <p:cNvPicPr preferRelativeResize="0"/>
          <p:nvPr/>
        </p:nvPicPr>
        <p:blipFill>
          <a:blip r:embed="rId4">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5"/>
          <p:cNvSpPr txBox="1"/>
          <p:nvPr>
            <p:ph idx="1" type="body"/>
          </p:nvPr>
        </p:nvSpPr>
        <p:spPr>
          <a:xfrm>
            <a:off x="545350" y="959050"/>
            <a:ext cx="8534100" cy="5352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457200" rtl="0" algn="l">
              <a:spcBef>
                <a:spcPts val="0"/>
              </a:spcBef>
              <a:spcAft>
                <a:spcPts val="1200"/>
              </a:spcAft>
              <a:buNone/>
            </a:pPr>
            <a:r>
              <a:rPr lang="fr"/>
              <a:t>=&gt; Quel budget ?       =&gt;Réseaux </a:t>
            </a:r>
            <a:r>
              <a:rPr lang="fr"/>
              <a:t>sociaux	=&gt; </a:t>
            </a:r>
            <a:r>
              <a:rPr lang="fr"/>
              <a:t>Notre réseaux	=&gt; Média sportif spé	=&gt; Les clubs	</a:t>
            </a:r>
            <a:endParaRPr/>
          </a:p>
        </p:txBody>
      </p:sp>
      <p:sp>
        <p:nvSpPr>
          <p:cNvPr id="299" name="Google Shape;299;p35"/>
          <p:cNvSpPr txBox="1"/>
          <p:nvPr/>
        </p:nvSpPr>
        <p:spPr>
          <a:xfrm>
            <a:off x="53200" y="1341675"/>
            <a:ext cx="2227200" cy="3047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fr" sz="1200">
                <a:solidFill>
                  <a:schemeClr val="accent1"/>
                </a:solidFill>
                <a:latin typeface="Lato"/>
                <a:ea typeface="Lato"/>
                <a:cs typeface="Lato"/>
                <a:sym typeface="Lato"/>
              </a:rPr>
              <a:t>Basket</a:t>
            </a:r>
            <a:endParaRPr b="1" sz="1200">
              <a:solidFill>
                <a:schemeClr val="accent1"/>
              </a:solidFill>
              <a:latin typeface="Lato"/>
              <a:ea typeface="Lato"/>
              <a:cs typeface="Lato"/>
              <a:sym typeface="Lato"/>
            </a:endParaRPr>
          </a:p>
          <a:p>
            <a:pPr indent="0" lvl="0" marL="0" rtl="0" algn="l">
              <a:spcBef>
                <a:spcPts val="0"/>
              </a:spcBef>
              <a:spcAft>
                <a:spcPts val="0"/>
              </a:spcAft>
              <a:buNone/>
            </a:pPr>
            <a:r>
              <a:rPr lang="fr" sz="1200" u="sng">
                <a:solidFill>
                  <a:schemeClr val="accent1"/>
                </a:solidFill>
                <a:latin typeface="Lato"/>
                <a:ea typeface="Lato"/>
                <a:cs typeface="Lato"/>
                <a:sym typeface="Lato"/>
              </a:rPr>
              <a:t>“Influenceur” </a:t>
            </a:r>
            <a:r>
              <a:rPr lang="fr" sz="1200" u="sng">
                <a:solidFill>
                  <a:schemeClr val="accent1"/>
                </a:solidFill>
                <a:latin typeface="Lato"/>
                <a:ea typeface="Lato"/>
                <a:cs typeface="Lato"/>
                <a:sym typeface="Lato"/>
              </a:rPr>
              <a:t>réseaux</a:t>
            </a:r>
            <a:r>
              <a:rPr lang="fr" sz="1200" u="sng">
                <a:solidFill>
                  <a:schemeClr val="accent1"/>
                </a:solidFill>
                <a:latin typeface="Lato"/>
                <a:ea typeface="Lato"/>
                <a:cs typeface="Lato"/>
                <a:sym typeface="Lato"/>
              </a:rPr>
              <a:t> sociaux :</a:t>
            </a:r>
            <a:endParaRPr sz="1200" u="sng">
              <a:solidFill>
                <a:schemeClr val="accent1"/>
              </a:solidFill>
              <a:latin typeface="Lato"/>
              <a:ea typeface="Lato"/>
              <a:cs typeface="Lato"/>
              <a:sym typeface="Lato"/>
            </a:endParaRPr>
          </a:p>
          <a:p>
            <a:pPr indent="0" lvl="0" marL="0" rtl="0" algn="l">
              <a:spcBef>
                <a:spcPts val="0"/>
              </a:spcBef>
              <a:spcAft>
                <a:spcPts val="0"/>
              </a:spcAft>
              <a:buNone/>
            </a:pPr>
            <a:r>
              <a:rPr lang="fr" sz="1100" u="sng">
                <a:solidFill>
                  <a:schemeClr val="hlink"/>
                </a:solidFill>
                <a:hlinkClick r:id="rId3"/>
              </a:rPr>
              <a:t>Découvrez le top des influenceurs Basketball sur Instagram - Findly</a:t>
            </a:r>
            <a:endParaRPr sz="1200">
              <a:solidFill>
                <a:schemeClr val="accent1"/>
              </a:solidFill>
              <a:latin typeface="Lato"/>
              <a:ea typeface="Lato"/>
              <a:cs typeface="Lato"/>
              <a:sym typeface="Lato"/>
            </a:endParaRPr>
          </a:p>
          <a:p>
            <a:pPr indent="0" lvl="0" marL="0" rtl="0" algn="l">
              <a:spcBef>
                <a:spcPts val="0"/>
              </a:spcBef>
              <a:spcAft>
                <a:spcPts val="0"/>
              </a:spcAft>
              <a:buNone/>
            </a:pPr>
            <a:r>
              <a:t/>
            </a:r>
            <a:endParaRPr sz="1200">
              <a:solidFill>
                <a:schemeClr val="accent1"/>
              </a:solidFill>
              <a:latin typeface="Lato"/>
              <a:ea typeface="Lato"/>
              <a:cs typeface="Lato"/>
              <a:sym typeface="Lato"/>
            </a:endParaRPr>
          </a:p>
          <a:p>
            <a:pPr indent="0" lvl="0" marL="0" rtl="0" algn="l">
              <a:spcBef>
                <a:spcPts val="0"/>
              </a:spcBef>
              <a:spcAft>
                <a:spcPts val="0"/>
              </a:spcAft>
              <a:buNone/>
            </a:pPr>
            <a:r>
              <a:rPr lang="fr" sz="1100" u="sng">
                <a:solidFill>
                  <a:schemeClr val="hlink"/>
                </a:solidFill>
                <a:hlinkClick r:id="rId4"/>
              </a:rPr>
              <a:t>Meilleurs influenceurs Basketball sur Instagram en 2024 (hypeauditor.com)</a:t>
            </a:r>
            <a:endParaRPr sz="1200">
              <a:solidFill>
                <a:schemeClr val="accent1"/>
              </a:solidFill>
              <a:latin typeface="Lato"/>
              <a:ea typeface="Lato"/>
              <a:cs typeface="Lato"/>
              <a:sym typeface="Lato"/>
            </a:endParaRPr>
          </a:p>
          <a:p>
            <a:pPr indent="0" lvl="0" marL="0" rtl="0" algn="l">
              <a:spcBef>
                <a:spcPts val="0"/>
              </a:spcBef>
              <a:spcAft>
                <a:spcPts val="0"/>
              </a:spcAft>
              <a:buNone/>
            </a:pPr>
            <a:r>
              <a:t/>
            </a:r>
            <a:endParaRPr sz="1200">
              <a:solidFill>
                <a:schemeClr val="accent1"/>
              </a:solidFill>
              <a:latin typeface="Lato"/>
              <a:ea typeface="Lato"/>
              <a:cs typeface="Lato"/>
              <a:sym typeface="Lato"/>
            </a:endParaRPr>
          </a:p>
          <a:p>
            <a:pPr indent="0" lvl="0" marL="0" rtl="0" algn="l">
              <a:spcBef>
                <a:spcPts val="0"/>
              </a:spcBef>
              <a:spcAft>
                <a:spcPts val="0"/>
              </a:spcAft>
              <a:buNone/>
            </a:pPr>
            <a:r>
              <a:rPr lang="fr" sz="1200" u="sng">
                <a:solidFill>
                  <a:schemeClr val="accent1"/>
                </a:solidFill>
                <a:latin typeface="Lato"/>
                <a:ea typeface="Lato"/>
                <a:cs typeface="Lato"/>
                <a:sym typeface="Lato"/>
              </a:rPr>
              <a:t>Média :</a:t>
            </a:r>
            <a:endParaRPr sz="1200" u="sng">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Bebasket</a:t>
            </a:r>
            <a:endParaRPr sz="1200">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Basketinforum</a:t>
            </a:r>
            <a:endParaRPr sz="1200">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Au rebond</a:t>
            </a:r>
            <a:endParaRPr sz="1200">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NBA Extra</a:t>
            </a:r>
            <a:endParaRPr sz="1200">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Basket USA</a:t>
            </a:r>
            <a:endParaRPr sz="1200">
              <a:solidFill>
                <a:schemeClr val="accent1"/>
              </a:solidFill>
              <a:latin typeface="Lato"/>
              <a:ea typeface="Lato"/>
              <a:cs typeface="Lato"/>
              <a:sym typeface="Lato"/>
            </a:endParaRPr>
          </a:p>
        </p:txBody>
      </p:sp>
      <p:sp>
        <p:nvSpPr>
          <p:cNvPr id="300" name="Google Shape;300;p35"/>
          <p:cNvSpPr txBox="1"/>
          <p:nvPr/>
        </p:nvSpPr>
        <p:spPr>
          <a:xfrm>
            <a:off x="2280400" y="1327875"/>
            <a:ext cx="2450100" cy="3207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fr" sz="1200">
                <a:solidFill>
                  <a:schemeClr val="accent1"/>
                </a:solidFill>
                <a:latin typeface="Lato"/>
                <a:ea typeface="Lato"/>
                <a:cs typeface="Lato"/>
                <a:sym typeface="Lato"/>
              </a:rPr>
              <a:t>Football</a:t>
            </a:r>
            <a:endParaRPr b="1" sz="1200">
              <a:solidFill>
                <a:schemeClr val="accent1"/>
              </a:solidFill>
              <a:latin typeface="Lato"/>
              <a:ea typeface="Lato"/>
              <a:cs typeface="Lato"/>
              <a:sym typeface="Lato"/>
            </a:endParaRPr>
          </a:p>
          <a:p>
            <a:pPr indent="0" lvl="0" marL="0" rtl="0" algn="l">
              <a:spcBef>
                <a:spcPts val="0"/>
              </a:spcBef>
              <a:spcAft>
                <a:spcPts val="0"/>
              </a:spcAft>
              <a:buNone/>
            </a:pPr>
            <a:r>
              <a:rPr lang="fr" sz="1200" u="sng">
                <a:solidFill>
                  <a:schemeClr val="accent1"/>
                </a:solidFill>
                <a:latin typeface="Lato"/>
                <a:ea typeface="Lato"/>
                <a:cs typeface="Lato"/>
                <a:sym typeface="Lato"/>
              </a:rPr>
              <a:t>“Influenceur” réseaux sociaux :</a:t>
            </a:r>
            <a:endParaRPr sz="1200" u="sng">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Sabri parisien ou rien 165K</a:t>
            </a:r>
            <a:endParaRPr sz="1200">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Momo Henni 1,8M</a:t>
            </a:r>
            <a:endParaRPr sz="1200">
              <a:solidFill>
                <a:schemeClr val="accent1"/>
              </a:solidFill>
              <a:latin typeface="Lato"/>
              <a:ea typeface="Lato"/>
              <a:cs typeface="Lato"/>
              <a:sym typeface="Lato"/>
            </a:endParaRPr>
          </a:p>
          <a:p>
            <a:pPr indent="0" lvl="0" marL="0" rtl="0" algn="l">
              <a:lnSpc>
                <a:spcPct val="140000"/>
              </a:lnSpc>
              <a:spcBef>
                <a:spcPts val="0"/>
              </a:spcBef>
              <a:spcAft>
                <a:spcPts val="0"/>
              </a:spcAft>
              <a:buNone/>
            </a:pPr>
            <a:r>
              <a:rPr lang="fr" sz="1200">
                <a:highlight>
                  <a:srgbClr val="FFFFFF"/>
                </a:highlight>
                <a:latin typeface="Lato"/>
                <a:ea typeface="Lato"/>
                <a:cs typeface="Lato"/>
                <a:sym typeface="Lato"/>
              </a:rPr>
              <a:t>seanfreestyle 6,2M</a:t>
            </a:r>
            <a:endParaRPr sz="1200">
              <a:highlight>
                <a:srgbClr val="FFFFFF"/>
              </a:highlight>
              <a:latin typeface="Lato"/>
              <a:ea typeface="Lato"/>
              <a:cs typeface="Lato"/>
              <a:sym typeface="Lato"/>
            </a:endParaRPr>
          </a:p>
          <a:p>
            <a:pPr indent="0" lvl="0" marL="0" rtl="0" algn="l">
              <a:lnSpc>
                <a:spcPct val="140000"/>
              </a:lnSpc>
              <a:spcBef>
                <a:spcPts val="0"/>
              </a:spcBef>
              <a:spcAft>
                <a:spcPts val="0"/>
              </a:spcAft>
              <a:buNone/>
            </a:pPr>
            <a:r>
              <a:rPr lang="fr" sz="1200">
                <a:solidFill>
                  <a:schemeClr val="hlink"/>
                </a:solidFill>
                <a:highlight>
                  <a:srgbClr val="FFFFFF"/>
                </a:highlight>
                <a:uFill>
                  <a:noFill/>
                </a:uFill>
                <a:hlinkClick r:id="rId5"/>
              </a:rPr>
              <a:t>VINSKY  360°</a:t>
            </a:r>
            <a:r>
              <a:rPr lang="fr" sz="1200">
                <a:solidFill>
                  <a:schemeClr val="hlink"/>
                </a:solidFill>
                <a:highlight>
                  <a:srgbClr val="FFFFFF"/>
                </a:highlight>
              </a:rPr>
              <a:t> 241K</a:t>
            </a:r>
            <a:endParaRPr sz="1200">
              <a:solidFill>
                <a:schemeClr val="hlink"/>
              </a:solidFill>
              <a:highlight>
                <a:srgbClr val="FFFFFF"/>
              </a:highlight>
            </a:endParaRPr>
          </a:p>
          <a:p>
            <a:pPr indent="0" lvl="0" marL="0" rtl="0" algn="l">
              <a:lnSpc>
                <a:spcPct val="140000"/>
              </a:lnSpc>
              <a:spcBef>
                <a:spcPts val="0"/>
              </a:spcBef>
              <a:spcAft>
                <a:spcPts val="0"/>
              </a:spcAft>
              <a:buNone/>
            </a:pPr>
            <a:r>
              <a:rPr lang="fr" sz="1100" u="sng">
                <a:solidFill>
                  <a:schemeClr val="hlink"/>
                </a:solidFill>
                <a:hlinkClick r:id="rId6"/>
              </a:rPr>
              <a:t>Top des Influenceurs Foot (2024) (woo.paris)</a:t>
            </a:r>
            <a:endParaRPr sz="1200">
              <a:solidFill>
                <a:schemeClr val="hlink"/>
              </a:solidFill>
              <a:highlight>
                <a:srgbClr val="FFFFFF"/>
              </a:highlight>
            </a:endParaRPr>
          </a:p>
          <a:p>
            <a:pPr indent="0" lvl="0" marL="0" rtl="0" algn="l">
              <a:spcBef>
                <a:spcPts val="0"/>
              </a:spcBef>
              <a:spcAft>
                <a:spcPts val="0"/>
              </a:spcAft>
              <a:buNone/>
            </a:pPr>
            <a:r>
              <a:t/>
            </a:r>
            <a:endParaRPr sz="1200">
              <a:solidFill>
                <a:schemeClr val="accent1"/>
              </a:solidFill>
              <a:latin typeface="Lato"/>
              <a:ea typeface="Lato"/>
              <a:cs typeface="Lato"/>
              <a:sym typeface="Lato"/>
            </a:endParaRPr>
          </a:p>
          <a:p>
            <a:pPr indent="0" lvl="0" marL="0" rtl="0" algn="l">
              <a:spcBef>
                <a:spcPts val="0"/>
              </a:spcBef>
              <a:spcAft>
                <a:spcPts val="0"/>
              </a:spcAft>
              <a:buNone/>
            </a:pPr>
            <a:r>
              <a:rPr lang="fr" sz="1200" u="sng">
                <a:solidFill>
                  <a:schemeClr val="accent1"/>
                </a:solidFill>
                <a:latin typeface="Lato"/>
                <a:ea typeface="Lato"/>
                <a:cs typeface="Lato"/>
                <a:sym typeface="Lato"/>
              </a:rPr>
              <a:t>Média :</a:t>
            </a:r>
            <a:endParaRPr sz="1200" u="sng">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Footmercato</a:t>
            </a:r>
            <a:endParaRPr sz="1200">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Maxifoot</a:t>
            </a:r>
            <a:endParaRPr sz="1200">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Francefootball</a:t>
            </a:r>
            <a:endParaRPr sz="1200">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foot01</a:t>
            </a:r>
            <a:endParaRPr sz="1200">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ACTUFOOT</a:t>
            </a:r>
            <a:endParaRPr sz="1200">
              <a:solidFill>
                <a:schemeClr val="accent1"/>
              </a:solidFill>
              <a:latin typeface="Lato"/>
              <a:ea typeface="Lato"/>
              <a:cs typeface="Lato"/>
              <a:sym typeface="Lato"/>
            </a:endParaRPr>
          </a:p>
        </p:txBody>
      </p:sp>
      <p:sp>
        <p:nvSpPr>
          <p:cNvPr id="301" name="Google Shape;301;p35"/>
          <p:cNvSpPr txBox="1"/>
          <p:nvPr/>
        </p:nvSpPr>
        <p:spPr>
          <a:xfrm>
            <a:off x="4730500" y="1328625"/>
            <a:ext cx="2227200" cy="3021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fr" sz="1200">
                <a:solidFill>
                  <a:schemeClr val="accent1"/>
                </a:solidFill>
                <a:latin typeface="Lato"/>
                <a:ea typeface="Lato"/>
                <a:cs typeface="Lato"/>
                <a:sym typeface="Lato"/>
              </a:rPr>
              <a:t>Prépa physique</a:t>
            </a:r>
            <a:endParaRPr b="1" sz="1200">
              <a:solidFill>
                <a:schemeClr val="accent1"/>
              </a:solidFill>
              <a:latin typeface="Lato"/>
              <a:ea typeface="Lato"/>
              <a:cs typeface="Lato"/>
              <a:sym typeface="Lato"/>
            </a:endParaRPr>
          </a:p>
          <a:p>
            <a:pPr indent="0" lvl="0" marL="0" rtl="0" algn="l">
              <a:spcBef>
                <a:spcPts val="0"/>
              </a:spcBef>
              <a:spcAft>
                <a:spcPts val="0"/>
              </a:spcAft>
              <a:buNone/>
            </a:pPr>
            <a:r>
              <a:rPr lang="fr" sz="1200" u="sng">
                <a:solidFill>
                  <a:schemeClr val="accent1"/>
                </a:solidFill>
                <a:latin typeface="Lato"/>
                <a:ea typeface="Lato"/>
                <a:cs typeface="Lato"/>
                <a:sym typeface="Lato"/>
              </a:rPr>
              <a:t>“Influenceur” réseaux sociaux :</a:t>
            </a:r>
            <a:endParaRPr sz="1200" u="sng">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jujufitcats 3,3M</a:t>
            </a:r>
            <a:endParaRPr sz="1200">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aline_dessine 635K</a:t>
            </a:r>
            <a:endParaRPr sz="1200">
              <a:solidFill>
                <a:schemeClr val="accent1"/>
              </a:solidFill>
              <a:latin typeface="Lato"/>
              <a:ea typeface="Lato"/>
              <a:cs typeface="Lato"/>
              <a:sym typeface="Lato"/>
            </a:endParaRPr>
          </a:p>
          <a:p>
            <a:pPr indent="0" lvl="0" marL="0" rtl="0" algn="l">
              <a:spcBef>
                <a:spcPts val="0"/>
              </a:spcBef>
              <a:spcAft>
                <a:spcPts val="0"/>
              </a:spcAft>
              <a:buNone/>
            </a:pPr>
            <a:r>
              <a:rPr b="1" lang="fr" sz="1150">
                <a:solidFill>
                  <a:srgbClr val="434C5D"/>
                </a:solidFill>
                <a:highlight>
                  <a:srgbClr val="FFFFFF"/>
                </a:highlight>
                <a:uFill>
                  <a:noFill/>
                </a:uFill>
                <a:hlinkClick r:id="rId7">
                  <a:extLst>
                    <a:ext uri="{A12FA001-AC4F-418D-AE19-62706E023703}">
                      <ahyp:hlinkClr val="tx"/>
                    </a:ext>
                  </a:extLst>
                </a:hlinkClick>
              </a:rPr>
              <a:t>alexia_mori__ 801K</a:t>
            </a:r>
            <a:endParaRPr b="1" sz="1150">
              <a:solidFill>
                <a:srgbClr val="434C5D"/>
              </a:solidFill>
              <a:highlight>
                <a:srgbClr val="FFFFFF"/>
              </a:highlight>
              <a:uFill>
                <a:noFill/>
              </a:uFill>
              <a:hlinkClick r:id="rId8">
                <a:extLst>
                  <a:ext uri="{A12FA001-AC4F-418D-AE19-62706E023703}">
                    <ahyp:hlinkClr val="tx"/>
                  </a:ext>
                </a:extLst>
              </a:hlinkClick>
            </a:endParaRPr>
          </a:p>
          <a:p>
            <a:pPr indent="0" lvl="0" marL="0" rtl="0" algn="l">
              <a:spcBef>
                <a:spcPts val="0"/>
              </a:spcBef>
              <a:spcAft>
                <a:spcPts val="0"/>
              </a:spcAft>
              <a:buNone/>
            </a:pPr>
            <a:r>
              <a:rPr b="1" lang="fr" sz="1150">
                <a:solidFill>
                  <a:srgbClr val="434C5D"/>
                </a:solidFill>
                <a:highlight>
                  <a:srgbClr val="FFFFFF"/>
                </a:highlight>
                <a:uFill>
                  <a:noFill/>
                </a:uFill>
                <a:hlinkClick r:id="rId9">
                  <a:extLst>
                    <a:ext uri="{A12FA001-AC4F-418D-AE19-62706E023703}">
                      <ahyp:hlinkClr val="tx"/>
                    </a:ext>
                  </a:extLst>
                </a:hlinkClick>
              </a:rPr>
              <a:t>coach_david007</a:t>
            </a:r>
            <a:r>
              <a:rPr lang="fr" sz="1200">
                <a:solidFill>
                  <a:schemeClr val="accent1"/>
                </a:solidFill>
                <a:latin typeface="Lato"/>
                <a:ea typeface="Lato"/>
                <a:cs typeface="Lato"/>
                <a:sym typeface="Lato"/>
              </a:rPr>
              <a:t> 288K</a:t>
            </a:r>
            <a:endParaRPr sz="1200">
              <a:solidFill>
                <a:schemeClr val="accent1"/>
              </a:solidFill>
              <a:latin typeface="Lato"/>
              <a:ea typeface="Lato"/>
              <a:cs typeface="Lato"/>
              <a:sym typeface="Lato"/>
            </a:endParaRPr>
          </a:p>
          <a:p>
            <a:pPr indent="0" lvl="0" marL="0" rtl="0" algn="l">
              <a:spcBef>
                <a:spcPts val="0"/>
              </a:spcBef>
              <a:spcAft>
                <a:spcPts val="0"/>
              </a:spcAft>
              <a:buNone/>
            </a:pPr>
            <a:r>
              <a:rPr b="1" lang="fr" sz="1200">
                <a:solidFill>
                  <a:schemeClr val="hlink"/>
                </a:solidFill>
                <a:highlight>
                  <a:srgbClr val="FFFFFF"/>
                </a:highlight>
                <a:uFill>
                  <a:noFill/>
                </a:uFill>
                <a:hlinkClick r:id="rId10"/>
              </a:rPr>
              <a:t>nassim.sahili</a:t>
            </a:r>
            <a:r>
              <a:rPr lang="fr" sz="1200">
                <a:solidFill>
                  <a:schemeClr val="accent1"/>
                </a:solidFill>
                <a:latin typeface="Lato"/>
                <a:ea typeface="Lato"/>
                <a:cs typeface="Lato"/>
                <a:sym typeface="Lato"/>
              </a:rPr>
              <a:t> 420K</a:t>
            </a:r>
            <a:endParaRPr sz="1200">
              <a:solidFill>
                <a:schemeClr val="accent1"/>
              </a:solidFill>
              <a:latin typeface="Lato"/>
              <a:ea typeface="Lato"/>
              <a:cs typeface="Lato"/>
              <a:sym typeface="Lato"/>
            </a:endParaRPr>
          </a:p>
          <a:p>
            <a:pPr indent="0" lvl="0" marL="0" rtl="0" algn="l">
              <a:spcBef>
                <a:spcPts val="0"/>
              </a:spcBef>
              <a:spcAft>
                <a:spcPts val="0"/>
              </a:spcAft>
              <a:buNone/>
            </a:pPr>
            <a:r>
              <a:rPr b="1" lang="fr" sz="1150">
                <a:solidFill>
                  <a:srgbClr val="434C5D"/>
                </a:solidFill>
                <a:highlight>
                  <a:srgbClr val="FFFFFF"/>
                </a:highlight>
                <a:uFill>
                  <a:noFill/>
                </a:uFill>
                <a:hlinkClick r:id="rId11">
                  <a:extLst>
                    <a:ext uri="{A12FA001-AC4F-418D-AE19-62706E023703}">
                      <ahyp:hlinkClr val="tx"/>
                    </a:ext>
                  </a:extLst>
                </a:hlinkClick>
              </a:rPr>
              <a:t>cleoppatre</a:t>
            </a:r>
            <a:r>
              <a:rPr lang="fr" sz="1200">
                <a:solidFill>
                  <a:schemeClr val="accent1"/>
                </a:solidFill>
                <a:latin typeface="Lato"/>
                <a:ea typeface="Lato"/>
                <a:cs typeface="Lato"/>
                <a:sym typeface="Lato"/>
              </a:rPr>
              <a:t> 344K</a:t>
            </a:r>
            <a:endParaRPr sz="1200">
              <a:solidFill>
                <a:schemeClr val="accent1"/>
              </a:solidFill>
              <a:latin typeface="Lato"/>
              <a:ea typeface="Lato"/>
              <a:cs typeface="Lato"/>
              <a:sym typeface="Lato"/>
            </a:endParaRPr>
          </a:p>
          <a:p>
            <a:pPr indent="0" lvl="0" marL="0" rtl="0" algn="l">
              <a:spcBef>
                <a:spcPts val="0"/>
              </a:spcBef>
              <a:spcAft>
                <a:spcPts val="0"/>
              </a:spcAft>
              <a:buNone/>
            </a:pPr>
            <a:r>
              <a:rPr b="1" lang="fr" sz="1150">
                <a:solidFill>
                  <a:srgbClr val="434C5D"/>
                </a:solidFill>
                <a:highlight>
                  <a:srgbClr val="FFFFFF"/>
                </a:highlight>
                <a:uFill>
                  <a:noFill/>
                </a:uFill>
                <a:hlinkClick r:id="rId12">
                  <a:extLst>
                    <a:ext uri="{A12FA001-AC4F-418D-AE19-62706E023703}">
                      <ahyp:hlinkClr val="tx"/>
                    </a:ext>
                  </a:extLst>
                </a:hlinkClick>
              </a:rPr>
              <a:t>alain_rocben</a:t>
            </a:r>
            <a:r>
              <a:rPr lang="fr" sz="1200">
                <a:solidFill>
                  <a:schemeClr val="accent1"/>
                </a:solidFill>
                <a:latin typeface="Lato"/>
                <a:ea typeface="Lato"/>
                <a:cs typeface="Lato"/>
                <a:sym typeface="Lato"/>
              </a:rPr>
              <a:t> 377K</a:t>
            </a:r>
            <a:endParaRPr sz="1200">
              <a:solidFill>
                <a:schemeClr val="accent1"/>
              </a:solidFill>
              <a:latin typeface="Lato"/>
              <a:ea typeface="Lato"/>
              <a:cs typeface="Lato"/>
              <a:sym typeface="Lato"/>
            </a:endParaRPr>
          </a:p>
          <a:p>
            <a:pPr indent="0" lvl="0" marL="0" rtl="0" algn="l">
              <a:lnSpc>
                <a:spcPct val="140000"/>
              </a:lnSpc>
              <a:spcBef>
                <a:spcPts val="0"/>
              </a:spcBef>
              <a:spcAft>
                <a:spcPts val="0"/>
              </a:spcAft>
              <a:buNone/>
            </a:pPr>
            <a:r>
              <a:rPr lang="fr" sz="1200">
                <a:highlight>
                  <a:srgbClr val="FFFFFF"/>
                </a:highlight>
                <a:latin typeface="Lato"/>
                <a:ea typeface="Lato"/>
                <a:cs typeface="Lato"/>
                <a:sym typeface="Lato"/>
              </a:rPr>
              <a:t>soniatlevfitness 1,9M</a:t>
            </a:r>
            <a:endParaRPr sz="1200">
              <a:highlight>
                <a:srgbClr val="FFFFFF"/>
              </a:highlight>
              <a:latin typeface="Lato"/>
              <a:ea typeface="Lato"/>
              <a:cs typeface="Lato"/>
              <a:sym typeface="Lato"/>
            </a:endParaRPr>
          </a:p>
          <a:p>
            <a:pPr indent="0" lvl="0" marL="0" rtl="0" algn="l">
              <a:spcBef>
                <a:spcPts val="0"/>
              </a:spcBef>
              <a:spcAft>
                <a:spcPts val="0"/>
              </a:spcAft>
              <a:buNone/>
            </a:pPr>
            <a:r>
              <a:t/>
            </a:r>
            <a:endParaRPr sz="1200">
              <a:solidFill>
                <a:schemeClr val="accent1"/>
              </a:solidFill>
              <a:latin typeface="Lato"/>
              <a:ea typeface="Lato"/>
              <a:cs typeface="Lato"/>
              <a:sym typeface="Lato"/>
            </a:endParaRPr>
          </a:p>
          <a:p>
            <a:pPr indent="0" lvl="0" marL="0" rtl="0" algn="l">
              <a:spcBef>
                <a:spcPts val="0"/>
              </a:spcBef>
              <a:spcAft>
                <a:spcPts val="0"/>
              </a:spcAft>
              <a:buNone/>
            </a:pPr>
            <a:r>
              <a:t/>
            </a:r>
            <a:endParaRPr sz="1200">
              <a:solidFill>
                <a:schemeClr val="accent1"/>
              </a:solidFill>
              <a:latin typeface="Lato"/>
              <a:ea typeface="Lato"/>
              <a:cs typeface="Lato"/>
              <a:sym typeface="Lato"/>
            </a:endParaRPr>
          </a:p>
          <a:p>
            <a:pPr indent="0" lvl="0" marL="0" rtl="0" algn="l">
              <a:spcBef>
                <a:spcPts val="0"/>
              </a:spcBef>
              <a:spcAft>
                <a:spcPts val="0"/>
              </a:spcAft>
              <a:buNone/>
            </a:pPr>
            <a:r>
              <a:rPr lang="fr" sz="1200" u="sng">
                <a:solidFill>
                  <a:schemeClr val="accent1"/>
                </a:solidFill>
                <a:latin typeface="Lato"/>
                <a:ea typeface="Lato"/>
                <a:cs typeface="Lato"/>
                <a:sym typeface="Lato"/>
              </a:rPr>
              <a:t>Média :</a:t>
            </a:r>
            <a:endParaRPr sz="1200" u="sng">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Body-burn</a:t>
            </a:r>
            <a:endParaRPr sz="1200">
              <a:solidFill>
                <a:schemeClr val="accent1"/>
              </a:solidFill>
              <a:latin typeface="Lato"/>
              <a:ea typeface="Lato"/>
              <a:cs typeface="Lato"/>
              <a:sym typeface="Lato"/>
            </a:endParaRPr>
          </a:p>
          <a:p>
            <a:pPr indent="0" lvl="0" marL="0" rtl="0" algn="l">
              <a:spcBef>
                <a:spcPts val="0"/>
              </a:spcBef>
              <a:spcAft>
                <a:spcPts val="0"/>
              </a:spcAft>
              <a:buNone/>
            </a:pPr>
            <a:r>
              <a:t/>
            </a:r>
            <a:endParaRPr sz="1200">
              <a:solidFill>
                <a:schemeClr val="accent1"/>
              </a:solidFill>
              <a:latin typeface="Lato"/>
              <a:ea typeface="Lato"/>
              <a:cs typeface="Lato"/>
              <a:sym typeface="Lato"/>
            </a:endParaRPr>
          </a:p>
        </p:txBody>
      </p:sp>
      <p:sp>
        <p:nvSpPr>
          <p:cNvPr id="302" name="Google Shape;302;p35"/>
          <p:cNvSpPr txBox="1"/>
          <p:nvPr/>
        </p:nvSpPr>
        <p:spPr>
          <a:xfrm>
            <a:off x="6892325" y="1820475"/>
            <a:ext cx="2227200" cy="1970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fr" sz="1200">
                <a:solidFill>
                  <a:schemeClr val="accent1"/>
                </a:solidFill>
                <a:latin typeface="Lato"/>
                <a:ea typeface="Lato"/>
                <a:cs typeface="Lato"/>
                <a:sym typeface="Lato"/>
              </a:rPr>
              <a:t>Sport de combat</a:t>
            </a:r>
            <a:endParaRPr b="1" sz="1200">
              <a:solidFill>
                <a:schemeClr val="accent1"/>
              </a:solidFill>
              <a:latin typeface="Lato"/>
              <a:ea typeface="Lato"/>
              <a:cs typeface="Lato"/>
              <a:sym typeface="Lato"/>
            </a:endParaRPr>
          </a:p>
          <a:p>
            <a:pPr indent="0" lvl="0" marL="0" rtl="0" algn="l">
              <a:spcBef>
                <a:spcPts val="0"/>
              </a:spcBef>
              <a:spcAft>
                <a:spcPts val="0"/>
              </a:spcAft>
              <a:buNone/>
            </a:pPr>
            <a:r>
              <a:rPr lang="fr" sz="1200" u="sng">
                <a:solidFill>
                  <a:schemeClr val="accent1"/>
                </a:solidFill>
                <a:latin typeface="Lato"/>
                <a:ea typeface="Lato"/>
                <a:cs typeface="Lato"/>
                <a:sym typeface="Lato"/>
              </a:rPr>
              <a:t>“Influenceur” réseaux sociaux :</a:t>
            </a:r>
            <a:endParaRPr sz="1200" u="sng">
              <a:solidFill>
                <a:schemeClr val="accent1"/>
              </a:solidFill>
              <a:latin typeface="Lato"/>
              <a:ea typeface="Lato"/>
              <a:cs typeface="Lato"/>
              <a:sym typeface="Lato"/>
            </a:endParaRPr>
          </a:p>
          <a:p>
            <a:pPr indent="0" lvl="0" marL="0" rtl="0" algn="l">
              <a:spcBef>
                <a:spcPts val="0"/>
              </a:spcBef>
              <a:spcAft>
                <a:spcPts val="0"/>
              </a:spcAft>
              <a:buNone/>
            </a:pPr>
            <a:r>
              <a:rPr lang="fr" sz="1100" u="sng">
                <a:solidFill>
                  <a:schemeClr val="hlink"/>
                </a:solidFill>
                <a:hlinkClick r:id="rId13"/>
              </a:rPr>
              <a:t>Classement et Liste Influenceurs français connus, Annuaire influenceurs réseaux sociaux - Very important People !</a:t>
            </a:r>
            <a:endParaRPr sz="1200">
              <a:highlight>
                <a:srgbClr val="FFFFFF"/>
              </a:highlight>
              <a:latin typeface="Lato"/>
              <a:ea typeface="Lato"/>
              <a:cs typeface="Lato"/>
              <a:sym typeface="Lato"/>
            </a:endParaRPr>
          </a:p>
          <a:p>
            <a:pPr indent="0" lvl="0" marL="0" rtl="0" algn="l">
              <a:spcBef>
                <a:spcPts val="0"/>
              </a:spcBef>
              <a:spcAft>
                <a:spcPts val="0"/>
              </a:spcAft>
              <a:buNone/>
            </a:pPr>
            <a:r>
              <a:t/>
            </a:r>
            <a:endParaRPr sz="1200">
              <a:solidFill>
                <a:schemeClr val="accent1"/>
              </a:solidFill>
              <a:latin typeface="Lato"/>
              <a:ea typeface="Lato"/>
              <a:cs typeface="Lato"/>
              <a:sym typeface="Lato"/>
            </a:endParaRPr>
          </a:p>
          <a:p>
            <a:pPr indent="0" lvl="0" marL="0" rtl="0" algn="l">
              <a:spcBef>
                <a:spcPts val="0"/>
              </a:spcBef>
              <a:spcAft>
                <a:spcPts val="0"/>
              </a:spcAft>
              <a:buNone/>
            </a:pPr>
            <a:r>
              <a:t/>
            </a:r>
            <a:endParaRPr sz="1200">
              <a:solidFill>
                <a:schemeClr val="accent1"/>
              </a:solidFill>
              <a:latin typeface="Lato"/>
              <a:ea typeface="Lato"/>
              <a:cs typeface="Lato"/>
              <a:sym typeface="Lato"/>
            </a:endParaRPr>
          </a:p>
          <a:p>
            <a:pPr indent="0" lvl="0" marL="0" rtl="0" algn="l">
              <a:spcBef>
                <a:spcPts val="0"/>
              </a:spcBef>
              <a:spcAft>
                <a:spcPts val="0"/>
              </a:spcAft>
              <a:buNone/>
            </a:pPr>
            <a:r>
              <a:rPr lang="fr" sz="1200" u="sng">
                <a:solidFill>
                  <a:schemeClr val="accent1"/>
                </a:solidFill>
                <a:latin typeface="Lato"/>
                <a:ea typeface="Lato"/>
                <a:cs typeface="Lato"/>
                <a:sym typeface="Lato"/>
              </a:rPr>
              <a:t>Média :</a:t>
            </a:r>
            <a:endParaRPr sz="1200" u="sng">
              <a:solidFill>
                <a:schemeClr val="accent1"/>
              </a:solidFill>
              <a:latin typeface="Lato"/>
              <a:ea typeface="Lato"/>
              <a:cs typeface="Lato"/>
              <a:sym typeface="Lato"/>
            </a:endParaRPr>
          </a:p>
          <a:p>
            <a:pPr indent="0" lvl="0" marL="0" rtl="0" algn="l">
              <a:spcBef>
                <a:spcPts val="0"/>
              </a:spcBef>
              <a:spcAft>
                <a:spcPts val="0"/>
              </a:spcAft>
              <a:buNone/>
            </a:pPr>
            <a:r>
              <a:rPr lang="fr" sz="1200">
                <a:solidFill>
                  <a:schemeClr val="accent1"/>
                </a:solidFill>
                <a:latin typeface="Lato"/>
                <a:ea typeface="Lato"/>
                <a:cs typeface="Lato"/>
                <a:sym typeface="Lato"/>
              </a:rPr>
              <a:t>Absalonmma</a:t>
            </a:r>
            <a:endParaRPr sz="1200">
              <a:solidFill>
                <a:schemeClr val="accent1"/>
              </a:solidFill>
              <a:latin typeface="Lato"/>
              <a:ea typeface="Lato"/>
              <a:cs typeface="Lato"/>
              <a:sym typeface="Lato"/>
            </a:endParaRPr>
          </a:p>
        </p:txBody>
      </p:sp>
      <p:sp>
        <p:nvSpPr>
          <p:cNvPr id="303" name="Google Shape;303;p35"/>
          <p:cNvSpPr txBox="1"/>
          <p:nvPr>
            <p:ph type="title"/>
          </p:nvPr>
        </p:nvSpPr>
        <p:spPr>
          <a:xfrm>
            <a:off x="0" y="-52950"/>
            <a:ext cx="91440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Communication - Marketing</a:t>
            </a:r>
            <a:endParaRPr/>
          </a:p>
        </p:txBody>
      </p:sp>
      <p:pic>
        <p:nvPicPr>
          <p:cNvPr id="304" name="Google Shape;304;p35"/>
          <p:cNvPicPr preferRelativeResize="0"/>
          <p:nvPr/>
        </p:nvPicPr>
        <p:blipFill>
          <a:blip r:embed="rId14">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6"/>
          <p:cNvSpPr txBox="1"/>
          <p:nvPr>
            <p:ph type="title"/>
          </p:nvPr>
        </p:nvSpPr>
        <p:spPr>
          <a:xfrm>
            <a:off x="881850" y="480450"/>
            <a:ext cx="7688700" cy="5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800"/>
              <a:t>Site à absorber :</a:t>
            </a:r>
            <a:endParaRPr sz="1800"/>
          </a:p>
        </p:txBody>
      </p:sp>
      <p:sp>
        <p:nvSpPr>
          <p:cNvPr id="310" name="Google Shape;310;p36"/>
          <p:cNvSpPr txBox="1"/>
          <p:nvPr>
            <p:ph idx="1" type="body"/>
          </p:nvPr>
        </p:nvSpPr>
        <p:spPr>
          <a:xfrm>
            <a:off x="7475" y="1316875"/>
            <a:ext cx="4506900" cy="373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900" u="sng">
                <a:latin typeface="Arial"/>
                <a:ea typeface="Arial"/>
                <a:cs typeface="Arial"/>
                <a:sym typeface="Arial"/>
                <a:hlinkClick r:id="rId3"/>
              </a:rPr>
              <a:t>TRAININGCOACHINGSYSTEM – Une équipe de coachs pour progresser</a:t>
            </a:r>
            <a:endParaRPr sz="900"/>
          </a:p>
          <a:p>
            <a:pPr indent="0" lvl="0" marL="0" rtl="0" algn="l">
              <a:spcBef>
                <a:spcPts val="1200"/>
              </a:spcBef>
              <a:spcAft>
                <a:spcPts val="0"/>
              </a:spcAft>
              <a:buNone/>
            </a:pPr>
            <a:r>
              <a:rPr lang="fr" sz="900" u="sng">
                <a:latin typeface="Arial"/>
                <a:ea typeface="Arial"/>
                <a:cs typeface="Arial"/>
                <a:sym typeface="Arial"/>
                <a:hlinkClick r:id="rId4"/>
              </a:rPr>
              <a:t>Coach sportif &amp; Coach sportif personnel à domicile - Just Coaching</a:t>
            </a:r>
            <a:endParaRPr sz="900"/>
          </a:p>
          <a:p>
            <a:pPr indent="0" lvl="0" marL="0" rtl="0" algn="l">
              <a:spcBef>
                <a:spcPts val="1200"/>
              </a:spcBef>
              <a:spcAft>
                <a:spcPts val="0"/>
              </a:spcAft>
              <a:buNone/>
            </a:pPr>
            <a:r>
              <a:rPr lang="fr" sz="900" u="sng">
                <a:latin typeface="Arial"/>
                <a:ea typeface="Arial"/>
                <a:cs typeface="Arial"/>
                <a:sym typeface="Arial"/>
                <a:hlinkClick r:id="rId5"/>
              </a:rPr>
              <a:t>Coach Sportif personnel à Domicile, en Ligne, en Entreprise... (protrainer.fr)</a:t>
            </a:r>
            <a:endParaRPr sz="900"/>
          </a:p>
          <a:p>
            <a:pPr indent="0" lvl="0" marL="0" rtl="0" algn="l">
              <a:spcBef>
                <a:spcPts val="1200"/>
              </a:spcBef>
              <a:spcAft>
                <a:spcPts val="0"/>
              </a:spcAft>
              <a:buNone/>
            </a:pPr>
            <a:r>
              <a:rPr lang="fr" sz="900" u="sng">
                <a:latin typeface="Arial"/>
                <a:ea typeface="Arial"/>
                <a:cs typeface="Arial"/>
                <a:sym typeface="Arial"/>
                <a:hlinkClick r:id="rId6"/>
              </a:rPr>
              <a:t>Prix coach sportif - Tout savoir sur les tarifs d'un coaching sportif (votrecoachperso.fr)</a:t>
            </a:r>
            <a:endParaRPr sz="900"/>
          </a:p>
          <a:p>
            <a:pPr indent="0" lvl="0" marL="0" rtl="0" algn="l">
              <a:spcBef>
                <a:spcPts val="1200"/>
              </a:spcBef>
              <a:spcAft>
                <a:spcPts val="0"/>
              </a:spcAft>
              <a:buNone/>
            </a:pPr>
            <a:r>
              <a:rPr lang="fr" sz="900" u="sng">
                <a:latin typeface="Arial"/>
                <a:ea typeface="Arial"/>
                <a:cs typeface="Arial"/>
                <a:sym typeface="Arial"/>
                <a:hlinkClick r:id="rId7"/>
              </a:rPr>
              <a:t>Coach Sportif A Domicile | Domicil'Gym ® (domicilgym.fr)</a:t>
            </a:r>
            <a:endParaRPr sz="900"/>
          </a:p>
          <a:p>
            <a:pPr indent="0" lvl="0" marL="0" rtl="0" algn="l">
              <a:spcBef>
                <a:spcPts val="1200"/>
              </a:spcBef>
              <a:spcAft>
                <a:spcPts val="0"/>
              </a:spcAft>
              <a:buNone/>
            </a:pPr>
            <a:r>
              <a:rPr lang="fr" sz="900" u="sng">
                <a:latin typeface="Arial"/>
                <a:ea typeface="Arial"/>
                <a:cs typeface="Arial"/>
                <a:sym typeface="Arial"/>
                <a:hlinkClick r:id="rId8"/>
              </a:rPr>
              <a:t>Outil de réservation en ligne pour coach sportif (coach-eo.fr)</a:t>
            </a:r>
            <a:endParaRPr sz="900"/>
          </a:p>
          <a:p>
            <a:pPr indent="0" lvl="0" marL="0" rtl="0" algn="l">
              <a:spcBef>
                <a:spcPts val="1200"/>
              </a:spcBef>
              <a:spcAft>
                <a:spcPts val="1200"/>
              </a:spcAft>
              <a:buNone/>
            </a:pPr>
            <a:r>
              <a:rPr lang="fr" sz="900" u="sng">
                <a:latin typeface="Arial"/>
                <a:ea typeface="Arial"/>
                <a:cs typeface="Arial"/>
                <a:sym typeface="Arial"/>
                <a:hlinkClick r:id="rId9"/>
              </a:rPr>
              <a:t>Votre coach individuel de football à Paris - Football-coaching.fr</a:t>
            </a:r>
            <a:r>
              <a:rPr lang="fr" sz="1100" u="sng">
                <a:latin typeface="Arial"/>
                <a:ea typeface="Arial"/>
                <a:cs typeface="Arial"/>
                <a:sym typeface="Arial"/>
                <a:hlinkClick r:id="rId10"/>
              </a:rPr>
              <a:t>ux</a:t>
            </a:r>
            <a:endParaRPr sz="900"/>
          </a:p>
        </p:txBody>
      </p:sp>
      <p:sp>
        <p:nvSpPr>
          <p:cNvPr id="311" name="Google Shape;311;p36"/>
          <p:cNvSpPr txBox="1"/>
          <p:nvPr>
            <p:ph type="title"/>
          </p:nvPr>
        </p:nvSpPr>
        <p:spPr>
          <a:xfrm>
            <a:off x="0" y="-52950"/>
            <a:ext cx="91440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fr"/>
              <a:t>Communication - Marketing</a:t>
            </a:r>
            <a:endParaRPr/>
          </a:p>
        </p:txBody>
      </p:sp>
      <p:sp>
        <p:nvSpPr>
          <p:cNvPr id="312" name="Google Shape;312;p36"/>
          <p:cNvSpPr txBox="1"/>
          <p:nvPr/>
        </p:nvSpPr>
        <p:spPr>
          <a:xfrm>
            <a:off x="5040400" y="1029875"/>
            <a:ext cx="3828600" cy="258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9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lang="fr" sz="900" u="sng">
                <a:solidFill>
                  <a:schemeClr val="lt1"/>
                </a:solidFill>
                <a:hlinkClick r:id="rId11">
                  <a:extLst>
                    <a:ext uri="{A12FA001-AC4F-418D-AE19-62706E023703}">
                      <ahyp:hlinkClr val="tx"/>
                    </a:ext>
                  </a:extLst>
                </a:hlinkClick>
              </a:rPr>
              <a:t>Coach sportif à domicile, N°1 à Paris et partout en France (ownsport.fr)</a:t>
            </a:r>
            <a:endParaRPr sz="9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lang="fr" sz="900" u="sng">
                <a:solidFill>
                  <a:schemeClr val="lt1"/>
                </a:solidFill>
                <a:hlinkClick r:id="rId12">
                  <a:extLst>
                    <a:ext uri="{A12FA001-AC4F-418D-AE19-62706E023703}">
                      <ahyp:hlinkClr val="tx"/>
                    </a:ext>
                  </a:extLst>
                </a:hlinkClick>
              </a:rPr>
              <a:t>Annuaire de coachs sportifs en France - Trouvez le coach idéal près de chez vous (coach-de-sport.com)</a:t>
            </a:r>
            <a:endParaRPr sz="9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lang="fr" sz="900" u="sng">
                <a:solidFill>
                  <a:schemeClr val="lt1"/>
                </a:solidFill>
                <a:hlinkClick r:id="rId13">
                  <a:extLst>
                    <a:ext uri="{A12FA001-AC4F-418D-AE19-62706E023703}">
                      <ahyp:hlinkClr val="tx"/>
                    </a:ext>
                  </a:extLst>
                </a:hlinkClick>
              </a:rPr>
              <a:t>Coach Maxime - BasketNation (basket-nation.com)</a:t>
            </a:r>
            <a:endParaRPr sz="9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lang="fr" sz="900" u="sng">
                <a:solidFill>
                  <a:schemeClr val="lt1"/>
                </a:solidFill>
                <a:hlinkClick r:id="rId14">
                  <a:extLst>
                    <a:ext uri="{A12FA001-AC4F-418D-AE19-62706E023703}">
                      <ahyp:hlinkClr val="tx"/>
                    </a:ext>
                  </a:extLst>
                </a:hlinkClick>
              </a:rPr>
              <a:t>Annonces Archive - lemeilleurcoach.com</a:t>
            </a:r>
            <a:endParaRPr sz="9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lang="fr" sz="900" u="sng">
                <a:solidFill>
                  <a:schemeClr val="lt1"/>
                </a:solidFill>
                <a:hlinkClick r:id="rId15">
                  <a:extLst>
                    <a:ext uri="{A12FA001-AC4F-418D-AE19-62706E023703}">
                      <ahyp:hlinkClr val="tx"/>
                    </a:ext>
                  </a:extLst>
                </a:hlinkClick>
              </a:rPr>
              <a:t>Coach Sportif | Mike Riquet | Domicil'Gym (domicilgym.fr)</a:t>
            </a:r>
            <a:endParaRPr sz="900">
              <a:solidFill>
                <a:schemeClr val="lt1"/>
              </a:solidFill>
              <a:latin typeface="Lato"/>
              <a:ea typeface="Lato"/>
              <a:cs typeface="Lato"/>
              <a:sym typeface="Lato"/>
            </a:endParaRPr>
          </a:p>
          <a:p>
            <a:pPr indent="0" lvl="0" marL="0" rtl="0" algn="l">
              <a:lnSpc>
                <a:spcPct val="115000"/>
              </a:lnSpc>
              <a:spcBef>
                <a:spcPts val="1200"/>
              </a:spcBef>
              <a:spcAft>
                <a:spcPts val="1200"/>
              </a:spcAft>
              <a:buNone/>
            </a:pPr>
            <a:r>
              <a:rPr lang="fr" sz="1100" u="sng">
                <a:solidFill>
                  <a:schemeClr val="lt1"/>
                </a:solidFill>
                <a:hlinkClick r:id="rId16">
                  <a:extLst>
                    <a:ext uri="{A12FA001-AC4F-418D-AE19-62706E023703}">
                      <ahyp:hlinkClr val="tx"/>
                    </a:ext>
                  </a:extLst>
                </a:hlinkClick>
              </a:rPr>
              <a:t>Bark.com : Un moyen révolutionnaire de recruter des services et des professionnels loca</a:t>
            </a:r>
            <a:endParaRPr sz="1300">
              <a:solidFill>
                <a:schemeClr val="lt1"/>
              </a:solidFill>
              <a:latin typeface="Lato"/>
              <a:ea typeface="Lato"/>
              <a:cs typeface="Lato"/>
              <a:sym typeface="Lato"/>
            </a:endParaRPr>
          </a:p>
        </p:txBody>
      </p:sp>
      <p:pic>
        <p:nvPicPr>
          <p:cNvPr id="313" name="Google Shape;313;p36"/>
          <p:cNvPicPr preferRelativeResize="0"/>
          <p:nvPr/>
        </p:nvPicPr>
        <p:blipFill>
          <a:blip r:embed="rId17">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Marketing - Référencement</a:t>
            </a:r>
            <a:endParaRPr/>
          </a:p>
        </p:txBody>
      </p:sp>
      <p:sp>
        <p:nvSpPr>
          <p:cNvPr id="319" name="Google Shape;319;p3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Payer des spécialistes du référencement ?</a:t>
            </a:r>
            <a:endParaRPr/>
          </a:p>
          <a:p>
            <a:pPr indent="0" lvl="0" marL="0" rtl="0" algn="l">
              <a:spcBef>
                <a:spcPts val="1200"/>
              </a:spcBef>
              <a:spcAft>
                <a:spcPts val="0"/>
              </a:spcAft>
              <a:buNone/>
            </a:pPr>
            <a:r>
              <a:rPr lang="fr"/>
              <a:t>Facebook ?</a:t>
            </a:r>
            <a:endParaRPr/>
          </a:p>
          <a:p>
            <a:pPr indent="0" lvl="0" marL="0" rtl="0" algn="l">
              <a:spcBef>
                <a:spcPts val="1200"/>
              </a:spcBef>
              <a:spcAft>
                <a:spcPts val="1200"/>
              </a:spcAft>
              <a:buNone/>
            </a:pPr>
            <a:r>
              <a:rPr lang="fr"/>
              <a:t>Madison amis qui travaille pour Google</a:t>
            </a:r>
            <a:endParaRPr/>
          </a:p>
        </p:txBody>
      </p:sp>
      <p:pic>
        <p:nvPicPr>
          <p:cNvPr id="320" name="Google Shape;320;p37"/>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Idée</a:t>
            </a:r>
            <a:r>
              <a:rPr lang="fr"/>
              <a:t> marketing</a:t>
            </a:r>
            <a:endParaRPr/>
          </a:p>
        </p:txBody>
      </p:sp>
      <p:sp>
        <p:nvSpPr>
          <p:cNvPr id="326" name="Google Shape;326;p38"/>
          <p:cNvSpPr txBox="1"/>
          <p:nvPr>
            <p:ph idx="1" type="body"/>
          </p:nvPr>
        </p:nvSpPr>
        <p:spPr>
          <a:xfrm>
            <a:off x="807821" y="1373941"/>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Pages Goupes Facebook, insta, TikTok</a:t>
            </a:r>
            <a:endParaRPr/>
          </a:p>
          <a:p>
            <a:pPr indent="-311150" lvl="0" marL="457200" rtl="0" algn="l">
              <a:spcBef>
                <a:spcPts val="0"/>
              </a:spcBef>
              <a:spcAft>
                <a:spcPts val="0"/>
              </a:spcAft>
              <a:buSzPts val="1300"/>
              <a:buChar char="-"/>
            </a:pPr>
            <a:r>
              <a:rPr lang="fr"/>
              <a:t>Prospectus dans les associations sportive (76% des français se rendent à l’endroit du flyers)</a:t>
            </a:r>
            <a:endParaRPr/>
          </a:p>
          <a:p>
            <a:pPr indent="-311150" lvl="0" marL="457200" rtl="0" algn="l">
              <a:spcBef>
                <a:spcPts val="0"/>
              </a:spcBef>
              <a:spcAft>
                <a:spcPts val="0"/>
              </a:spcAft>
              <a:buSzPts val="1300"/>
              <a:buChar char="-"/>
            </a:pPr>
            <a:r>
              <a:rPr lang="fr"/>
              <a:t>Via les clubs</a:t>
            </a:r>
            <a:endParaRPr/>
          </a:p>
          <a:p>
            <a:pPr indent="-311150" lvl="0" marL="457200" rtl="0" algn="l">
              <a:spcBef>
                <a:spcPts val="0"/>
              </a:spcBef>
              <a:spcAft>
                <a:spcPts val="0"/>
              </a:spcAft>
              <a:buSzPts val="1300"/>
              <a:buChar char="-"/>
            </a:pPr>
            <a:r>
              <a:rPr lang="fr"/>
              <a:t>Via les fédérations ?</a:t>
            </a:r>
            <a:endParaRPr/>
          </a:p>
          <a:p>
            <a:pPr indent="-311150" lvl="0" marL="457200" rtl="0" algn="l">
              <a:spcBef>
                <a:spcPts val="0"/>
              </a:spcBef>
              <a:spcAft>
                <a:spcPts val="0"/>
              </a:spcAft>
              <a:buSzPts val="1300"/>
              <a:buChar char="-"/>
            </a:pPr>
            <a:r>
              <a:rPr lang="fr"/>
              <a:t>Distribution de prospectus dans les forums des associations sportives des villes</a:t>
            </a:r>
            <a:endParaRPr/>
          </a:p>
          <a:p>
            <a:pPr indent="-311150" lvl="0" marL="457200" rtl="0" algn="l">
              <a:spcBef>
                <a:spcPts val="0"/>
              </a:spcBef>
              <a:spcAft>
                <a:spcPts val="0"/>
              </a:spcAft>
              <a:buSzPts val="1300"/>
              <a:buChar char="-"/>
            </a:pPr>
            <a:r>
              <a:rPr lang="fr"/>
              <a:t>Distribution de tracts dans les transports en commun / rues </a:t>
            </a:r>
            <a:r>
              <a:rPr lang="fr"/>
              <a:t>piétonnes</a:t>
            </a:r>
            <a:r>
              <a:rPr lang="fr"/>
              <a:t> / campus universitaire</a:t>
            </a:r>
            <a:endParaRPr/>
          </a:p>
          <a:p>
            <a:pPr indent="-311150" lvl="0" marL="457200" rtl="0" algn="l">
              <a:spcBef>
                <a:spcPts val="0"/>
              </a:spcBef>
              <a:spcAft>
                <a:spcPts val="0"/>
              </a:spcAft>
              <a:buSzPts val="1300"/>
              <a:buChar char="-"/>
            </a:pPr>
            <a:r>
              <a:rPr lang="fr"/>
              <a:t>Spot publicitaire sur site web - jeux smartphone </a:t>
            </a:r>
            <a:endParaRPr/>
          </a:p>
          <a:p>
            <a:pPr indent="-311150" lvl="0" marL="457200" rtl="0" algn="l">
              <a:spcBef>
                <a:spcPts val="0"/>
              </a:spcBef>
              <a:spcAft>
                <a:spcPts val="0"/>
              </a:spcAft>
              <a:buSzPts val="1300"/>
              <a:buChar char="-"/>
            </a:pPr>
            <a:r>
              <a:rPr lang="fr" sz="1100" u="sng">
                <a:solidFill>
                  <a:schemeClr val="hlink"/>
                </a:solidFill>
                <a:latin typeface="Arial"/>
                <a:ea typeface="Arial"/>
                <a:cs typeface="Arial"/>
                <a:sym typeface="Arial"/>
                <a:hlinkClick r:id="rId3"/>
              </a:rPr>
              <a:t>Meilleures entreprises dans la catégorie Sport sur Trustpilot</a:t>
            </a:r>
            <a:r>
              <a:rPr lang="fr"/>
              <a:t> liste de site de sports</a:t>
            </a:r>
            <a:endParaRPr/>
          </a:p>
        </p:txBody>
      </p:sp>
      <p:pic>
        <p:nvPicPr>
          <p:cNvPr id="327" name="Google Shape;327;p38"/>
          <p:cNvPicPr preferRelativeResize="0"/>
          <p:nvPr/>
        </p:nvPicPr>
        <p:blipFill>
          <a:blip r:embed="rId4">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9"/>
          <p:cNvSpPr txBox="1"/>
          <p:nvPr>
            <p:ph type="title"/>
          </p:nvPr>
        </p:nvSpPr>
        <p:spPr>
          <a:xfrm>
            <a:off x="78300" y="14605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Réseaux</a:t>
            </a:r>
            <a:r>
              <a:rPr lang="fr"/>
              <a:t> sociaux :</a:t>
            </a:r>
            <a:endParaRPr/>
          </a:p>
        </p:txBody>
      </p:sp>
      <p:pic>
        <p:nvPicPr>
          <p:cNvPr id="333" name="Google Shape;333;p39"/>
          <p:cNvPicPr preferRelativeResize="0"/>
          <p:nvPr/>
        </p:nvPicPr>
        <p:blipFill>
          <a:blip r:embed="rId3">
            <a:alphaModFix/>
          </a:blip>
          <a:stretch>
            <a:fillRect/>
          </a:stretch>
        </p:blipFill>
        <p:spPr>
          <a:xfrm>
            <a:off x="3052450" y="1090350"/>
            <a:ext cx="5955649" cy="3976950"/>
          </a:xfrm>
          <a:prstGeom prst="rect">
            <a:avLst/>
          </a:prstGeom>
          <a:noFill/>
          <a:ln>
            <a:noFill/>
          </a:ln>
        </p:spPr>
      </p:pic>
      <p:sp>
        <p:nvSpPr>
          <p:cNvPr id="334" name="Google Shape;334;p39"/>
          <p:cNvSpPr txBox="1"/>
          <p:nvPr>
            <p:ph type="title"/>
          </p:nvPr>
        </p:nvSpPr>
        <p:spPr>
          <a:xfrm>
            <a:off x="1788400" y="4651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Communication - Marketing</a:t>
            </a:r>
            <a:endParaRPr/>
          </a:p>
        </p:txBody>
      </p:sp>
      <p:pic>
        <p:nvPicPr>
          <p:cNvPr id="335" name="Google Shape;335;p39"/>
          <p:cNvPicPr preferRelativeResize="0"/>
          <p:nvPr/>
        </p:nvPicPr>
        <p:blipFill>
          <a:blip r:embed="rId4">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Marketing</a:t>
            </a:r>
            <a:endParaRPr/>
          </a:p>
        </p:txBody>
      </p:sp>
      <p:sp>
        <p:nvSpPr>
          <p:cNvPr id="341" name="Google Shape;341;p40"/>
          <p:cNvSpPr txBox="1"/>
          <p:nvPr>
            <p:ph idx="1" type="body"/>
          </p:nvPr>
        </p:nvSpPr>
        <p:spPr>
          <a:xfrm>
            <a:off x="180925" y="1567550"/>
            <a:ext cx="18288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u="sng"/>
              <a:t>Les Clubs Sportifs :</a:t>
            </a:r>
            <a:endParaRPr u="sng"/>
          </a:p>
          <a:p>
            <a:pPr indent="-311150" lvl="0" marL="457200" rtl="0" algn="l">
              <a:spcBef>
                <a:spcPts val="1200"/>
              </a:spcBef>
              <a:spcAft>
                <a:spcPts val="0"/>
              </a:spcAft>
              <a:buSzPts val="1300"/>
              <a:buChar char="-"/>
            </a:pPr>
            <a:r>
              <a:rPr lang="fr"/>
              <a:t>Mailing</a:t>
            </a:r>
            <a:endParaRPr/>
          </a:p>
          <a:p>
            <a:pPr indent="-311150" lvl="0" marL="457200" rtl="0" algn="l">
              <a:spcBef>
                <a:spcPts val="0"/>
              </a:spcBef>
              <a:spcAft>
                <a:spcPts val="0"/>
              </a:spcAft>
              <a:buSzPts val="1300"/>
              <a:buChar char="-"/>
            </a:pPr>
            <a:r>
              <a:rPr lang="fr"/>
              <a:t>Commerciaux Phoning (étudiants STAPS avec formation)</a:t>
            </a:r>
            <a:endParaRPr/>
          </a:p>
          <a:p>
            <a:pPr indent="-311150" lvl="0" marL="457200" rtl="0" algn="l">
              <a:spcBef>
                <a:spcPts val="0"/>
              </a:spcBef>
              <a:spcAft>
                <a:spcPts val="0"/>
              </a:spcAft>
              <a:buSzPts val="1300"/>
              <a:buChar char="-"/>
            </a:pPr>
            <a:r>
              <a:rPr lang="fr"/>
              <a:t>Message sur réseaux sociaux</a:t>
            </a:r>
            <a:endParaRPr/>
          </a:p>
          <a:p>
            <a:pPr indent="0" lvl="0" marL="0" rtl="0" algn="l">
              <a:spcBef>
                <a:spcPts val="1200"/>
              </a:spcBef>
              <a:spcAft>
                <a:spcPts val="1200"/>
              </a:spcAft>
              <a:buNone/>
            </a:pPr>
            <a:r>
              <a:t/>
            </a:r>
            <a:endParaRPr/>
          </a:p>
        </p:txBody>
      </p:sp>
      <p:sp>
        <p:nvSpPr>
          <p:cNvPr id="342" name="Google Shape;342;p40"/>
          <p:cNvSpPr txBox="1"/>
          <p:nvPr>
            <p:ph idx="1" type="body"/>
          </p:nvPr>
        </p:nvSpPr>
        <p:spPr>
          <a:xfrm>
            <a:off x="2147850" y="1567550"/>
            <a:ext cx="18288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u="sng"/>
              <a:t>Les Coachs :</a:t>
            </a:r>
            <a:endParaRPr u="sng"/>
          </a:p>
          <a:p>
            <a:pPr indent="-311150" lvl="0" marL="457200" rtl="0" algn="l">
              <a:spcBef>
                <a:spcPts val="1200"/>
              </a:spcBef>
              <a:spcAft>
                <a:spcPts val="0"/>
              </a:spcAft>
              <a:buSzPts val="1300"/>
              <a:buChar char="-"/>
            </a:pPr>
            <a:r>
              <a:rPr lang="fr"/>
              <a:t>Croissance externe (rachat de site)</a:t>
            </a:r>
            <a:endParaRPr/>
          </a:p>
          <a:p>
            <a:pPr indent="-311150" lvl="0" marL="457200" rtl="0" algn="l">
              <a:spcBef>
                <a:spcPts val="0"/>
              </a:spcBef>
              <a:spcAft>
                <a:spcPts val="0"/>
              </a:spcAft>
              <a:buSzPts val="1300"/>
              <a:buChar char="-"/>
            </a:pPr>
            <a:r>
              <a:rPr lang="fr"/>
              <a:t>Via les clubs</a:t>
            </a:r>
            <a:endParaRPr/>
          </a:p>
          <a:p>
            <a:pPr indent="-311150" lvl="0" marL="457200" rtl="0" algn="l">
              <a:spcBef>
                <a:spcPts val="0"/>
              </a:spcBef>
              <a:spcAft>
                <a:spcPts val="0"/>
              </a:spcAft>
              <a:buSzPts val="1300"/>
              <a:buChar char="-"/>
            </a:pPr>
            <a:r>
              <a:rPr lang="fr"/>
              <a:t>Réseaux sociaux</a:t>
            </a:r>
            <a:endParaRPr/>
          </a:p>
        </p:txBody>
      </p:sp>
      <p:sp>
        <p:nvSpPr>
          <p:cNvPr id="343" name="Google Shape;343;p40"/>
          <p:cNvSpPr txBox="1"/>
          <p:nvPr>
            <p:ph idx="1" type="body"/>
          </p:nvPr>
        </p:nvSpPr>
        <p:spPr>
          <a:xfrm>
            <a:off x="4125325" y="1567550"/>
            <a:ext cx="2682300" cy="2911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fr" u="sng"/>
              <a:t>Les salles de musculations</a:t>
            </a:r>
            <a:endParaRPr u="sng"/>
          </a:p>
          <a:p>
            <a:pPr indent="0" lvl="0" marL="0" rtl="0" algn="l">
              <a:spcBef>
                <a:spcPts val="1200"/>
              </a:spcBef>
              <a:spcAft>
                <a:spcPts val="0"/>
              </a:spcAft>
              <a:buNone/>
            </a:pPr>
            <a:r>
              <a:rPr lang="fr"/>
              <a:t>Planity :</a:t>
            </a:r>
            <a:endParaRPr/>
          </a:p>
          <a:p>
            <a:pPr indent="-311150" lvl="0" marL="457200" rtl="0" algn="l">
              <a:spcBef>
                <a:spcPts val="1200"/>
              </a:spcBef>
              <a:spcAft>
                <a:spcPts val="0"/>
              </a:spcAft>
              <a:buSzPts val="1300"/>
              <a:buChar char="-"/>
            </a:pPr>
            <a:r>
              <a:rPr lang="fr"/>
              <a:t>Essaie gratuit </a:t>
            </a:r>
            <a:endParaRPr/>
          </a:p>
          <a:p>
            <a:pPr indent="-311150" lvl="0" marL="457200" rtl="0" algn="l">
              <a:spcBef>
                <a:spcPts val="0"/>
              </a:spcBef>
              <a:spcAft>
                <a:spcPts val="0"/>
              </a:spcAft>
              <a:buSzPts val="1300"/>
              <a:buChar char="-"/>
            </a:pPr>
            <a:r>
              <a:rPr lang="fr"/>
              <a:t>Caisse </a:t>
            </a:r>
            <a:r>
              <a:rPr lang="fr"/>
              <a:t>intégré</a:t>
            </a:r>
            <a:r>
              <a:rPr lang="fr"/>
              <a:t> ?</a:t>
            </a:r>
            <a:endParaRPr/>
          </a:p>
          <a:p>
            <a:pPr indent="-311150" lvl="0" marL="457200" rtl="0" algn="l">
              <a:spcBef>
                <a:spcPts val="0"/>
              </a:spcBef>
              <a:spcAft>
                <a:spcPts val="0"/>
              </a:spcAft>
              <a:buSzPts val="1300"/>
              <a:buChar char="-"/>
            </a:pPr>
            <a:r>
              <a:rPr lang="fr"/>
              <a:t>8 mois avant retour</a:t>
            </a:r>
            <a:endParaRPr/>
          </a:p>
          <a:p>
            <a:pPr indent="-311150" lvl="0" marL="457200" rtl="0" algn="l">
              <a:spcBef>
                <a:spcPts val="0"/>
              </a:spcBef>
              <a:spcAft>
                <a:spcPts val="0"/>
              </a:spcAft>
              <a:buSzPts val="1300"/>
              <a:buChar char="-"/>
            </a:pPr>
            <a:r>
              <a:rPr lang="fr"/>
              <a:t>commerciaux terrains</a:t>
            </a:r>
            <a:endParaRPr/>
          </a:p>
          <a:p>
            <a:pPr indent="-311150" lvl="0" marL="457200" rtl="0" algn="l">
              <a:spcBef>
                <a:spcPts val="0"/>
              </a:spcBef>
              <a:spcAft>
                <a:spcPts val="0"/>
              </a:spcAft>
              <a:buSzPts val="1300"/>
              <a:buChar char="-"/>
            </a:pPr>
            <a:r>
              <a:rPr lang="fr"/>
              <a:t>academie de formation pour les commerciaux (15jrs)</a:t>
            </a:r>
            <a:endParaRPr/>
          </a:p>
          <a:p>
            <a:pPr indent="-311150" lvl="0" marL="457200" rtl="0" algn="l">
              <a:spcBef>
                <a:spcPts val="0"/>
              </a:spcBef>
              <a:spcAft>
                <a:spcPts val="0"/>
              </a:spcAft>
              <a:buSzPts val="1300"/>
              <a:buChar char="-"/>
            </a:pPr>
            <a:r>
              <a:rPr lang="fr"/>
              <a:t>outils de reporting pour commerciaux</a:t>
            </a:r>
            <a:endParaRPr/>
          </a:p>
          <a:p>
            <a:pPr indent="-311150" lvl="0" marL="457200" rtl="0" algn="l">
              <a:spcBef>
                <a:spcPts val="0"/>
              </a:spcBef>
              <a:spcAft>
                <a:spcPts val="0"/>
              </a:spcAft>
              <a:buSzPts val="1300"/>
              <a:buChar char="-"/>
            </a:pPr>
            <a:r>
              <a:rPr lang="fr"/>
              <a:t>tout le monde voit ce que tout le monde fait</a:t>
            </a:r>
            <a:endParaRPr/>
          </a:p>
        </p:txBody>
      </p:sp>
      <p:sp>
        <p:nvSpPr>
          <p:cNvPr id="344" name="Google Shape;344;p40"/>
          <p:cNvSpPr txBox="1"/>
          <p:nvPr>
            <p:ph idx="1" type="body"/>
          </p:nvPr>
        </p:nvSpPr>
        <p:spPr>
          <a:xfrm>
            <a:off x="6911775" y="1567550"/>
            <a:ext cx="20721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u="sng"/>
              <a:t>Les Sportifs :</a:t>
            </a:r>
            <a:endParaRPr u="sng"/>
          </a:p>
          <a:p>
            <a:pPr indent="-311150" lvl="0" marL="457200" rtl="0" algn="l">
              <a:spcBef>
                <a:spcPts val="1200"/>
              </a:spcBef>
              <a:spcAft>
                <a:spcPts val="0"/>
              </a:spcAft>
              <a:buSzPts val="1300"/>
              <a:buChar char="-"/>
            </a:pPr>
            <a:r>
              <a:rPr lang="fr"/>
              <a:t>Réseaux</a:t>
            </a:r>
            <a:r>
              <a:rPr lang="fr"/>
              <a:t> sociaux</a:t>
            </a:r>
            <a:endParaRPr/>
          </a:p>
          <a:p>
            <a:pPr indent="-311150" lvl="0" marL="457200" rtl="0" algn="l">
              <a:spcBef>
                <a:spcPts val="0"/>
              </a:spcBef>
              <a:spcAft>
                <a:spcPts val="0"/>
              </a:spcAft>
              <a:buSzPts val="1300"/>
              <a:buChar char="-"/>
            </a:pPr>
            <a:r>
              <a:rPr lang="fr"/>
              <a:t>Croissance externe (rachat de site)</a:t>
            </a:r>
            <a:endParaRPr/>
          </a:p>
          <a:p>
            <a:pPr indent="-311150" lvl="0" marL="457200" rtl="0" algn="l">
              <a:spcBef>
                <a:spcPts val="0"/>
              </a:spcBef>
              <a:spcAft>
                <a:spcPts val="0"/>
              </a:spcAft>
              <a:buSzPts val="1300"/>
              <a:buChar char="-"/>
            </a:pPr>
            <a:r>
              <a:rPr lang="fr"/>
              <a:t>Via les clubs</a:t>
            </a:r>
            <a:endParaRPr/>
          </a:p>
        </p:txBody>
      </p:sp>
      <p:pic>
        <p:nvPicPr>
          <p:cNvPr id="345" name="Google Shape;345;p40"/>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Marketing</a:t>
            </a:r>
            <a:endParaRPr/>
          </a:p>
        </p:txBody>
      </p:sp>
      <p:sp>
        <p:nvSpPr>
          <p:cNvPr id="351" name="Google Shape;351;p41"/>
          <p:cNvSpPr txBox="1"/>
          <p:nvPr>
            <p:ph idx="1" type="body"/>
          </p:nvPr>
        </p:nvSpPr>
        <p:spPr>
          <a:xfrm>
            <a:off x="555600" y="1493925"/>
            <a:ext cx="5473500" cy="3443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fr"/>
              <a:t>Les clubs de sportifs :</a:t>
            </a:r>
            <a:endParaRPr/>
          </a:p>
          <a:p>
            <a:pPr indent="-304958" lvl="0" marL="457200" rtl="0" algn="l">
              <a:spcBef>
                <a:spcPts val="1200"/>
              </a:spcBef>
              <a:spcAft>
                <a:spcPts val="0"/>
              </a:spcAft>
              <a:buSzPct val="100000"/>
              <a:buAutoNum type="arabicParenR"/>
            </a:pPr>
            <a:r>
              <a:rPr lang="fr"/>
              <a:t>Recruter des commerciaux </a:t>
            </a:r>
            <a:endParaRPr/>
          </a:p>
          <a:p>
            <a:pPr indent="-293211" lvl="1" marL="914400" rtl="0" algn="l">
              <a:spcBef>
                <a:spcPts val="0"/>
              </a:spcBef>
              <a:spcAft>
                <a:spcPts val="0"/>
              </a:spcAft>
              <a:buSzPct val="100000"/>
              <a:buAutoNum type="alphaLcParenR"/>
            </a:pPr>
            <a:r>
              <a:rPr lang="fr"/>
              <a:t>profil étudiants STAPS ? Jeune commerciaux ?</a:t>
            </a:r>
            <a:endParaRPr/>
          </a:p>
          <a:p>
            <a:pPr indent="-293211" lvl="1" marL="914400" rtl="0" algn="l">
              <a:spcBef>
                <a:spcPts val="0"/>
              </a:spcBef>
              <a:spcAft>
                <a:spcPts val="0"/>
              </a:spcAft>
              <a:buSzPct val="100000"/>
              <a:buAutoNum type="alphaLcParenR"/>
            </a:pPr>
            <a:r>
              <a:rPr lang="fr"/>
              <a:t>par </a:t>
            </a:r>
            <a:r>
              <a:rPr lang="fr"/>
              <a:t>spécialité</a:t>
            </a:r>
            <a:r>
              <a:rPr lang="fr"/>
              <a:t> (foot, basket…)</a:t>
            </a:r>
            <a:endParaRPr/>
          </a:p>
          <a:p>
            <a:pPr indent="-293211" lvl="1" marL="914400" rtl="0" algn="l">
              <a:spcBef>
                <a:spcPts val="0"/>
              </a:spcBef>
              <a:spcAft>
                <a:spcPts val="0"/>
              </a:spcAft>
              <a:buSzPct val="100000"/>
              <a:buAutoNum type="alphaLcParenR"/>
            </a:pPr>
            <a:r>
              <a:rPr lang="fr"/>
              <a:t>Par région </a:t>
            </a:r>
            <a:endParaRPr/>
          </a:p>
          <a:p>
            <a:pPr indent="0" lvl="0" marL="0" rtl="0" algn="l">
              <a:spcBef>
                <a:spcPts val="1200"/>
              </a:spcBef>
              <a:spcAft>
                <a:spcPts val="0"/>
              </a:spcAft>
              <a:buNone/>
            </a:pPr>
            <a:r>
              <a:rPr lang="fr"/>
              <a:t>Les coachs :</a:t>
            </a:r>
            <a:endParaRPr/>
          </a:p>
          <a:p>
            <a:pPr indent="-304958" lvl="0" marL="457200" rtl="0" algn="l">
              <a:spcBef>
                <a:spcPts val="1200"/>
              </a:spcBef>
              <a:spcAft>
                <a:spcPts val="0"/>
              </a:spcAft>
              <a:buSzPct val="100000"/>
              <a:buAutoNum type="arabicParenR"/>
            </a:pPr>
            <a:r>
              <a:rPr lang="fr"/>
              <a:t>Réseau</a:t>
            </a:r>
            <a:r>
              <a:rPr lang="fr"/>
              <a:t> perso </a:t>
            </a:r>
            <a:endParaRPr/>
          </a:p>
          <a:p>
            <a:pPr indent="-304958" lvl="0" marL="457200" rtl="0" algn="l">
              <a:spcBef>
                <a:spcPts val="0"/>
              </a:spcBef>
              <a:spcAft>
                <a:spcPts val="0"/>
              </a:spcAft>
              <a:buSzPct val="100000"/>
              <a:buAutoNum type="arabicParenR"/>
            </a:pPr>
            <a:r>
              <a:rPr lang="fr"/>
              <a:t>Réseaux</a:t>
            </a:r>
            <a:r>
              <a:rPr lang="fr"/>
              <a:t> sociaux (</a:t>
            </a:r>
            <a:r>
              <a:rPr lang="fr"/>
              <a:t>groupe</a:t>
            </a:r>
            <a:r>
              <a:rPr lang="fr"/>
              <a:t> de fan, groupe BP, groupe STAPS, </a:t>
            </a:r>
            <a:r>
              <a:rPr lang="fr" sz="1100" u="sng">
                <a:solidFill>
                  <a:schemeClr val="hlink"/>
                </a:solidFill>
                <a:latin typeface="Arial"/>
                <a:ea typeface="Arial"/>
                <a:cs typeface="Arial"/>
                <a:sym typeface="Arial"/>
                <a:hlinkClick r:id="rId3"/>
              </a:rPr>
              <a:t>(2) Facebook</a:t>
            </a:r>
            <a:r>
              <a:rPr lang="fr"/>
              <a:t>)</a:t>
            </a:r>
            <a:endParaRPr/>
          </a:p>
          <a:p>
            <a:pPr indent="-304958" lvl="0" marL="457200" rtl="0" algn="l">
              <a:spcBef>
                <a:spcPts val="0"/>
              </a:spcBef>
              <a:spcAft>
                <a:spcPts val="0"/>
              </a:spcAft>
              <a:buSzPct val="100000"/>
              <a:buAutoNum type="arabicParenR"/>
            </a:pPr>
            <a:r>
              <a:rPr lang="fr"/>
              <a:t>S’inscrire sur les sites et leur écrire directement…</a:t>
            </a:r>
            <a:endParaRPr/>
          </a:p>
          <a:p>
            <a:pPr indent="0" lvl="0" marL="0" rtl="0" algn="l">
              <a:spcBef>
                <a:spcPts val="1200"/>
              </a:spcBef>
              <a:spcAft>
                <a:spcPts val="0"/>
              </a:spcAft>
              <a:buNone/>
            </a:pPr>
            <a:r>
              <a:rPr lang="fr"/>
              <a:t>Les sportifs :</a:t>
            </a:r>
            <a:endParaRPr/>
          </a:p>
          <a:p>
            <a:pPr indent="-304958" lvl="0" marL="457200" rtl="0" algn="l">
              <a:spcBef>
                <a:spcPts val="1200"/>
              </a:spcBef>
              <a:spcAft>
                <a:spcPts val="0"/>
              </a:spcAft>
              <a:buSzPct val="100000"/>
              <a:buAutoNum type="arabicParenR"/>
            </a:pPr>
            <a:r>
              <a:rPr lang="fr"/>
              <a:t>Référencement</a:t>
            </a:r>
            <a:r>
              <a:rPr lang="fr"/>
              <a:t> internet</a:t>
            </a:r>
            <a:endParaRPr/>
          </a:p>
          <a:p>
            <a:pPr indent="-304958" lvl="0" marL="457200" rtl="0" algn="l">
              <a:spcBef>
                <a:spcPts val="0"/>
              </a:spcBef>
              <a:spcAft>
                <a:spcPts val="0"/>
              </a:spcAft>
              <a:buSzPct val="100000"/>
              <a:buAutoNum type="arabicParenR"/>
            </a:pPr>
            <a:r>
              <a:rPr lang="fr"/>
              <a:t>Via les clubs</a:t>
            </a:r>
            <a:endParaRPr/>
          </a:p>
          <a:p>
            <a:pPr indent="-304958" lvl="0" marL="457200" rtl="0" algn="l">
              <a:spcBef>
                <a:spcPts val="0"/>
              </a:spcBef>
              <a:spcAft>
                <a:spcPts val="0"/>
              </a:spcAft>
              <a:buSzPct val="100000"/>
              <a:buAutoNum type="arabicParenR"/>
            </a:pPr>
            <a:r>
              <a:rPr lang="fr"/>
              <a:t>Via les coachs</a:t>
            </a:r>
            <a:endParaRPr/>
          </a:p>
          <a:p>
            <a:pPr indent="-304958" lvl="0" marL="457200" rtl="0" algn="l">
              <a:spcBef>
                <a:spcPts val="0"/>
              </a:spcBef>
              <a:spcAft>
                <a:spcPts val="0"/>
              </a:spcAft>
              <a:buSzPct val="100000"/>
              <a:buAutoNum type="arabicParenR"/>
            </a:pPr>
            <a:r>
              <a:rPr lang="fr"/>
              <a:t>Influenceurs</a:t>
            </a:r>
            <a:endParaRPr/>
          </a:p>
        </p:txBody>
      </p:sp>
      <p:pic>
        <p:nvPicPr>
          <p:cNvPr id="352" name="Google Shape;352;p41"/>
          <p:cNvPicPr preferRelativeResize="0"/>
          <p:nvPr/>
        </p:nvPicPr>
        <p:blipFill>
          <a:blip r:embed="rId4">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2"/>
          <p:cNvSpPr txBox="1"/>
          <p:nvPr>
            <p:ph idx="1" type="body"/>
          </p:nvPr>
        </p:nvSpPr>
        <p:spPr>
          <a:xfrm>
            <a:off x="230700" y="1567550"/>
            <a:ext cx="4567800" cy="29112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b="1" lang="fr" sz="3050"/>
              <a:t>Embauché un apprenti Community manager</a:t>
            </a:r>
            <a:endParaRPr b="1" sz="3050"/>
          </a:p>
          <a:p>
            <a:pPr indent="0" lvl="0" marL="0" rtl="0" algn="l">
              <a:spcBef>
                <a:spcPts val="1200"/>
              </a:spcBef>
              <a:spcAft>
                <a:spcPts val="0"/>
              </a:spcAft>
              <a:buNone/>
            </a:pPr>
            <a:r>
              <a:rPr lang="fr"/>
              <a:t>=&gt; Gestion  de </a:t>
            </a:r>
            <a:r>
              <a:rPr lang="fr"/>
              <a:t>tous</a:t>
            </a:r>
            <a:r>
              <a:rPr lang="fr"/>
              <a:t> les réseaux sociaux de la manière la plus professionnelle possible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fr"/>
              <a:t>Avantage </a:t>
            </a:r>
            <a:endParaRPr/>
          </a:p>
          <a:p>
            <a:pPr indent="0" lvl="0" marL="0" rtl="0" algn="l">
              <a:spcBef>
                <a:spcPts val="1200"/>
              </a:spcBef>
              <a:spcAft>
                <a:spcPts val="0"/>
              </a:spcAft>
              <a:buNone/>
            </a:pPr>
            <a:r>
              <a:rPr lang="fr"/>
              <a:t>=&gt; Pas cher</a:t>
            </a:r>
            <a:endParaRPr/>
          </a:p>
          <a:p>
            <a:pPr indent="0" lvl="0" marL="0" rtl="0" algn="l">
              <a:spcBef>
                <a:spcPts val="1200"/>
              </a:spcBef>
              <a:spcAft>
                <a:spcPts val="0"/>
              </a:spcAft>
              <a:buNone/>
            </a:pPr>
            <a:r>
              <a:rPr lang="fr"/>
              <a:t>=&gt; Pas de charge</a:t>
            </a:r>
            <a:endParaRPr/>
          </a:p>
          <a:p>
            <a:pPr indent="0" lvl="0" marL="0" rtl="0" algn="l">
              <a:spcBef>
                <a:spcPts val="1200"/>
              </a:spcBef>
              <a:spcAft>
                <a:spcPts val="0"/>
              </a:spcAft>
              <a:buNone/>
            </a:pPr>
            <a:r>
              <a:rPr lang="fr"/>
              <a:t>Inconvénients</a:t>
            </a:r>
            <a:endParaRPr/>
          </a:p>
          <a:p>
            <a:pPr indent="0" lvl="0" marL="0" rtl="0" algn="l">
              <a:spcBef>
                <a:spcPts val="1200"/>
              </a:spcBef>
              <a:spcAft>
                <a:spcPts val="0"/>
              </a:spcAft>
              <a:buNone/>
            </a:pPr>
            <a:r>
              <a:rPr lang="fr"/>
              <a:t>=&gt; en formation</a:t>
            </a:r>
            <a:endParaRPr/>
          </a:p>
          <a:p>
            <a:pPr indent="0" lvl="0" marL="0" rtl="0" algn="l">
              <a:spcBef>
                <a:spcPts val="1200"/>
              </a:spcBef>
              <a:spcAft>
                <a:spcPts val="1200"/>
              </a:spcAft>
              <a:buNone/>
            </a:pPr>
            <a:r>
              <a:rPr lang="fr"/>
              <a:t>=&gt; Alternance donc pas là toute la semaine</a:t>
            </a:r>
            <a:endParaRPr/>
          </a:p>
        </p:txBody>
      </p:sp>
      <p:sp>
        <p:nvSpPr>
          <p:cNvPr id="358" name="Google Shape;358;p4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Marketing</a:t>
            </a:r>
            <a:endParaRPr/>
          </a:p>
        </p:txBody>
      </p:sp>
      <p:sp>
        <p:nvSpPr>
          <p:cNvPr id="359" name="Google Shape;359;p42"/>
          <p:cNvSpPr txBox="1"/>
          <p:nvPr/>
        </p:nvSpPr>
        <p:spPr>
          <a:xfrm>
            <a:off x="5398050" y="2455000"/>
            <a:ext cx="3763500" cy="226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300">
                <a:solidFill>
                  <a:schemeClr val="lt1"/>
                </a:solidFill>
                <a:latin typeface="Lato"/>
                <a:ea typeface="Lato"/>
                <a:cs typeface="Lato"/>
                <a:sym typeface="Lato"/>
              </a:rPr>
              <a:t>Les écoles :</a:t>
            </a:r>
            <a:endParaRPr sz="1300">
              <a:solidFill>
                <a:schemeClr val="lt1"/>
              </a:solidFill>
              <a:latin typeface="Lato"/>
              <a:ea typeface="Lato"/>
              <a:cs typeface="Lato"/>
              <a:sym typeface="Lato"/>
            </a:endParaRPr>
          </a:p>
          <a:p>
            <a:pPr indent="-298450" lvl="0" marL="457200" rtl="0" algn="l">
              <a:spcBef>
                <a:spcPts val="0"/>
              </a:spcBef>
              <a:spcAft>
                <a:spcPts val="0"/>
              </a:spcAft>
              <a:buSzPts val="1100"/>
              <a:buChar char="-"/>
            </a:pPr>
            <a:r>
              <a:rPr lang="fr" sz="1100" u="sng">
                <a:solidFill>
                  <a:schemeClr val="hlink"/>
                </a:solidFill>
                <a:hlinkClick r:id="rId3"/>
              </a:rPr>
              <a:t>Community Manager Jeux Video et Esport : fiche métier avec les missions, études, salaire</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fr" sz="1100" u="sng">
                <a:solidFill>
                  <a:schemeClr val="hlink"/>
                </a:solidFill>
                <a:hlinkClick r:id="rId4"/>
              </a:rPr>
              <a:t>Offres d'emploi en Alternance à Paris</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fr" sz="1100" u="sng">
                <a:solidFill>
                  <a:schemeClr val="hlink"/>
                </a:solidFill>
                <a:hlinkClick r:id="rId5"/>
              </a:rPr>
              <a:t>Formation Réseaux sociaux &amp; webmarketing - L'École Française</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fr" sz="1100" u="sng">
                <a:solidFill>
                  <a:schemeClr val="hlink"/>
                </a:solidFill>
                <a:hlinkClick r:id="rId6"/>
              </a:rPr>
              <a:t>Formation Community Manager - Ecole de Communication EFAP</a:t>
            </a:r>
            <a:endParaRPr sz="1300">
              <a:solidFill>
                <a:schemeClr val="lt1"/>
              </a:solidFill>
              <a:latin typeface="Lato"/>
              <a:ea typeface="Lato"/>
              <a:cs typeface="Lato"/>
              <a:sym typeface="Lato"/>
            </a:endParaRPr>
          </a:p>
          <a:p>
            <a:pPr indent="0" lvl="0" marL="45720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p:txBody>
      </p:sp>
      <p:pic>
        <p:nvPicPr>
          <p:cNvPr id="360" name="Google Shape;360;p42"/>
          <p:cNvPicPr preferRelativeResize="0"/>
          <p:nvPr/>
        </p:nvPicPr>
        <p:blipFill>
          <a:blip r:embed="rId7">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Coût de l’application ?</a:t>
            </a:r>
            <a:endParaRPr/>
          </a:p>
        </p:txBody>
      </p:sp>
      <p:sp>
        <p:nvSpPr>
          <p:cNvPr id="366" name="Google Shape;366;p4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fr"/>
              <a:t>Mise en oeuvre ?</a:t>
            </a:r>
            <a:endParaRPr/>
          </a:p>
          <a:p>
            <a:pPr indent="-311150" lvl="0" marL="457200" rtl="0" algn="l">
              <a:spcBef>
                <a:spcPts val="0"/>
              </a:spcBef>
              <a:spcAft>
                <a:spcPts val="0"/>
              </a:spcAft>
              <a:buSzPts val="1300"/>
              <a:buChar char="●"/>
            </a:pPr>
            <a:r>
              <a:rPr lang="fr"/>
              <a:t>Entretien - Maintenance ?</a:t>
            </a:r>
            <a:endParaRPr/>
          </a:p>
          <a:p>
            <a:pPr indent="-311150" lvl="0" marL="457200" rtl="0" algn="l">
              <a:spcBef>
                <a:spcPts val="0"/>
              </a:spcBef>
              <a:spcAft>
                <a:spcPts val="0"/>
              </a:spcAft>
              <a:buSzPts val="1300"/>
              <a:buChar char="●"/>
            </a:pPr>
            <a:r>
              <a:rPr lang="fr"/>
              <a:t>Salarié ?</a:t>
            </a:r>
            <a:endParaRPr/>
          </a:p>
          <a:p>
            <a:pPr indent="-311150" lvl="0" marL="457200" rtl="0" algn="l">
              <a:spcBef>
                <a:spcPts val="0"/>
              </a:spcBef>
              <a:spcAft>
                <a:spcPts val="0"/>
              </a:spcAft>
              <a:buSzPts val="1300"/>
              <a:buChar char="●"/>
            </a:pPr>
            <a:r>
              <a:rPr lang="fr"/>
              <a:t>Henrique</a:t>
            </a:r>
            <a:endParaRPr/>
          </a:p>
        </p:txBody>
      </p:sp>
      <p:pic>
        <p:nvPicPr>
          <p:cNvPr id="367" name="Google Shape;367;p43"/>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Coût</a:t>
            </a:r>
            <a:endParaRPr/>
          </a:p>
        </p:txBody>
      </p:sp>
      <p:sp>
        <p:nvSpPr>
          <p:cNvPr id="373" name="Google Shape;373;p44"/>
          <p:cNvSpPr txBox="1"/>
          <p:nvPr>
            <p:ph idx="1" type="body"/>
          </p:nvPr>
        </p:nvSpPr>
        <p:spPr>
          <a:xfrm>
            <a:off x="0" y="895425"/>
            <a:ext cx="9096900" cy="4248000"/>
          </a:xfrm>
          <a:prstGeom prst="rect">
            <a:avLst/>
          </a:prstGeom>
        </p:spPr>
        <p:txBody>
          <a:bodyPr anchorCtr="0" anchor="t" bIns="91425" lIns="91425" spcFirstLastPara="1" rIns="91425" wrap="square" tIns="91425">
            <a:normAutofit fontScale="55000" lnSpcReduction="20000"/>
          </a:bodyPr>
          <a:lstStyle/>
          <a:p>
            <a:pPr indent="-274002" lvl="0" marL="457200" rtl="0" algn="l">
              <a:spcBef>
                <a:spcPts val="0"/>
              </a:spcBef>
              <a:spcAft>
                <a:spcPts val="0"/>
              </a:spcAft>
              <a:buSzPct val="100000"/>
              <a:buChar char="●"/>
            </a:pPr>
            <a:r>
              <a:rPr lang="fr"/>
              <a:t>Expert comptable</a:t>
            </a:r>
            <a:endParaRPr/>
          </a:p>
          <a:p>
            <a:pPr indent="-274002" lvl="0" marL="457200" rtl="0" algn="l">
              <a:spcBef>
                <a:spcPts val="0"/>
              </a:spcBef>
              <a:spcAft>
                <a:spcPts val="0"/>
              </a:spcAft>
              <a:buSzPct val="100000"/>
              <a:buChar char="●"/>
            </a:pPr>
            <a:r>
              <a:rPr lang="fr"/>
              <a:t>Frais </a:t>
            </a:r>
            <a:r>
              <a:rPr lang="fr"/>
              <a:t>liés</a:t>
            </a:r>
            <a:r>
              <a:rPr lang="fr"/>
              <a:t> à la </a:t>
            </a:r>
            <a:r>
              <a:rPr lang="fr"/>
              <a:t>société</a:t>
            </a:r>
            <a:endParaRPr/>
          </a:p>
          <a:p>
            <a:pPr indent="-274002" lvl="0" marL="457200" rtl="0" algn="l">
              <a:spcBef>
                <a:spcPts val="0"/>
              </a:spcBef>
              <a:spcAft>
                <a:spcPts val="0"/>
              </a:spcAft>
              <a:buSzPct val="100000"/>
              <a:buChar char="●"/>
            </a:pPr>
            <a:r>
              <a:rPr lang="fr"/>
              <a:t>Abonnement URL</a:t>
            </a:r>
            <a:endParaRPr/>
          </a:p>
          <a:p>
            <a:pPr indent="-274002" lvl="0" marL="457200" rtl="0" algn="l">
              <a:spcBef>
                <a:spcPts val="0"/>
              </a:spcBef>
              <a:spcAft>
                <a:spcPts val="0"/>
              </a:spcAft>
              <a:buSzPct val="100000"/>
              <a:buChar char="●"/>
            </a:pPr>
            <a:r>
              <a:rPr lang="fr"/>
              <a:t>Commercial ?</a:t>
            </a:r>
            <a:endParaRPr/>
          </a:p>
          <a:p>
            <a:pPr indent="-274002" lvl="0" marL="457200" rtl="0" algn="l">
              <a:spcBef>
                <a:spcPts val="0"/>
              </a:spcBef>
              <a:spcAft>
                <a:spcPts val="0"/>
              </a:spcAft>
              <a:buSzPct val="100000"/>
              <a:buChar char="●"/>
            </a:pPr>
            <a:r>
              <a:rPr lang="fr"/>
              <a:t>Graphiste site internet</a:t>
            </a:r>
            <a:endParaRPr/>
          </a:p>
          <a:p>
            <a:pPr indent="0" lvl="0" marL="0" rtl="0" algn="l">
              <a:spcBef>
                <a:spcPts val="1200"/>
              </a:spcBef>
              <a:spcAft>
                <a:spcPts val="0"/>
              </a:spcAft>
              <a:buNone/>
            </a:pPr>
            <a:r>
              <a:rPr lang="fr"/>
              <a:t>Oui, pour lancer ton projet, il y a plusieurs postes de dépenses à prévoir au-delà du développement du site et de l’application. Voici un récapitulatif des principaux coûts à anticiper : </a:t>
            </a:r>
            <a:endParaRPr/>
          </a:p>
          <a:p>
            <a:pPr indent="0" lvl="0" marL="0" rtl="0" algn="l">
              <a:spcBef>
                <a:spcPts val="1200"/>
              </a:spcBef>
              <a:spcAft>
                <a:spcPts val="0"/>
              </a:spcAft>
              <a:buNone/>
            </a:pPr>
            <a:r>
              <a:rPr lang="fr"/>
              <a:t>1. Développement de l’Application et du Site Web  Estimation : 15 000 - 50 000 € (selon la complexité et le choix entre développement interne ou externalisé) • Développement web et mobile (iOS &amp; Android) • UX/UI design • Base de données et architecture cloud • Tests et corrections </a:t>
            </a:r>
            <a:endParaRPr/>
          </a:p>
          <a:p>
            <a:pPr indent="0" lvl="0" marL="0" rtl="0" algn="l">
              <a:spcBef>
                <a:spcPts val="1200"/>
              </a:spcBef>
              <a:spcAft>
                <a:spcPts val="0"/>
              </a:spcAft>
              <a:buNone/>
            </a:pPr>
            <a:r>
              <a:rPr lang="fr"/>
              <a:t>2. Hébergement, Sécurité et Maintenance  Estimation : 100 - 500 €/mois • Serveurs (AWS, OVH, Google Cloud…) • Certificats SSL pour sécuriser les paiements • Maintenance et mises à jour </a:t>
            </a:r>
            <a:endParaRPr/>
          </a:p>
          <a:p>
            <a:pPr indent="0" lvl="0" marL="0" rtl="0" algn="l">
              <a:spcBef>
                <a:spcPts val="1200"/>
              </a:spcBef>
              <a:spcAft>
                <a:spcPts val="0"/>
              </a:spcAft>
              <a:buNone/>
            </a:pPr>
            <a:r>
              <a:rPr lang="fr"/>
              <a:t>3. Frais Légaux et Administratifs  Estimation : 1 500 - 5 000 € • Rédaction des CGU/CGV (conditions générales d’utilisation et de vente) • Dépôt de marque (INPI) : environ 250 € • Statuts juridiques et création d’entreprise • Conseil juridique (avocat ou expert-comptable) </a:t>
            </a:r>
            <a:endParaRPr/>
          </a:p>
          <a:p>
            <a:pPr indent="0" lvl="0" marL="0" rtl="0" algn="l">
              <a:spcBef>
                <a:spcPts val="1200"/>
              </a:spcBef>
              <a:spcAft>
                <a:spcPts val="0"/>
              </a:spcAft>
              <a:buNone/>
            </a:pPr>
            <a:r>
              <a:rPr lang="fr"/>
              <a:t>4. Marketing et Acquisition de Clients  Estimation : 5 000 - 30 000 € • Publicité digitale (Google Ads, Facebook Ads, Instagram, LinkedIn…) • Création de contenu (articles, vidéos, tutoriels) • Référencement naturel (SEO) pour bien se positionner sur Google • Partenariats avec clubs et influenceurs sportifs </a:t>
            </a:r>
            <a:endParaRPr/>
          </a:p>
          <a:p>
            <a:pPr indent="0" lvl="0" marL="0" rtl="0" algn="l">
              <a:spcBef>
                <a:spcPts val="1200"/>
              </a:spcBef>
              <a:spcAft>
                <a:spcPts val="0"/>
              </a:spcAft>
              <a:buNone/>
            </a:pPr>
            <a:r>
              <a:rPr lang="fr"/>
              <a:t>5. Application et Moyens de Paiement  Estimation : 2 - 5 % des transactions • Intégration de Stripe ou PayPal pour les paiements • Commissions sur transactions (à prévoir dans le business model) </a:t>
            </a:r>
            <a:endParaRPr/>
          </a:p>
          <a:p>
            <a:pPr indent="0" lvl="0" marL="0" rtl="0" algn="l">
              <a:spcBef>
                <a:spcPts val="1200"/>
              </a:spcBef>
              <a:spcAft>
                <a:spcPts val="0"/>
              </a:spcAft>
              <a:buNone/>
            </a:pPr>
            <a:r>
              <a:rPr lang="fr"/>
              <a:t>6. Acquisition des Premiers Coachs et Clubs  Estimation : 5 000 - 15 000 € • Organisation d’événements de lancement • Offres promotionnelles (abonnements gratuits ou réduits au départ) • Démarchage et prospection (emails, salons, rendez-vous avec clubs et coachs) </a:t>
            </a:r>
            <a:endParaRPr/>
          </a:p>
          <a:p>
            <a:pPr indent="0" lvl="0" marL="0" rtl="0" algn="l">
              <a:spcBef>
                <a:spcPts val="1200"/>
              </a:spcBef>
              <a:spcAft>
                <a:spcPts val="0"/>
              </a:spcAft>
              <a:buNone/>
            </a:pPr>
            <a:r>
              <a:rPr lang="fr"/>
              <a:t>7. Support Client et Gestion des Utilisateurs  Estimation : 2 000 - 10 000 € • Mise en place d’un service client (chat en ligne, email, téléphone) • FAQ et documentation pour aider les utilisateurs • Gestion des litiges et remboursements éventuels </a:t>
            </a:r>
            <a:endParaRPr/>
          </a:p>
          <a:p>
            <a:pPr indent="0" lvl="0" marL="0" rtl="0" algn="l">
              <a:spcBef>
                <a:spcPts val="1200"/>
              </a:spcBef>
              <a:spcAft>
                <a:spcPts val="0"/>
              </a:spcAft>
              <a:buNone/>
            </a:pPr>
            <a:r>
              <a:rPr lang="fr"/>
              <a:t>8. Trésorerie et Fonds de Roulement  Estimation : 5 000 - 20 000 € • Anticipation des charges fixes (abonnements, salaires, imprévus) • Marges de sécurité pour assurer la stabilité financière </a:t>
            </a:r>
            <a:endParaRPr/>
          </a:p>
          <a:p>
            <a:pPr indent="0" lvl="0" marL="0" rtl="0" algn="l">
              <a:spcBef>
                <a:spcPts val="1200"/>
              </a:spcBef>
              <a:spcAft>
                <a:spcPts val="0"/>
              </a:spcAft>
              <a:buNone/>
            </a:pPr>
            <a:r>
              <a:rPr lang="fr"/>
              <a:t>TOTAL ESTIMÉ : 30 000 - 150 000 €  Le budget peut varier selon la stratégie adoptée (développement interne vs externalisation, marketing agressif ou progressif, etc.).  </a:t>
            </a:r>
            <a:endParaRPr/>
          </a:p>
          <a:p>
            <a:pPr indent="0" lvl="0" marL="0" rtl="0" algn="l">
              <a:spcBef>
                <a:spcPts val="1200"/>
              </a:spcBef>
              <a:spcAft>
                <a:spcPts val="1200"/>
              </a:spcAft>
              <a:buNone/>
            </a:pPr>
            <a:r>
              <a:rPr lang="fr"/>
              <a:t>Conseil : Si les fonds sont limités, il est possible de lancer un MVP (Minimum Viable Product) avec une version basique de l’application, en testant sur une région ou un sport avant d’étendre.</a:t>
            </a:r>
            <a:endParaRPr/>
          </a:p>
        </p:txBody>
      </p:sp>
      <p:pic>
        <p:nvPicPr>
          <p:cNvPr id="374" name="Google Shape;374;p44"/>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Estimation des coût</a:t>
            </a:r>
            <a:endParaRPr/>
          </a:p>
        </p:txBody>
      </p:sp>
      <p:pic>
        <p:nvPicPr>
          <p:cNvPr id="380" name="Google Shape;380;p45"/>
          <p:cNvPicPr preferRelativeResize="0"/>
          <p:nvPr/>
        </p:nvPicPr>
        <p:blipFill>
          <a:blip r:embed="rId3">
            <a:alphaModFix/>
          </a:blip>
          <a:stretch>
            <a:fillRect/>
          </a:stretch>
        </p:blipFill>
        <p:spPr>
          <a:xfrm>
            <a:off x="7063000" y="194475"/>
            <a:ext cx="1905000" cy="790575"/>
          </a:xfrm>
          <a:prstGeom prst="rect">
            <a:avLst/>
          </a:prstGeom>
          <a:noFill/>
          <a:ln>
            <a:noFill/>
          </a:ln>
        </p:spPr>
      </p:pic>
      <p:sp>
        <p:nvSpPr>
          <p:cNvPr id="381" name="Google Shape;381;p45"/>
          <p:cNvSpPr txBox="1"/>
          <p:nvPr/>
        </p:nvSpPr>
        <p:spPr>
          <a:xfrm>
            <a:off x="1172000" y="1045550"/>
            <a:ext cx="6058500" cy="427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300">
                <a:solidFill>
                  <a:schemeClr val="lt1"/>
                </a:solidFill>
                <a:latin typeface="Lato"/>
                <a:ea typeface="Lato"/>
                <a:cs typeface="Lato"/>
                <a:sym typeface="Lato"/>
              </a:rPr>
              <a:t>Le site dans son ensemble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fr" sz="1300">
                <a:solidFill>
                  <a:schemeClr val="lt1"/>
                </a:solidFill>
                <a:latin typeface="Lato"/>
                <a:ea typeface="Lato"/>
                <a:cs typeface="Lato"/>
                <a:sym typeface="Lato"/>
              </a:rPr>
              <a:t>40-50000 €</a:t>
            </a:r>
            <a:endParaRPr sz="1300">
              <a:solidFill>
                <a:schemeClr val="lt1"/>
              </a:solidFill>
              <a:latin typeface="Lato"/>
              <a:ea typeface="Lato"/>
              <a:cs typeface="Lato"/>
              <a:sym typeface="Lato"/>
            </a:endParaRPr>
          </a:p>
          <a:p>
            <a:pPr indent="0" lvl="0" marL="0" rtl="0" algn="l">
              <a:spcBef>
                <a:spcPts val="0"/>
              </a:spcBef>
              <a:spcAft>
                <a:spcPts val="0"/>
              </a:spcAft>
              <a:buNone/>
            </a:pPr>
            <a:r>
              <a:rPr lang="fr" sz="1300">
                <a:solidFill>
                  <a:schemeClr val="lt1"/>
                </a:solidFill>
                <a:latin typeface="Lato"/>
                <a:ea typeface="Lato"/>
                <a:cs typeface="Lato"/>
                <a:sym typeface="Lato"/>
              </a:rPr>
              <a:t>Frais </a:t>
            </a:r>
            <a:r>
              <a:rPr lang="fr" sz="1300">
                <a:solidFill>
                  <a:schemeClr val="lt1"/>
                </a:solidFill>
                <a:latin typeface="Lato"/>
                <a:ea typeface="Lato"/>
                <a:cs typeface="Lato"/>
                <a:sym typeface="Lato"/>
              </a:rPr>
              <a:t>Légaux</a:t>
            </a:r>
            <a:r>
              <a:rPr lang="fr" sz="1300">
                <a:solidFill>
                  <a:schemeClr val="lt1"/>
                </a:solidFill>
                <a:latin typeface="Lato"/>
                <a:ea typeface="Lato"/>
                <a:cs typeface="Lato"/>
                <a:sym typeface="Lato"/>
              </a:rPr>
              <a:t> et administratifs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fr" sz="1300">
                <a:solidFill>
                  <a:schemeClr val="lt1"/>
                </a:solidFill>
                <a:latin typeface="Lato"/>
                <a:ea typeface="Lato"/>
                <a:cs typeface="Lato"/>
                <a:sym typeface="Lato"/>
              </a:rPr>
              <a:t>1500 - 5000 €</a:t>
            </a:r>
            <a:endParaRPr sz="1300">
              <a:solidFill>
                <a:schemeClr val="lt1"/>
              </a:solidFill>
              <a:latin typeface="Lato"/>
              <a:ea typeface="Lato"/>
              <a:cs typeface="Lato"/>
              <a:sym typeface="Lato"/>
            </a:endParaRPr>
          </a:p>
          <a:p>
            <a:pPr indent="0" lvl="0" marL="0" rtl="0" algn="l">
              <a:spcBef>
                <a:spcPts val="0"/>
              </a:spcBef>
              <a:spcAft>
                <a:spcPts val="0"/>
              </a:spcAft>
              <a:buNone/>
            </a:pPr>
            <a:r>
              <a:rPr lang="fr" sz="1300">
                <a:solidFill>
                  <a:schemeClr val="lt1"/>
                </a:solidFill>
                <a:latin typeface="Lato"/>
                <a:ea typeface="Lato"/>
                <a:cs typeface="Lato"/>
                <a:sym typeface="Lato"/>
              </a:rPr>
              <a:t>Marketing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fr" sz="1300">
                <a:solidFill>
                  <a:schemeClr val="lt1"/>
                </a:solidFill>
                <a:latin typeface="Lato"/>
                <a:ea typeface="Lato"/>
                <a:cs typeface="Lato"/>
                <a:sym typeface="Lato"/>
              </a:rPr>
              <a:t>5000 - 30000 €</a:t>
            </a:r>
            <a:endParaRPr sz="13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fr" sz="1300">
                <a:solidFill>
                  <a:schemeClr val="lt1"/>
                </a:solidFill>
                <a:latin typeface="Lato"/>
                <a:ea typeface="Lato"/>
                <a:cs typeface="Lato"/>
                <a:sym typeface="Lato"/>
              </a:rPr>
              <a:t>Support Client et Gestion des Utilisateurs  Estimation :</a:t>
            </a:r>
            <a:endParaRPr sz="1300">
              <a:solidFill>
                <a:schemeClr val="lt1"/>
              </a:solidFill>
              <a:latin typeface="Lato"/>
              <a:ea typeface="Lato"/>
              <a:cs typeface="Lato"/>
              <a:sym typeface="Lato"/>
            </a:endParaRPr>
          </a:p>
          <a:p>
            <a:pPr indent="-311150" lvl="0" marL="457200" rtl="0" algn="l">
              <a:lnSpc>
                <a:spcPct val="115000"/>
              </a:lnSpc>
              <a:spcBef>
                <a:spcPts val="1200"/>
              </a:spcBef>
              <a:spcAft>
                <a:spcPts val="0"/>
              </a:spcAft>
              <a:buClr>
                <a:schemeClr val="lt1"/>
              </a:buClr>
              <a:buSzPts val="1300"/>
              <a:buFont typeface="Lato"/>
              <a:buChar char="●"/>
            </a:pPr>
            <a:r>
              <a:rPr lang="fr" sz="1300">
                <a:solidFill>
                  <a:schemeClr val="lt1"/>
                </a:solidFill>
                <a:latin typeface="Lato"/>
                <a:ea typeface="Lato"/>
                <a:cs typeface="Lato"/>
                <a:sym typeface="Lato"/>
              </a:rPr>
              <a:t>2000 - 10000 €</a:t>
            </a:r>
            <a:endParaRPr sz="13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lang="fr" sz="1300">
                <a:solidFill>
                  <a:schemeClr val="lt1"/>
                </a:solidFill>
                <a:latin typeface="Lato"/>
                <a:ea typeface="Lato"/>
                <a:cs typeface="Lato"/>
                <a:sym typeface="Lato"/>
              </a:rPr>
              <a:t>Trésorerie et Fonds de Roulement :</a:t>
            </a:r>
            <a:endParaRPr sz="1300">
              <a:solidFill>
                <a:schemeClr val="lt1"/>
              </a:solidFill>
              <a:latin typeface="Lato"/>
              <a:ea typeface="Lato"/>
              <a:cs typeface="Lato"/>
              <a:sym typeface="Lato"/>
            </a:endParaRPr>
          </a:p>
          <a:p>
            <a:pPr indent="-311150" lvl="0" marL="457200" rtl="0" algn="l">
              <a:lnSpc>
                <a:spcPct val="115000"/>
              </a:lnSpc>
              <a:spcBef>
                <a:spcPts val="1200"/>
              </a:spcBef>
              <a:spcAft>
                <a:spcPts val="0"/>
              </a:spcAft>
              <a:buClr>
                <a:schemeClr val="lt1"/>
              </a:buClr>
              <a:buSzPts val="1300"/>
              <a:buFont typeface="Lato"/>
              <a:buChar char="●"/>
            </a:pPr>
            <a:r>
              <a:rPr lang="fr" sz="1300">
                <a:solidFill>
                  <a:schemeClr val="lt1"/>
                </a:solidFill>
                <a:latin typeface="Lato"/>
                <a:ea typeface="Lato"/>
                <a:cs typeface="Lato"/>
                <a:sym typeface="Lato"/>
              </a:rPr>
              <a:t>5000 - 20000 €</a:t>
            </a:r>
            <a:endParaRPr sz="13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lang="fr" sz="1300">
                <a:solidFill>
                  <a:schemeClr val="lt1"/>
                </a:solidFill>
                <a:latin typeface="Lato"/>
                <a:ea typeface="Lato"/>
                <a:cs typeface="Lato"/>
                <a:sym typeface="Lato"/>
              </a:rPr>
              <a:t>Total : </a:t>
            </a:r>
            <a:endParaRPr sz="13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lang="fr" sz="1300">
                <a:solidFill>
                  <a:schemeClr val="lt1"/>
                </a:solidFill>
                <a:latin typeface="Lato"/>
                <a:ea typeface="Lato"/>
                <a:cs typeface="Lato"/>
                <a:sym typeface="Lato"/>
              </a:rPr>
              <a:t>Minimum 53 000 €</a:t>
            </a:r>
            <a:endParaRPr sz="1300">
              <a:solidFill>
                <a:schemeClr val="lt1"/>
              </a:solidFill>
              <a:latin typeface="Lato"/>
              <a:ea typeface="Lato"/>
              <a:cs typeface="Lato"/>
              <a:sym typeface="Lato"/>
            </a:endParaRPr>
          </a:p>
          <a:p>
            <a:pPr indent="0" lvl="0" marL="0" rtl="0" algn="l">
              <a:lnSpc>
                <a:spcPct val="115000"/>
              </a:lnSpc>
              <a:spcBef>
                <a:spcPts val="1200"/>
              </a:spcBef>
              <a:spcAft>
                <a:spcPts val="0"/>
              </a:spcAft>
              <a:buNone/>
            </a:pPr>
            <a:r>
              <a:rPr lang="fr" sz="1300">
                <a:solidFill>
                  <a:schemeClr val="lt1"/>
                </a:solidFill>
                <a:latin typeface="Lato"/>
                <a:ea typeface="Lato"/>
                <a:cs typeface="Lato"/>
                <a:sym typeface="Lato"/>
              </a:rPr>
              <a:t>Maximum 115 000 €</a:t>
            </a:r>
            <a:endParaRPr sz="1300">
              <a:solidFill>
                <a:schemeClr val="lt1"/>
              </a:solidFill>
              <a:latin typeface="Lato"/>
              <a:ea typeface="Lato"/>
              <a:cs typeface="Lato"/>
              <a:sym typeface="Lato"/>
            </a:endParaRPr>
          </a:p>
          <a:p>
            <a:pPr indent="0" lvl="0" marL="0" rtl="0" algn="l">
              <a:spcBef>
                <a:spcPts val="120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Liste de plate forme “concurrente”</a:t>
            </a:r>
            <a:endParaRPr/>
          </a:p>
        </p:txBody>
      </p:sp>
      <p:sp>
        <p:nvSpPr>
          <p:cNvPr id="387" name="Google Shape;387;p46"/>
          <p:cNvSpPr txBox="1"/>
          <p:nvPr>
            <p:ph idx="1" type="body"/>
          </p:nvPr>
        </p:nvSpPr>
        <p:spPr>
          <a:xfrm>
            <a:off x="180925" y="1567550"/>
            <a:ext cx="8155500" cy="3127800"/>
          </a:xfrm>
          <a:prstGeom prst="rect">
            <a:avLst/>
          </a:prstGeom>
        </p:spPr>
        <p:txBody>
          <a:bodyPr anchorCtr="0" anchor="t" bIns="91425" lIns="91425" spcFirstLastPara="1" rIns="91425" wrap="square" tIns="91425">
            <a:normAutofit fontScale="77500" lnSpcReduction="20000"/>
          </a:bodyPr>
          <a:lstStyle/>
          <a:p>
            <a:pPr indent="-292576" lvl="0" marL="457200" rtl="0" algn="l">
              <a:spcBef>
                <a:spcPts val="0"/>
              </a:spcBef>
              <a:spcAft>
                <a:spcPts val="0"/>
              </a:spcAft>
              <a:buSzPct val="100000"/>
              <a:buChar char="-"/>
            </a:pPr>
            <a:r>
              <a:rPr lang="fr"/>
              <a:t>Coach Hunter</a:t>
            </a:r>
            <a:endParaRPr/>
          </a:p>
          <a:p>
            <a:pPr indent="-292576" lvl="0" marL="457200" rtl="0" algn="l">
              <a:spcBef>
                <a:spcPts val="0"/>
              </a:spcBef>
              <a:spcAft>
                <a:spcPts val="0"/>
              </a:spcAft>
              <a:buSzPct val="100000"/>
              <a:buChar char="-"/>
            </a:pPr>
            <a:r>
              <a:rPr lang="fr"/>
              <a:t>Basket Nation</a:t>
            </a:r>
            <a:endParaRPr/>
          </a:p>
          <a:p>
            <a:pPr indent="-292576" lvl="0" marL="457200" rtl="0" algn="l">
              <a:spcBef>
                <a:spcPts val="0"/>
              </a:spcBef>
              <a:spcAft>
                <a:spcPts val="0"/>
              </a:spcAft>
              <a:buSzPct val="100000"/>
              <a:buChar char="-"/>
            </a:pPr>
            <a:r>
              <a:rPr lang="fr"/>
              <a:t>Playse</a:t>
            </a:r>
            <a:endParaRPr/>
          </a:p>
          <a:p>
            <a:pPr indent="-292576" lvl="0" marL="457200" rtl="0" algn="l">
              <a:spcBef>
                <a:spcPts val="0"/>
              </a:spcBef>
              <a:spcAft>
                <a:spcPts val="0"/>
              </a:spcAft>
              <a:buSzPct val="100000"/>
              <a:buChar char="-"/>
            </a:pPr>
            <a:r>
              <a:rPr lang="fr"/>
              <a:t>Digicoachme (pas de sport co)</a:t>
            </a:r>
            <a:endParaRPr/>
          </a:p>
          <a:p>
            <a:pPr indent="-292576" lvl="0" marL="457200" rtl="0" algn="l">
              <a:spcBef>
                <a:spcPts val="0"/>
              </a:spcBef>
              <a:spcAft>
                <a:spcPts val="0"/>
              </a:spcAft>
              <a:buSzPct val="100000"/>
              <a:buChar char="-"/>
            </a:pPr>
            <a:r>
              <a:rPr lang="fr"/>
              <a:t>trainme (pour les entreprises)</a:t>
            </a:r>
            <a:endParaRPr/>
          </a:p>
          <a:p>
            <a:pPr indent="-292576" lvl="0" marL="457200" rtl="0" algn="l">
              <a:spcBef>
                <a:spcPts val="0"/>
              </a:spcBef>
              <a:spcAft>
                <a:spcPts val="0"/>
              </a:spcAft>
              <a:buSzPct val="100000"/>
              <a:buChar char="-"/>
            </a:pPr>
            <a:r>
              <a:rPr lang="fr"/>
              <a:t>Hexfit</a:t>
            </a:r>
            <a:endParaRPr/>
          </a:p>
          <a:p>
            <a:pPr indent="-292576" lvl="0" marL="457200" rtl="0" algn="l">
              <a:spcBef>
                <a:spcPts val="0"/>
              </a:spcBef>
              <a:spcAft>
                <a:spcPts val="0"/>
              </a:spcAft>
              <a:buSzPct val="100000"/>
              <a:buChar char="-"/>
            </a:pPr>
            <a:r>
              <a:rPr lang="fr"/>
              <a:t>potesport =&gt; mise en relation direct, pas de com, pas de sport co</a:t>
            </a:r>
            <a:endParaRPr/>
          </a:p>
          <a:p>
            <a:pPr indent="-292576" lvl="0" marL="457200" rtl="0" algn="l">
              <a:spcBef>
                <a:spcPts val="0"/>
              </a:spcBef>
              <a:spcAft>
                <a:spcPts val="0"/>
              </a:spcAft>
              <a:buSzPct val="100000"/>
              <a:buChar char="-"/>
            </a:pPr>
            <a:r>
              <a:rPr lang="fr"/>
              <a:t>Trainme =&gt; pour les entreprise</a:t>
            </a:r>
            <a:endParaRPr/>
          </a:p>
          <a:p>
            <a:pPr indent="-292576" lvl="0" marL="457200" rtl="0" algn="l">
              <a:spcBef>
                <a:spcPts val="0"/>
              </a:spcBef>
              <a:spcAft>
                <a:spcPts val="0"/>
              </a:spcAft>
              <a:buSzPct val="100000"/>
              <a:buChar char="-"/>
            </a:pPr>
            <a:r>
              <a:rPr lang="fr"/>
              <a:t>Sportifeo </a:t>
            </a:r>
            <a:endParaRPr/>
          </a:p>
          <a:p>
            <a:pPr indent="-292576" lvl="0" marL="457200" rtl="0" algn="l">
              <a:spcBef>
                <a:spcPts val="0"/>
              </a:spcBef>
              <a:spcAft>
                <a:spcPts val="0"/>
              </a:spcAft>
              <a:buSzPct val="100000"/>
              <a:buChar char="-"/>
            </a:pPr>
            <a:r>
              <a:rPr lang="fr"/>
              <a:t>Ball’nconnect</a:t>
            </a:r>
            <a:endParaRPr/>
          </a:p>
          <a:p>
            <a:pPr indent="-292576" lvl="0" marL="457200" rtl="0" algn="l">
              <a:spcBef>
                <a:spcPts val="0"/>
              </a:spcBef>
              <a:spcAft>
                <a:spcPts val="0"/>
              </a:spcAft>
              <a:buSzPct val="100000"/>
              <a:buChar char="-"/>
            </a:pPr>
            <a:r>
              <a:rPr lang="fr"/>
              <a:t>Ownsport</a:t>
            </a:r>
            <a:endParaRPr/>
          </a:p>
          <a:p>
            <a:pPr indent="-292576" lvl="0" marL="457200" rtl="0" algn="l">
              <a:spcBef>
                <a:spcPts val="0"/>
              </a:spcBef>
              <a:spcAft>
                <a:spcPts val="0"/>
              </a:spcAft>
              <a:buSzPct val="100000"/>
              <a:buChar char="-"/>
            </a:pPr>
            <a:r>
              <a:rPr lang="fr"/>
              <a:t>Jemepropose</a:t>
            </a:r>
            <a:endParaRPr/>
          </a:p>
          <a:p>
            <a:pPr indent="-292576" lvl="0" marL="457200" rtl="0" algn="l">
              <a:spcBef>
                <a:spcPts val="0"/>
              </a:spcBef>
              <a:spcAft>
                <a:spcPts val="0"/>
              </a:spcAft>
              <a:buSzPct val="100000"/>
              <a:buChar char="-"/>
            </a:pPr>
            <a:r>
              <a:rPr lang="fr"/>
              <a:t>Aladom</a:t>
            </a:r>
            <a:endParaRPr/>
          </a:p>
          <a:p>
            <a:pPr indent="-292576" lvl="0" marL="457200" rtl="0" algn="l">
              <a:spcBef>
                <a:spcPts val="0"/>
              </a:spcBef>
              <a:spcAft>
                <a:spcPts val="0"/>
              </a:spcAft>
              <a:buSzPct val="118181"/>
              <a:buChar char="-"/>
            </a:pPr>
            <a:r>
              <a:rPr lang="fr" sz="1100" u="sng">
                <a:solidFill>
                  <a:schemeClr val="hlink"/>
                </a:solidFill>
                <a:latin typeface="Arial"/>
                <a:ea typeface="Arial"/>
                <a:cs typeface="Arial"/>
                <a:sym typeface="Arial"/>
                <a:hlinkClick r:id="rId3"/>
              </a:rPr>
              <a:t>Mari Seznec - Coach Sportif à Pont-l'Abbé | Resalib</a:t>
            </a:r>
            <a:endParaRPr/>
          </a:p>
          <a:p>
            <a:pPr indent="-292576" lvl="0" marL="457200" rtl="0" algn="l">
              <a:spcBef>
                <a:spcPts val="0"/>
              </a:spcBef>
              <a:spcAft>
                <a:spcPts val="0"/>
              </a:spcAft>
              <a:buSzPct val="100000"/>
              <a:buChar char="-"/>
            </a:pPr>
            <a:r>
              <a:rPr lang="fr"/>
              <a:t>Gaming </a:t>
            </a:r>
            <a:endParaRPr/>
          </a:p>
          <a:p>
            <a:pPr indent="-282733" lvl="1" marL="914400" rtl="0" algn="l">
              <a:spcBef>
                <a:spcPts val="0"/>
              </a:spcBef>
              <a:spcAft>
                <a:spcPts val="0"/>
              </a:spcAft>
              <a:buSzPct val="100000"/>
              <a:buChar char="-"/>
            </a:pPr>
            <a:r>
              <a:rPr lang="fr"/>
              <a:t> </a:t>
            </a:r>
            <a:r>
              <a:rPr lang="fr" sz="1100" u="sng">
                <a:solidFill>
                  <a:schemeClr val="hlink"/>
                </a:solidFill>
                <a:latin typeface="Arial"/>
                <a:ea typeface="Arial"/>
                <a:cs typeface="Arial"/>
                <a:sym typeface="Arial"/>
                <a:hlinkClick r:id="rId4"/>
              </a:rPr>
              <a:t>GoodJob.gg : plateforme de recrutement Esport</a:t>
            </a:r>
            <a:endParaRPr/>
          </a:p>
          <a:p>
            <a:pPr indent="-282733" lvl="1" marL="914400" rtl="0" algn="l">
              <a:spcBef>
                <a:spcPts val="0"/>
              </a:spcBef>
              <a:spcAft>
                <a:spcPts val="0"/>
              </a:spcAft>
              <a:buSzPct val="100000"/>
              <a:buChar char="-"/>
            </a:pPr>
            <a:r>
              <a:rPr lang="fr" u="sng">
                <a:solidFill>
                  <a:schemeClr val="hlink"/>
                </a:solidFill>
                <a:hlinkClick r:id="rId5"/>
              </a:rPr>
              <a:t>https://www.bing.com/ck/a?!&amp;&amp;p=0d475724fb989b5d8c7e209ced8e822c209a731cbbaa155637111c5f5bf1dddfJmltdHM9MTczODI4MTYwMA&amp;ptn=3&amp;ver=2&amp;hsh=4&amp;fclid=08a0fbb0-f758-65c9-2b65-efa3f6856477&amp;psq=recherche+coaching+E-sport&amp;u=a1aHR0cHM6Ly9wb2xlLWVzcG9ydC5mci9jb2FjaGluZy8&amp;ntb=1</a:t>
            </a:r>
            <a:endParaRPr/>
          </a:p>
          <a:p>
            <a:pPr indent="-282733" lvl="1" marL="914400" rtl="0" algn="l">
              <a:spcBef>
                <a:spcPts val="0"/>
              </a:spcBef>
              <a:spcAft>
                <a:spcPts val="0"/>
              </a:spcAft>
              <a:buSzPct val="100000"/>
              <a:buChar char="-"/>
            </a:pPr>
            <a:r>
              <a:t/>
            </a:r>
            <a:endParaRPr/>
          </a:p>
        </p:txBody>
      </p:sp>
      <p:pic>
        <p:nvPicPr>
          <p:cNvPr id="388" name="Google Shape;388;p46"/>
          <p:cNvPicPr preferRelativeResize="0"/>
          <p:nvPr/>
        </p:nvPicPr>
        <p:blipFill>
          <a:blip r:embed="rId6">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Annuaire / Annonce</a:t>
            </a:r>
            <a:endParaRPr/>
          </a:p>
        </p:txBody>
      </p:sp>
      <p:sp>
        <p:nvSpPr>
          <p:cNvPr id="394" name="Google Shape;394;p4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100" u="sng">
                <a:solidFill>
                  <a:schemeClr val="hlink"/>
                </a:solidFill>
                <a:latin typeface="Arial"/>
                <a:ea typeface="Arial"/>
                <a:cs typeface="Arial"/>
                <a:sym typeface="Arial"/>
                <a:hlinkClick r:id="rId3"/>
              </a:rPr>
              <a:t>Annuaire des coachs sportifs en 2025</a:t>
            </a:r>
            <a:endParaRPr/>
          </a:p>
          <a:p>
            <a:pPr indent="0" lvl="0" marL="0" rtl="0" algn="l">
              <a:spcBef>
                <a:spcPts val="1200"/>
              </a:spcBef>
              <a:spcAft>
                <a:spcPts val="0"/>
              </a:spcAft>
              <a:buNone/>
            </a:pPr>
            <a:r>
              <a:rPr lang="fr" sz="1100" u="sng">
                <a:solidFill>
                  <a:schemeClr val="hlink"/>
                </a:solidFill>
                <a:latin typeface="Arial"/>
                <a:ea typeface="Arial"/>
                <a:cs typeface="Arial"/>
                <a:sym typeface="Arial"/>
                <a:hlinkClick r:id="rId4"/>
              </a:rPr>
              <a:t>Coaching sportif</a:t>
            </a:r>
            <a:endParaRPr/>
          </a:p>
          <a:p>
            <a:pPr indent="0" lvl="0" marL="0" rtl="0" algn="l">
              <a:spcBef>
                <a:spcPts val="1200"/>
              </a:spcBef>
              <a:spcAft>
                <a:spcPts val="0"/>
              </a:spcAft>
              <a:buNone/>
            </a:pPr>
            <a:r>
              <a:rPr lang="fr" sz="1100" u="sng">
                <a:solidFill>
                  <a:schemeClr val="hlink"/>
                </a:solidFill>
                <a:latin typeface="Arial"/>
                <a:ea typeface="Arial"/>
                <a:cs typeface="Arial"/>
                <a:sym typeface="Arial"/>
                <a:hlinkClick r:id="rId5"/>
              </a:rPr>
              <a:t>Annuaire coach sportif</a:t>
            </a:r>
            <a:endParaRPr/>
          </a:p>
          <a:p>
            <a:pPr indent="0" lvl="0" marL="0" rtl="0" algn="l">
              <a:spcBef>
                <a:spcPts val="1200"/>
              </a:spcBef>
              <a:spcAft>
                <a:spcPts val="0"/>
              </a:spcAft>
              <a:buNone/>
            </a:pPr>
            <a:r>
              <a:rPr lang="fr" sz="1100" u="sng">
                <a:solidFill>
                  <a:schemeClr val="hlink"/>
                </a:solidFill>
                <a:latin typeface="Arial"/>
                <a:ea typeface="Arial"/>
                <a:cs typeface="Arial"/>
                <a:sym typeface="Arial"/>
                <a:hlinkClick r:id="rId6"/>
              </a:rPr>
              <a:t>Coach sportif en Nouvelle-Aquitaine - Coachs personnels de sport dès 9€/h</a:t>
            </a:r>
            <a:endParaRPr/>
          </a:p>
          <a:p>
            <a:pPr indent="0" lvl="0" marL="0" rtl="0" algn="l">
              <a:spcBef>
                <a:spcPts val="1200"/>
              </a:spcBef>
              <a:spcAft>
                <a:spcPts val="1200"/>
              </a:spcAft>
              <a:buNone/>
            </a:pPr>
            <a:r>
              <a:rPr lang="fr" sz="1100" u="sng">
                <a:solidFill>
                  <a:schemeClr val="hlink"/>
                </a:solidFill>
                <a:latin typeface="Arial"/>
                <a:ea typeface="Arial"/>
                <a:cs typeface="Arial"/>
                <a:sym typeface="Arial"/>
                <a:hlinkClick r:id="rId7"/>
              </a:rPr>
              <a:t>Annuaire des coachs sportifs</a:t>
            </a:r>
            <a:endParaRPr/>
          </a:p>
        </p:txBody>
      </p:sp>
      <p:pic>
        <p:nvPicPr>
          <p:cNvPr id="395" name="Google Shape;395;p47"/>
          <p:cNvPicPr preferRelativeResize="0"/>
          <p:nvPr/>
        </p:nvPicPr>
        <p:blipFill>
          <a:blip r:embed="rId8">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Idée nom de la plateforme</a:t>
            </a:r>
            <a:endParaRPr/>
          </a:p>
        </p:txBody>
      </p:sp>
      <p:sp>
        <p:nvSpPr>
          <p:cNvPr id="401" name="Google Shape;401;p4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32500" lnSpcReduction="20000"/>
          </a:bodyPr>
          <a:lstStyle/>
          <a:p>
            <a:pPr indent="0" lvl="0" marL="0" rtl="0" algn="l">
              <a:spcBef>
                <a:spcPts val="0"/>
              </a:spcBef>
              <a:spcAft>
                <a:spcPts val="0"/>
              </a:spcAft>
              <a:buNone/>
            </a:pPr>
            <a:r>
              <a:rPr lang="fr" sz="4625"/>
              <a:t>Coach World					MyOwnCoach (MOC)</a:t>
            </a:r>
            <a:endParaRPr sz="4625"/>
          </a:p>
          <a:p>
            <a:pPr indent="0" lvl="0" marL="0" rtl="0" algn="l">
              <a:spcBef>
                <a:spcPts val="1200"/>
              </a:spcBef>
              <a:spcAft>
                <a:spcPts val="0"/>
              </a:spcAft>
              <a:buNone/>
            </a:pPr>
            <a:r>
              <a:rPr lang="fr" sz="4625">
                <a:solidFill>
                  <a:srgbClr val="FF0000"/>
                </a:solidFill>
              </a:rPr>
              <a:t>GetYourMentor (GYM) 	</a:t>
            </a:r>
            <a:r>
              <a:rPr lang="fr" sz="4625"/>
              <a:t>		</a:t>
            </a:r>
            <a:endParaRPr sz="4625"/>
          </a:p>
          <a:p>
            <a:pPr indent="0" lvl="0" marL="0" rtl="0" algn="l">
              <a:spcBef>
                <a:spcPts val="1200"/>
              </a:spcBef>
              <a:spcAft>
                <a:spcPts val="0"/>
              </a:spcAft>
              <a:buNone/>
            </a:pPr>
            <a:r>
              <a:rPr lang="fr" sz="4625"/>
              <a:t>Sport’S Connections (S’sC)</a:t>
            </a:r>
            <a:endParaRPr sz="4625"/>
          </a:p>
          <a:p>
            <a:pPr indent="0" lvl="0" marL="0" rtl="0" algn="l">
              <a:spcBef>
                <a:spcPts val="1200"/>
              </a:spcBef>
              <a:spcAft>
                <a:spcPts val="0"/>
              </a:spcAft>
              <a:buNone/>
            </a:pPr>
            <a:r>
              <a:rPr lang="fr" sz="4625"/>
              <a:t>boostUrPrac</a:t>
            </a:r>
            <a:endParaRPr sz="4625"/>
          </a:p>
          <a:p>
            <a:pPr indent="0" lvl="0" marL="0" rtl="0" algn="l">
              <a:spcBef>
                <a:spcPts val="1200"/>
              </a:spcBef>
              <a:spcAft>
                <a:spcPts val="0"/>
              </a:spcAft>
              <a:buNone/>
            </a:pPr>
            <a:r>
              <a:rPr lang="fr" sz="4625"/>
              <a:t>My future</a:t>
            </a:r>
            <a:endParaRPr sz="4625"/>
          </a:p>
          <a:p>
            <a:pPr indent="0" lvl="0" marL="0" rtl="0" algn="l">
              <a:spcBef>
                <a:spcPts val="1200"/>
              </a:spcBef>
              <a:spcAft>
                <a:spcPts val="0"/>
              </a:spcAft>
              <a:buNone/>
            </a:pPr>
            <a:r>
              <a:rPr lang="fr" sz="4625"/>
              <a:t>Just Work</a:t>
            </a:r>
            <a:endParaRPr sz="4625"/>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402" name="Google Shape;402;p48"/>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9"/>
          <p:cNvSpPr txBox="1"/>
          <p:nvPr>
            <p:ph type="title"/>
          </p:nvPr>
        </p:nvSpPr>
        <p:spPr>
          <a:xfrm>
            <a:off x="1240550" y="428000"/>
            <a:ext cx="79308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Trajectoire de réalisation</a:t>
            </a:r>
            <a:endParaRPr/>
          </a:p>
        </p:txBody>
      </p:sp>
      <p:sp>
        <p:nvSpPr>
          <p:cNvPr id="408" name="Google Shape;408;p49"/>
          <p:cNvSpPr/>
          <p:nvPr/>
        </p:nvSpPr>
        <p:spPr>
          <a:xfrm>
            <a:off x="111955" y="2470836"/>
            <a:ext cx="2358000" cy="486000"/>
          </a:xfrm>
          <a:prstGeom prst="homePlate">
            <a:avLst>
              <a:gd fmla="val 50000" name="adj"/>
            </a:avLst>
          </a:prstGeom>
          <a:solidFill>
            <a:srgbClr val="FFD100"/>
          </a:solidFill>
          <a:ln cap="flat" cmpd="sng" w="28575">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000">
                <a:latin typeface="Kumbh Sans"/>
                <a:ea typeface="Kumbh Sans"/>
                <a:cs typeface="Kumbh Sans"/>
                <a:sym typeface="Kumbh Sans"/>
              </a:rPr>
              <a:t>Concept</a:t>
            </a:r>
            <a:endParaRPr sz="1000">
              <a:latin typeface="Kumbh Sans"/>
              <a:ea typeface="Kumbh Sans"/>
              <a:cs typeface="Kumbh Sans"/>
              <a:sym typeface="Kumbh Sans"/>
            </a:endParaRPr>
          </a:p>
        </p:txBody>
      </p:sp>
      <p:sp>
        <p:nvSpPr>
          <p:cNvPr id="409" name="Google Shape;409;p49"/>
          <p:cNvSpPr/>
          <p:nvPr/>
        </p:nvSpPr>
        <p:spPr>
          <a:xfrm>
            <a:off x="2283650" y="2458850"/>
            <a:ext cx="4481700" cy="506400"/>
          </a:xfrm>
          <a:prstGeom prst="chevron">
            <a:avLst>
              <a:gd fmla="val 50000" name="adj"/>
            </a:avLst>
          </a:prstGeom>
          <a:solidFill>
            <a:srgbClr val="A10455"/>
          </a:solidFill>
          <a:ln cap="flat" cmpd="sng" w="9525">
            <a:solidFill>
              <a:srgbClr val="A1045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000">
                <a:solidFill>
                  <a:schemeClr val="dk1"/>
                </a:solidFill>
                <a:latin typeface="Kumbh Sans"/>
                <a:ea typeface="Kumbh Sans"/>
                <a:cs typeface="Kumbh Sans"/>
                <a:sym typeface="Kumbh Sans"/>
              </a:rPr>
              <a:t>Création du site</a:t>
            </a:r>
            <a:endParaRPr sz="1000">
              <a:solidFill>
                <a:schemeClr val="dk1"/>
              </a:solidFill>
              <a:latin typeface="Kumbh Sans"/>
              <a:ea typeface="Kumbh Sans"/>
              <a:cs typeface="Kumbh Sans"/>
              <a:sym typeface="Kumbh Sans"/>
            </a:endParaRPr>
          </a:p>
        </p:txBody>
      </p:sp>
      <p:sp>
        <p:nvSpPr>
          <p:cNvPr id="410" name="Google Shape;410;p49"/>
          <p:cNvSpPr txBox="1"/>
          <p:nvPr/>
        </p:nvSpPr>
        <p:spPr>
          <a:xfrm>
            <a:off x="182080" y="3042300"/>
            <a:ext cx="2048400" cy="7080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fr" sz="800">
                <a:solidFill>
                  <a:srgbClr val="FFFF00"/>
                </a:solidFill>
                <a:latin typeface="Kumbh Sans"/>
                <a:ea typeface="Kumbh Sans"/>
                <a:cs typeface="Kumbh Sans"/>
                <a:sym typeface="Kumbh Sans"/>
              </a:rPr>
              <a:t>Janvier 2024- Mars 2025</a:t>
            </a:r>
            <a:endParaRPr b="1" sz="800">
              <a:solidFill>
                <a:srgbClr val="FFFF00"/>
              </a:solidFill>
              <a:latin typeface="Kumbh Sans"/>
              <a:ea typeface="Kumbh Sans"/>
              <a:cs typeface="Kumbh Sans"/>
              <a:sym typeface="Kumbh Sans"/>
            </a:endParaRPr>
          </a:p>
          <a:p>
            <a:pPr indent="0" lvl="0" marL="457200" marR="0" rtl="0" algn="l">
              <a:spcBef>
                <a:spcPts val="0"/>
              </a:spcBef>
              <a:spcAft>
                <a:spcPts val="0"/>
              </a:spcAft>
              <a:buNone/>
            </a:pPr>
            <a:r>
              <a:t/>
            </a:r>
            <a:endParaRPr sz="800">
              <a:latin typeface="Kumbh Sans"/>
              <a:ea typeface="Kumbh Sans"/>
              <a:cs typeface="Kumbh Sans"/>
              <a:sym typeface="Kumbh Sans"/>
            </a:endParaRPr>
          </a:p>
          <a:p>
            <a:pPr indent="-140799" lvl="0" marL="89999" marR="0" rtl="0" algn="l">
              <a:spcBef>
                <a:spcPts val="0"/>
              </a:spcBef>
              <a:spcAft>
                <a:spcPts val="0"/>
              </a:spcAft>
              <a:buClr>
                <a:srgbClr val="666666"/>
              </a:buClr>
              <a:buSzPts val="800"/>
              <a:buFont typeface="Kumbh Sans"/>
              <a:buChar char="●"/>
            </a:pPr>
            <a:r>
              <a:rPr lang="fr" sz="800">
                <a:solidFill>
                  <a:srgbClr val="666666"/>
                </a:solidFill>
                <a:latin typeface="Kumbh Sans"/>
                <a:ea typeface="Kumbh Sans"/>
                <a:cs typeface="Kumbh Sans"/>
                <a:sym typeface="Kumbh Sans"/>
              </a:rPr>
              <a:t>Définition du concept</a:t>
            </a:r>
            <a:endParaRPr sz="800">
              <a:solidFill>
                <a:srgbClr val="666666"/>
              </a:solidFill>
              <a:latin typeface="Kumbh Sans"/>
              <a:ea typeface="Kumbh Sans"/>
              <a:cs typeface="Kumbh Sans"/>
              <a:sym typeface="Kumbh Sans"/>
            </a:endParaRPr>
          </a:p>
          <a:p>
            <a:pPr indent="-140799" lvl="0" marL="89999" marR="0" rtl="0" algn="l">
              <a:spcBef>
                <a:spcPts val="0"/>
              </a:spcBef>
              <a:spcAft>
                <a:spcPts val="0"/>
              </a:spcAft>
              <a:buClr>
                <a:srgbClr val="666666"/>
              </a:buClr>
              <a:buSzPts val="800"/>
              <a:buFont typeface="Kumbh Sans"/>
              <a:buChar char="●"/>
            </a:pPr>
            <a:r>
              <a:rPr lang="fr" sz="800">
                <a:solidFill>
                  <a:srgbClr val="666666"/>
                </a:solidFill>
                <a:latin typeface="Kumbh Sans"/>
                <a:ea typeface="Kumbh Sans"/>
                <a:cs typeface="Kumbh Sans"/>
                <a:sym typeface="Kumbh Sans"/>
              </a:rPr>
              <a:t>Finalisation du Business Plan</a:t>
            </a:r>
            <a:endParaRPr sz="800">
              <a:solidFill>
                <a:srgbClr val="666666"/>
              </a:solidFill>
              <a:latin typeface="Kumbh Sans"/>
              <a:ea typeface="Kumbh Sans"/>
              <a:cs typeface="Kumbh Sans"/>
              <a:sym typeface="Kumbh Sans"/>
            </a:endParaRPr>
          </a:p>
          <a:p>
            <a:pPr indent="-140799" lvl="0" marL="89999" marR="0" rtl="0" algn="l">
              <a:spcBef>
                <a:spcPts val="0"/>
              </a:spcBef>
              <a:spcAft>
                <a:spcPts val="0"/>
              </a:spcAft>
              <a:buClr>
                <a:srgbClr val="666666"/>
              </a:buClr>
              <a:buSzPts val="800"/>
              <a:buFont typeface="Kumbh Sans"/>
              <a:buChar char="●"/>
            </a:pPr>
            <a:r>
              <a:rPr lang="fr" sz="800">
                <a:solidFill>
                  <a:srgbClr val="666666"/>
                </a:solidFill>
                <a:latin typeface="Kumbh Sans"/>
                <a:ea typeface="Kumbh Sans"/>
                <a:cs typeface="Kumbh Sans"/>
                <a:sym typeface="Kumbh Sans"/>
              </a:rPr>
              <a:t>Elaboration de la mise en marché</a:t>
            </a:r>
            <a:endParaRPr sz="800">
              <a:solidFill>
                <a:srgbClr val="666666"/>
              </a:solidFill>
              <a:latin typeface="Kumbh Sans"/>
              <a:ea typeface="Kumbh Sans"/>
              <a:cs typeface="Kumbh Sans"/>
              <a:sym typeface="Kumbh Sans"/>
            </a:endParaRPr>
          </a:p>
        </p:txBody>
      </p:sp>
      <p:sp>
        <p:nvSpPr>
          <p:cNvPr id="411" name="Google Shape;411;p49"/>
          <p:cNvSpPr txBox="1"/>
          <p:nvPr/>
        </p:nvSpPr>
        <p:spPr>
          <a:xfrm>
            <a:off x="3374183" y="1889325"/>
            <a:ext cx="2465100" cy="4617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fr" sz="800">
                <a:solidFill>
                  <a:srgbClr val="990000"/>
                </a:solidFill>
                <a:latin typeface="Montserrat"/>
                <a:ea typeface="Montserrat"/>
                <a:cs typeface="Montserrat"/>
                <a:sym typeface="Montserrat"/>
              </a:rPr>
              <a:t>Mars 2025 - Mars</a:t>
            </a:r>
            <a:r>
              <a:rPr b="1" lang="fr" sz="800">
                <a:solidFill>
                  <a:srgbClr val="85200C"/>
                </a:solidFill>
                <a:latin typeface="Montserrat"/>
                <a:ea typeface="Montserrat"/>
                <a:cs typeface="Montserrat"/>
                <a:sym typeface="Montserrat"/>
              </a:rPr>
              <a:t> 2026</a:t>
            </a:r>
            <a:endParaRPr sz="800">
              <a:latin typeface="Montserrat"/>
              <a:ea typeface="Montserrat"/>
              <a:cs typeface="Montserrat"/>
              <a:sym typeface="Montserrat"/>
            </a:endParaRPr>
          </a:p>
          <a:p>
            <a:pPr indent="0" lvl="0" marL="0" marR="0" rtl="0" algn="l">
              <a:spcBef>
                <a:spcPts val="0"/>
              </a:spcBef>
              <a:spcAft>
                <a:spcPts val="0"/>
              </a:spcAft>
              <a:buNone/>
            </a:pPr>
            <a:r>
              <a:rPr lang="fr" sz="800">
                <a:solidFill>
                  <a:srgbClr val="666666"/>
                </a:solidFill>
                <a:latin typeface="Kumbh Sans"/>
                <a:ea typeface="Kumbh Sans"/>
                <a:cs typeface="Kumbh Sans"/>
                <a:sym typeface="Kumbh Sans"/>
              </a:rPr>
              <a:t>Développeur</a:t>
            </a:r>
            <a:r>
              <a:rPr lang="fr" sz="800">
                <a:solidFill>
                  <a:srgbClr val="666666"/>
                </a:solidFill>
                <a:latin typeface="Kumbh Sans"/>
                <a:ea typeface="Kumbh Sans"/>
                <a:cs typeface="Kumbh Sans"/>
                <a:sym typeface="Kumbh Sans"/>
              </a:rPr>
              <a:t> web</a:t>
            </a:r>
            <a:endParaRPr sz="800">
              <a:solidFill>
                <a:srgbClr val="666666"/>
              </a:solidFill>
              <a:latin typeface="Kumbh Sans"/>
              <a:ea typeface="Kumbh Sans"/>
              <a:cs typeface="Kumbh Sans"/>
              <a:sym typeface="Kumbh Sans"/>
            </a:endParaRPr>
          </a:p>
          <a:p>
            <a:pPr indent="0" lvl="0" marL="0" marR="0" rtl="0" algn="l">
              <a:spcBef>
                <a:spcPts val="0"/>
              </a:spcBef>
              <a:spcAft>
                <a:spcPts val="0"/>
              </a:spcAft>
              <a:buNone/>
            </a:pPr>
            <a:r>
              <a:rPr lang="fr" sz="800">
                <a:solidFill>
                  <a:srgbClr val="666666"/>
                </a:solidFill>
                <a:latin typeface="Kumbh Sans"/>
                <a:ea typeface="Kumbh Sans"/>
                <a:cs typeface="Kumbh Sans"/>
                <a:sym typeface="Kumbh Sans"/>
              </a:rPr>
              <a:t>Graphiste</a:t>
            </a:r>
            <a:endParaRPr sz="800">
              <a:solidFill>
                <a:srgbClr val="666666"/>
              </a:solidFill>
              <a:latin typeface="Kumbh Sans"/>
              <a:ea typeface="Kumbh Sans"/>
              <a:cs typeface="Kumbh Sans"/>
              <a:sym typeface="Kumbh Sans"/>
            </a:endParaRPr>
          </a:p>
        </p:txBody>
      </p:sp>
      <p:sp>
        <p:nvSpPr>
          <p:cNvPr id="412" name="Google Shape;412;p49"/>
          <p:cNvSpPr/>
          <p:nvPr/>
        </p:nvSpPr>
        <p:spPr>
          <a:xfrm>
            <a:off x="2246159" y="3232836"/>
            <a:ext cx="2358600" cy="487200"/>
          </a:xfrm>
          <a:prstGeom prst="chevron">
            <a:avLst>
              <a:gd fmla="val 50000" name="adj"/>
            </a:avLst>
          </a:prstGeom>
          <a:solidFill>
            <a:srgbClr val="4A86E8"/>
          </a:solidFill>
          <a:ln cap="flat" cmpd="sng" w="28575">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fr" sz="1000">
                <a:latin typeface="Kumbh Sans"/>
                <a:ea typeface="Kumbh Sans"/>
                <a:cs typeface="Kumbh Sans"/>
                <a:sym typeface="Kumbh Sans"/>
              </a:rPr>
              <a:t>Marketing</a:t>
            </a:r>
            <a:endParaRPr sz="1000">
              <a:latin typeface="Kumbh Sans"/>
              <a:ea typeface="Kumbh Sans"/>
              <a:cs typeface="Kumbh Sans"/>
              <a:sym typeface="Kumbh Sans"/>
            </a:endParaRPr>
          </a:p>
        </p:txBody>
      </p:sp>
      <p:sp>
        <p:nvSpPr>
          <p:cNvPr id="413" name="Google Shape;413;p49"/>
          <p:cNvSpPr txBox="1"/>
          <p:nvPr/>
        </p:nvSpPr>
        <p:spPr>
          <a:xfrm>
            <a:off x="2581874" y="3829825"/>
            <a:ext cx="2288400" cy="10773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fr" sz="800">
                <a:solidFill>
                  <a:srgbClr val="4A86E8"/>
                </a:solidFill>
                <a:latin typeface="Kumbh Sans"/>
                <a:ea typeface="Kumbh Sans"/>
                <a:cs typeface="Kumbh Sans"/>
                <a:sym typeface="Kumbh Sans"/>
              </a:rPr>
              <a:t>Etape 1 :</a:t>
            </a:r>
            <a:endParaRPr b="1" sz="800">
              <a:solidFill>
                <a:srgbClr val="4A86E8"/>
              </a:solidFill>
              <a:latin typeface="Kumbh Sans"/>
              <a:ea typeface="Kumbh Sans"/>
              <a:cs typeface="Kumbh Sans"/>
              <a:sym typeface="Kumbh Sans"/>
            </a:endParaRPr>
          </a:p>
          <a:p>
            <a:pPr indent="-279400" lvl="0" marL="457200" marR="0" rtl="0" algn="l">
              <a:spcBef>
                <a:spcPts val="0"/>
              </a:spcBef>
              <a:spcAft>
                <a:spcPts val="0"/>
              </a:spcAft>
              <a:buClr>
                <a:srgbClr val="434C5D"/>
              </a:buClr>
              <a:buSzPts val="800"/>
              <a:buFont typeface="Kumbh Sans"/>
              <a:buChar char="●"/>
            </a:pPr>
            <a:r>
              <a:rPr b="1" lang="fr" sz="800">
                <a:solidFill>
                  <a:srgbClr val="434C5D"/>
                </a:solidFill>
                <a:latin typeface="Kumbh Sans"/>
                <a:ea typeface="Kumbh Sans"/>
                <a:cs typeface="Kumbh Sans"/>
                <a:sym typeface="Kumbh Sans"/>
              </a:rPr>
              <a:t>Centraliser les idées</a:t>
            </a:r>
            <a:endParaRPr b="1" sz="800">
              <a:solidFill>
                <a:srgbClr val="434C5D"/>
              </a:solidFill>
              <a:latin typeface="Kumbh Sans"/>
              <a:ea typeface="Kumbh Sans"/>
              <a:cs typeface="Kumbh Sans"/>
              <a:sym typeface="Kumbh Sans"/>
            </a:endParaRPr>
          </a:p>
          <a:p>
            <a:pPr indent="-279400" lvl="0" marL="457200" marR="0" rtl="0" algn="l">
              <a:spcBef>
                <a:spcPts val="0"/>
              </a:spcBef>
              <a:spcAft>
                <a:spcPts val="0"/>
              </a:spcAft>
              <a:buClr>
                <a:srgbClr val="434C5D"/>
              </a:buClr>
              <a:buSzPts val="800"/>
              <a:buFont typeface="Kumbh Sans"/>
              <a:buChar char="●"/>
            </a:pPr>
            <a:r>
              <a:rPr b="1" lang="fr" sz="800">
                <a:solidFill>
                  <a:srgbClr val="434C5D"/>
                </a:solidFill>
                <a:latin typeface="Kumbh Sans"/>
                <a:ea typeface="Kumbh Sans"/>
                <a:cs typeface="Kumbh Sans"/>
                <a:sym typeface="Kumbh Sans"/>
              </a:rPr>
              <a:t>Définir un budget</a:t>
            </a:r>
            <a:endParaRPr b="1" sz="800">
              <a:solidFill>
                <a:srgbClr val="434C5D"/>
              </a:solidFill>
              <a:latin typeface="Kumbh Sans"/>
              <a:ea typeface="Kumbh Sans"/>
              <a:cs typeface="Kumbh Sans"/>
              <a:sym typeface="Kumbh Sans"/>
            </a:endParaRPr>
          </a:p>
          <a:p>
            <a:pPr indent="0" lvl="0" marL="0" marR="0" rtl="0" algn="l">
              <a:spcBef>
                <a:spcPts val="0"/>
              </a:spcBef>
              <a:spcAft>
                <a:spcPts val="0"/>
              </a:spcAft>
              <a:buNone/>
            </a:pPr>
            <a:r>
              <a:rPr b="1" lang="fr" sz="800">
                <a:solidFill>
                  <a:srgbClr val="4A86E8"/>
                </a:solidFill>
                <a:latin typeface="Kumbh Sans"/>
                <a:ea typeface="Kumbh Sans"/>
                <a:cs typeface="Kumbh Sans"/>
                <a:sym typeface="Kumbh Sans"/>
              </a:rPr>
              <a:t>Etape 2 :</a:t>
            </a:r>
            <a:endParaRPr b="1" sz="800">
              <a:solidFill>
                <a:srgbClr val="4A86E8"/>
              </a:solidFill>
              <a:latin typeface="Kumbh Sans"/>
              <a:ea typeface="Kumbh Sans"/>
              <a:cs typeface="Kumbh Sans"/>
              <a:sym typeface="Kumbh Sans"/>
            </a:endParaRPr>
          </a:p>
          <a:p>
            <a:pPr indent="-279400" lvl="0" marL="457200" marR="0" rtl="0" algn="l">
              <a:spcBef>
                <a:spcPts val="0"/>
              </a:spcBef>
              <a:spcAft>
                <a:spcPts val="0"/>
              </a:spcAft>
              <a:buClr>
                <a:srgbClr val="4A86E8"/>
              </a:buClr>
              <a:buSzPts val="800"/>
              <a:buFont typeface="Kumbh Sans"/>
              <a:buChar char="●"/>
            </a:pPr>
            <a:r>
              <a:t/>
            </a:r>
            <a:endParaRPr b="1" sz="800">
              <a:solidFill>
                <a:srgbClr val="4A86E8"/>
              </a:solidFill>
              <a:latin typeface="Kumbh Sans"/>
              <a:ea typeface="Kumbh Sans"/>
              <a:cs typeface="Kumbh Sans"/>
              <a:sym typeface="Kumbh Sans"/>
            </a:endParaRPr>
          </a:p>
          <a:p>
            <a:pPr indent="0" lvl="0" marL="0" marR="0" rtl="0" algn="l">
              <a:spcBef>
                <a:spcPts val="0"/>
              </a:spcBef>
              <a:spcAft>
                <a:spcPts val="0"/>
              </a:spcAft>
              <a:buNone/>
            </a:pPr>
            <a:r>
              <a:rPr b="1" lang="fr" sz="800">
                <a:solidFill>
                  <a:srgbClr val="4A86E8"/>
                </a:solidFill>
                <a:latin typeface="Kumbh Sans"/>
                <a:ea typeface="Kumbh Sans"/>
                <a:cs typeface="Kumbh Sans"/>
                <a:sym typeface="Kumbh Sans"/>
              </a:rPr>
              <a:t>Etape 3</a:t>
            </a:r>
            <a:endParaRPr b="1" sz="800">
              <a:solidFill>
                <a:srgbClr val="4A86E8"/>
              </a:solidFill>
              <a:latin typeface="Kumbh Sans"/>
              <a:ea typeface="Kumbh Sans"/>
              <a:cs typeface="Kumbh Sans"/>
              <a:sym typeface="Kumbh Sans"/>
            </a:endParaRPr>
          </a:p>
          <a:p>
            <a:pPr indent="0" lvl="0" marL="0" marR="0" rtl="0" algn="l">
              <a:spcBef>
                <a:spcPts val="0"/>
              </a:spcBef>
              <a:spcAft>
                <a:spcPts val="0"/>
              </a:spcAft>
              <a:buNone/>
            </a:pPr>
            <a:r>
              <a:t/>
            </a:r>
            <a:endParaRPr b="1" sz="800">
              <a:solidFill>
                <a:srgbClr val="4A86E8"/>
              </a:solidFill>
              <a:latin typeface="Kumbh Sans"/>
              <a:ea typeface="Kumbh Sans"/>
              <a:cs typeface="Kumbh Sans"/>
              <a:sym typeface="Kumbh Sans"/>
            </a:endParaRPr>
          </a:p>
          <a:p>
            <a:pPr indent="0" lvl="0" marL="0" marR="0" rtl="0" algn="l">
              <a:spcBef>
                <a:spcPts val="0"/>
              </a:spcBef>
              <a:spcAft>
                <a:spcPts val="0"/>
              </a:spcAft>
              <a:buNone/>
            </a:pPr>
            <a:r>
              <a:t/>
            </a:r>
            <a:endParaRPr sz="800">
              <a:latin typeface="Montserrat"/>
              <a:ea typeface="Montserrat"/>
              <a:cs typeface="Montserrat"/>
              <a:sym typeface="Montserrat"/>
            </a:endParaRPr>
          </a:p>
        </p:txBody>
      </p:sp>
      <p:sp>
        <p:nvSpPr>
          <p:cNvPr id="414" name="Google Shape;414;p49"/>
          <p:cNvSpPr/>
          <p:nvPr/>
        </p:nvSpPr>
        <p:spPr>
          <a:xfrm>
            <a:off x="6552050" y="2458786"/>
            <a:ext cx="2358600" cy="506400"/>
          </a:xfrm>
          <a:prstGeom prst="chevron">
            <a:avLst>
              <a:gd fmla="val 50000" name="adj"/>
            </a:avLst>
          </a:prstGeom>
          <a:solidFill>
            <a:srgbClr val="FFFF00"/>
          </a:solidFill>
          <a:ln cap="flat" cmpd="sng" w="9525">
            <a:solidFill>
              <a:srgbClr val="A1045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1000">
                <a:solidFill>
                  <a:schemeClr val="dk1"/>
                </a:solidFill>
                <a:latin typeface="Kumbh Sans"/>
                <a:ea typeface="Kumbh Sans"/>
                <a:cs typeface="Kumbh Sans"/>
                <a:sym typeface="Kumbh Sans"/>
              </a:rPr>
              <a:t>Lancement</a:t>
            </a:r>
            <a:endParaRPr sz="1000">
              <a:solidFill>
                <a:schemeClr val="dk1"/>
              </a:solidFill>
              <a:latin typeface="Kumbh Sans"/>
              <a:ea typeface="Kumbh Sans"/>
              <a:cs typeface="Kumbh Sans"/>
              <a:sym typeface="Kumbh Sans"/>
            </a:endParaRPr>
          </a:p>
        </p:txBody>
      </p:sp>
      <p:sp>
        <p:nvSpPr>
          <p:cNvPr id="415" name="Google Shape;415;p49"/>
          <p:cNvSpPr txBox="1"/>
          <p:nvPr/>
        </p:nvSpPr>
        <p:spPr>
          <a:xfrm>
            <a:off x="6714482" y="1240089"/>
            <a:ext cx="2391600" cy="5850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fr" sz="800">
                <a:solidFill>
                  <a:srgbClr val="FFFF00"/>
                </a:solidFill>
                <a:latin typeface="Kumbh Sans"/>
                <a:ea typeface="Kumbh Sans"/>
                <a:cs typeface="Kumbh Sans"/>
                <a:sym typeface="Kumbh Sans"/>
              </a:rPr>
              <a:t>Mars </a:t>
            </a:r>
            <a:r>
              <a:rPr b="1" lang="fr" sz="800">
                <a:solidFill>
                  <a:srgbClr val="FFFF00"/>
                </a:solidFill>
                <a:latin typeface="Kumbh Sans"/>
                <a:ea typeface="Kumbh Sans"/>
                <a:cs typeface="Kumbh Sans"/>
                <a:sym typeface="Kumbh Sans"/>
              </a:rPr>
              <a:t>2026</a:t>
            </a:r>
            <a:endParaRPr b="1" sz="800">
              <a:solidFill>
                <a:srgbClr val="FFFF00"/>
              </a:solidFill>
              <a:latin typeface="Kumbh Sans"/>
              <a:ea typeface="Kumbh Sans"/>
              <a:cs typeface="Kumbh Sans"/>
              <a:sym typeface="Kumbh Sans"/>
            </a:endParaRPr>
          </a:p>
          <a:p>
            <a:pPr indent="0" lvl="0" marL="457200" marR="0" rtl="0" algn="l">
              <a:spcBef>
                <a:spcPts val="0"/>
              </a:spcBef>
              <a:spcAft>
                <a:spcPts val="0"/>
              </a:spcAft>
              <a:buNone/>
            </a:pPr>
            <a:r>
              <a:t/>
            </a:r>
            <a:endParaRPr sz="800">
              <a:solidFill>
                <a:srgbClr val="9E9E9E"/>
              </a:solidFill>
              <a:latin typeface="Kumbh Sans"/>
              <a:ea typeface="Kumbh Sans"/>
              <a:cs typeface="Kumbh Sans"/>
              <a:sym typeface="Kumbh Sans"/>
            </a:endParaRPr>
          </a:p>
          <a:p>
            <a:pPr indent="0" lvl="0" marL="0" marR="0" rtl="0" algn="l">
              <a:spcBef>
                <a:spcPts val="0"/>
              </a:spcBef>
              <a:spcAft>
                <a:spcPts val="0"/>
              </a:spcAft>
              <a:buNone/>
            </a:pPr>
            <a:r>
              <a:rPr lang="fr" sz="800">
                <a:solidFill>
                  <a:srgbClr val="666666"/>
                </a:solidFill>
                <a:latin typeface="Kumbh Sans"/>
                <a:ea typeface="Kumbh Sans"/>
                <a:cs typeface="Kumbh Sans"/>
                <a:sym typeface="Kumbh Sans"/>
              </a:rPr>
              <a:t>Les GYMER ont </a:t>
            </a:r>
            <a:r>
              <a:rPr lang="fr" sz="800">
                <a:solidFill>
                  <a:srgbClr val="666666"/>
                </a:solidFill>
                <a:latin typeface="Kumbh Sans"/>
                <a:ea typeface="Kumbh Sans"/>
                <a:cs typeface="Kumbh Sans"/>
                <a:sym typeface="Kumbh Sans"/>
              </a:rPr>
              <a:t>créent</a:t>
            </a:r>
            <a:r>
              <a:rPr lang="fr" sz="800">
                <a:solidFill>
                  <a:srgbClr val="666666"/>
                </a:solidFill>
                <a:latin typeface="Kumbh Sans"/>
                <a:ea typeface="Kumbh Sans"/>
                <a:cs typeface="Kumbh Sans"/>
                <a:sym typeface="Kumbh Sans"/>
              </a:rPr>
              <a:t> leur compte,  les premiers  cours peuvent être réalisé.</a:t>
            </a:r>
            <a:endParaRPr sz="800">
              <a:solidFill>
                <a:srgbClr val="666666"/>
              </a:solidFill>
              <a:latin typeface="Kumbh Sans"/>
              <a:ea typeface="Kumbh Sans"/>
              <a:cs typeface="Kumbh Sans"/>
              <a:sym typeface="Kumbh Sans"/>
            </a:endParaRPr>
          </a:p>
        </p:txBody>
      </p:sp>
      <p:cxnSp>
        <p:nvCxnSpPr>
          <p:cNvPr id="416" name="Google Shape;416;p49"/>
          <p:cNvCxnSpPr/>
          <p:nvPr/>
        </p:nvCxnSpPr>
        <p:spPr>
          <a:xfrm>
            <a:off x="6636300" y="636725"/>
            <a:ext cx="7200" cy="1652700"/>
          </a:xfrm>
          <a:prstGeom prst="straightConnector1">
            <a:avLst/>
          </a:prstGeom>
          <a:noFill/>
          <a:ln cap="flat" cmpd="sng" w="9525">
            <a:solidFill>
              <a:srgbClr val="0B1F69"/>
            </a:solidFill>
            <a:prstDash val="solid"/>
            <a:round/>
            <a:headEnd len="med" w="med" type="none"/>
            <a:tailEnd len="med" w="med" type="none"/>
          </a:ln>
        </p:spPr>
      </p:cxnSp>
      <p:pic>
        <p:nvPicPr>
          <p:cNvPr id="417" name="Google Shape;417;p49"/>
          <p:cNvPicPr preferRelativeResize="0"/>
          <p:nvPr/>
        </p:nvPicPr>
        <p:blipFill>
          <a:blip r:embed="rId3">
            <a:alphaModFix/>
          </a:blip>
          <a:stretch>
            <a:fillRect/>
          </a:stretch>
        </p:blipFill>
        <p:spPr>
          <a:xfrm>
            <a:off x="182081" y="4120510"/>
            <a:ext cx="223650" cy="223650"/>
          </a:xfrm>
          <a:prstGeom prst="rect">
            <a:avLst/>
          </a:prstGeom>
          <a:noFill/>
          <a:ln>
            <a:noFill/>
          </a:ln>
        </p:spPr>
      </p:pic>
      <p:sp>
        <p:nvSpPr>
          <p:cNvPr id="418" name="Google Shape;418;p49"/>
          <p:cNvSpPr txBox="1"/>
          <p:nvPr/>
        </p:nvSpPr>
        <p:spPr>
          <a:xfrm>
            <a:off x="429273" y="4091845"/>
            <a:ext cx="2048400" cy="3387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fr" sz="800">
                <a:highlight>
                  <a:srgbClr val="FFD100"/>
                </a:highlight>
                <a:latin typeface="Kumbh Sans"/>
                <a:ea typeface="Kumbh Sans"/>
                <a:cs typeface="Kumbh Sans"/>
                <a:sym typeface="Kumbh Sans"/>
              </a:rPr>
              <a:t>Le concept est validé par toutes les parties prenantes</a:t>
            </a:r>
            <a:endParaRPr b="1" sz="800">
              <a:highlight>
                <a:srgbClr val="FFD100"/>
              </a:highlight>
              <a:latin typeface="Kumbh Sans"/>
              <a:ea typeface="Kumbh Sans"/>
              <a:cs typeface="Kumbh Sans"/>
              <a:sym typeface="Kumbh Sans"/>
            </a:endParaRPr>
          </a:p>
        </p:txBody>
      </p:sp>
      <p:pic>
        <p:nvPicPr>
          <p:cNvPr id="419" name="Google Shape;419;p49"/>
          <p:cNvPicPr preferRelativeResize="0"/>
          <p:nvPr/>
        </p:nvPicPr>
        <p:blipFill>
          <a:blip r:embed="rId3">
            <a:alphaModFix/>
          </a:blip>
          <a:stretch>
            <a:fillRect/>
          </a:stretch>
        </p:blipFill>
        <p:spPr>
          <a:xfrm>
            <a:off x="6861931" y="3418169"/>
            <a:ext cx="223650" cy="223650"/>
          </a:xfrm>
          <a:prstGeom prst="rect">
            <a:avLst/>
          </a:prstGeom>
          <a:noFill/>
          <a:ln>
            <a:noFill/>
          </a:ln>
        </p:spPr>
      </p:pic>
      <p:sp>
        <p:nvSpPr>
          <p:cNvPr id="420" name="Google Shape;420;p49"/>
          <p:cNvSpPr txBox="1"/>
          <p:nvPr/>
        </p:nvSpPr>
        <p:spPr>
          <a:xfrm>
            <a:off x="7167100" y="3382500"/>
            <a:ext cx="1896000" cy="2154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fr" sz="800">
                <a:solidFill>
                  <a:schemeClr val="lt1"/>
                </a:solidFill>
                <a:highlight>
                  <a:srgbClr val="0B1F69"/>
                </a:highlight>
                <a:latin typeface="Montserrat"/>
                <a:ea typeface="Montserrat"/>
                <a:cs typeface="Montserrat"/>
                <a:sym typeface="Montserrat"/>
              </a:rPr>
              <a:t>nouveaux inscrits</a:t>
            </a:r>
            <a:endParaRPr sz="800">
              <a:solidFill>
                <a:schemeClr val="lt1"/>
              </a:solidFill>
              <a:highlight>
                <a:srgbClr val="0B1F69"/>
              </a:highlight>
              <a:latin typeface="Montserrat"/>
              <a:ea typeface="Montserrat"/>
              <a:cs typeface="Montserrat"/>
              <a:sym typeface="Montserrat"/>
            </a:endParaRPr>
          </a:p>
        </p:txBody>
      </p:sp>
      <p:pic>
        <p:nvPicPr>
          <p:cNvPr id="421" name="Google Shape;421;p49"/>
          <p:cNvPicPr preferRelativeResize="0"/>
          <p:nvPr/>
        </p:nvPicPr>
        <p:blipFill>
          <a:blip r:embed="rId3">
            <a:alphaModFix/>
          </a:blip>
          <a:stretch>
            <a:fillRect/>
          </a:stretch>
        </p:blipFill>
        <p:spPr>
          <a:xfrm>
            <a:off x="6714482" y="1962957"/>
            <a:ext cx="223650" cy="223650"/>
          </a:xfrm>
          <a:prstGeom prst="rect">
            <a:avLst/>
          </a:prstGeom>
          <a:noFill/>
          <a:ln>
            <a:noFill/>
          </a:ln>
        </p:spPr>
      </p:pic>
      <p:sp>
        <p:nvSpPr>
          <p:cNvPr id="422" name="Google Shape;422;p49"/>
          <p:cNvSpPr txBox="1"/>
          <p:nvPr/>
        </p:nvSpPr>
        <p:spPr>
          <a:xfrm>
            <a:off x="7014698" y="1934292"/>
            <a:ext cx="2048400" cy="3387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fr" sz="800">
                <a:solidFill>
                  <a:schemeClr val="lt1"/>
                </a:solidFill>
                <a:highlight>
                  <a:srgbClr val="0B1F69"/>
                </a:highlight>
                <a:latin typeface="Kumbh Sans"/>
                <a:ea typeface="Kumbh Sans"/>
                <a:cs typeface="Kumbh Sans"/>
                <a:sym typeface="Kumbh Sans"/>
              </a:rPr>
              <a:t>Les premiers profils de GYMER identifiées</a:t>
            </a:r>
            <a:endParaRPr b="1" sz="800">
              <a:solidFill>
                <a:schemeClr val="lt1"/>
              </a:solidFill>
              <a:highlight>
                <a:srgbClr val="0B1F69"/>
              </a:highlight>
              <a:latin typeface="Kumbh Sans"/>
              <a:ea typeface="Kumbh Sans"/>
              <a:cs typeface="Kumbh Sans"/>
              <a:sym typeface="Kumbh Sans"/>
            </a:endParaRPr>
          </a:p>
        </p:txBody>
      </p:sp>
      <p:sp>
        <p:nvSpPr>
          <p:cNvPr id="423" name="Google Shape;423;p49"/>
          <p:cNvSpPr/>
          <p:nvPr/>
        </p:nvSpPr>
        <p:spPr>
          <a:xfrm>
            <a:off x="4419609" y="3231561"/>
            <a:ext cx="2358600" cy="487200"/>
          </a:xfrm>
          <a:prstGeom prst="chevron">
            <a:avLst>
              <a:gd fmla="val 50000" name="adj"/>
            </a:avLst>
          </a:prstGeom>
          <a:solidFill>
            <a:srgbClr val="00FF00"/>
          </a:solidFill>
          <a:ln cap="flat" cmpd="sng" w="28575">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fr" sz="1000">
                <a:latin typeface="Kumbh Sans"/>
                <a:ea typeface="Kumbh Sans"/>
                <a:cs typeface="Kumbh Sans"/>
                <a:sym typeface="Kumbh Sans"/>
              </a:rPr>
              <a:t>Administratif</a:t>
            </a:r>
            <a:endParaRPr sz="1000">
              <a:latin typeface="Kumbh Sans"/>
              <a:ea typeface="Kumbh Sans"/>
              <a:cs typeface="Kumbh Sans"/>
              <a:sym typeface="Kumbh Sans"/>
            </a:endParaRPr>
          </a:p>
        </p:txBody>
      </p:sp>
      <p:sp>
        <p:nvSpPr>
          <p:cNvPr id="424" name="Google Shape;424;p49"/>
          <p:cNvSpPr txBox="1"/>
          <p:nvPr/>
        </p:nvSpPr>
        <p:spPr>
          <a:xfrm>
            <a:off x="4495800" y="3800250"/>
            <a:ext cx="2214600" cy="6771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fr" sz="800">
                <a:solidFill>
                  <a:srgbClr val="00FF00"/>
                </a:solidFill>
                <a:latin typeface="Lato"/>
                <a:ea typeface="Lato"/>
                <a:cs typeface="Lato"/>
                <a:sym typeface="Lato"/>
              </a:rPr>
              <a:t>Mars 2025 - Décembre 2026</a:t>
            </a:r>
            <a:endParaRPr sz="800">
              <a:solidFill>
                <a:srgbClr val="00FF00"/>
              </a:solidFill>
              <a:latin typeface="Lato"/>
              <a:ea typeface="Lato"/>
              <a:cs typeface="Lato"/>
              <a:sym typeface="Lato"/>
            </a:endParaRPr>
          </a:p>
          <a:p>
            <a:pPr indent="0" lvl="0" marL="0" rtl="0" algn="l">
              <a:spcBef>
                <a:spcPts val="0"/>
              </a:spcBef>
              <a:spcAft>
                <a:spcPts val="0"/>
              </a:spcAft>
              <a:buNone/>
            </a:pPr>
            <a:r>
              <a:rPr lang="fr" sz="800">
                <a:solidFill>
                  <a:srgbClr val="434C5D"/>
                </a:solidFill>
                <a:latin typeface="Lato"/>
                <a:ea typeface="Lato"/>
                <a:cs typeface="Lato"/>
                <a:sym typeface="Lato"/>
              </a:rPr>
              <a:t>Rencontrer un expert comptable</a:t>
            </a:r>
            <a:endParaRPr sz="800">
              <a:solidFill>
                <a:srgbClr val="434C5D"/>
              </a:solidFill>
              <a:latin typeface="Lato"/>
              <a:ea typeface="Lato"/>
              <a:cs typeface="Lato"/>
              <a:sym typeface="Lato"/>
            </a:endParaRPr>
          </a:p>
          <a:p>
            <a:pPr indent="0" lvl="0" marL="0" rtl="0" algn="l">
              <a:spcBef>
                <a:spcPts val="0"/>
              </a:spcBef>
              <a:spcAft>
                <a:spcPts val="0"/>
              </a:spcAft>
              <a:buNone/>
            </a:pPr>
            <a:r>
              <a:rPr lang="fr" sz="800">
                <a:solidFill>
                  <a:srgbClr val="434C5D"/>
                </a:solidFill>
                <a:latin typeface="Lato"/>
                <a:ea typeface="Lato"/>
                <a:cs typeface="Lato"/>
                <a:sym typeface="Lato"/>
              </a:rPr>
              <a:t>Un avocat d’affaire</a:t>
            </a:r>
            <a:endParaRPr sz="800">
              <a:solidFill>
                <a:srgbClr val="434C5D"/>
              </a:solidFill>
              <a:latin typeface="Lato"/>
              <a:ea typeface="Lato"/>
              <a:cs typeface="Lato"/>
              <a:sym typeface="Lato"/>
            </a:endParaRPr>
          </a:p>
          <a:p>
            <a:pPr indent="0" lvl="0" marL="0" rtl="0" algn="l">
              <a:spcBef>
                <a:spcPts val="0"/>
              </a:spcBef>
              <a:spcAft>
                <a:spcPts val="0"/>
              </a:spcAft>
              <a:buNone/>
            </a:pPr>
            <a:r>
              <a:rPr lang="fr" sz="800">
                <a:solidFill>
                  <a:srgbClr val="434C5D"/>
                </a:solidFill>
                <a:latin typeface="Lato"/>
                <a:ea typeface="Lato"/>
                <a:cs typeface="Lato"/>
                <a:sym typeface="Lato"/>
              </a:rPr>
              <a:t>Rédaction </a:t>
            </a:r>
            <a:endParaRPr sz="800">
              <a:solidFill>
                <a:srgbClr val="434C5D"/>
              </a:solidFill>
              <a:latin typeface="Lato"/>
              <a:ea typeface="Lato"/>
              <a:cs typeface="Lato"/>
              <a:sym typeface="Lato"/>
            </a:endParaRPr>
          </a:p>
        </p:txBody>
      </p:sp>
      <p:pic>
        <p:nvPicPr>
          <p:cNvPr id="425" name="Google Shape;425;p49"/>
          <p:cNvPicPr preferRelativeResize="0"/>
          <p:nvPr/>
        </p:nvPicPr>
        <p:blipFill>
          <a:blip r:embed="rId4">
            <a:alphaModFix/>
          </a:blip>
          <a:stretch>
            <a:fillRect/>
          </a:stretch>
        </p:blipFill>
        <p:spPr>
          <a:xfrm>
            <a:off x="7063000" y="194475"/>
            <a:ext cx="1905000" cy="7905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Conseil</a:t>
            </a:r>
            <a:endParaRPr/>
          </a:p>
        </p:txBody>
      </p:sp>
      <p:sp>
        <p:nvSpPr>
          <p:cNvPr id="431" name="Google Shape;431;p5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Visuellement il faut que ton application fasse pro</a:t>
            </a:r>
            <a:endParaRPr/>
          </a:p>
          <a:p>
            <a:pPr indent="0" lvl="0" marL="0" rtl="0" algn="l">
              <a:spcBef>
                <a:spcPts val="1200"/>
              </a:spcBef>
              <a:spcAft>
                <a:spcPts val="0"/>
              </a:spcAft>
              <a:buNone/>
            </a:pPr>
            <a:r>
              <a:rPr lang="fr"/>
              <a:t>Comme si tu </a:t>
            </a:r>
            <a:r>
              <a:rPr lang="fr"/>
              <a:t>étais</a:t>
            </a:r>
            <a:r>
              <a:rPr lang="fr"/>
              <a:t> une grosse </a:t>
            </a:r>
            <a:r>
              <a:rPr lang="fr"/>
              <a:t>boîte</a:t>
            </a:r>
            <a:endParaRPr/>
          </a:p>
          <a:p>
            <a:pPr indent="0" lvl="0" marL="0" rtl="0" algn="l">
              <a:spcBef>
                <a:spcPts val="1200"/>
              </a:spcBef>
              <a:spcAft>
                <a:spcPts val="1200"/>
              </a:spcAft>
              <a:buNone/>
            </a:pPr>
            <a:r>
              <a:rPr lang="fr"/>
              <a:t>Tout ce que tu diffuse aux clients doit être de qualité, beau….</a:t>
            </a:r>
            <a:endParaRPr/>
          </a:p>
        </p:txBody>
      </p:sp>
      <p:pic>
        <p:nvPicPr>
          <p:cNvPr id="432" name="Google Shape;432;p50"/>
          <p:cNvPicPr preferRelativeResize="0"/>
          <p:nvPr/>
        </p:nvPicPr>
        <p:blipFill>
          <a:blip r:embed="rId3">
            <a:alphaModFix/>
          </a:blip>
          <a:stretch>
            <a:fillRect/>
          </a:stretch>
        </p:blipFill>
        <p:spPr>
          <a:xfrm>
            <a:off x="7063000" y="194475"/>
            <a:ext cx="1905000" cy="7905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