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y="5143500" cx="9144000"/>
  <p:notesSz cx="6858000" cy="9144000"/>
  <p:embeddedFontLst>
    <p:embeddedFont>
      <p:font typeface="Montserrat"/>
      <p:regular r:id="rId15"/>
      <p:bold r:id="rId16"/>
      <p:italic r:id="rId17"/>
      <p:boldItalic r:id="rId18"/>
    </p:embeddedFont>
    <p:embeddedFont>
      <p:font typeface="Lato"/>
      <p:regular r:id="rId19"/>
      <p:bold r:id="rId20"/>
      <p:italic r:id="rId21"/>
      <p:boldItalic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D6DCD9ED-6FD1-4566-9D89-0E4228CCA2EA}">
  <a:tblStyle styleId="{D6DCD9ED-6FD1-4566-9D89-0E4228CCA2EA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Lato-bold.fntdata"/><Relationship Id="rId11" Type="http://schemas.openxmlformats.org/officeDocument/2006/relationships/slide" Target="slides/slide5.xml"/><Relationship Id="rId22" Type="http://schemas.openxmlformats.org/officeDocument/2006/relationships/font" Target="fonts/Lato-boldItalic.fntdata"/><Relationship Id="rId10" Type="http://schemas.openxmlformats.org/officeDocument/2006/relationships/slide" Target="slides/slide4.xml"/><Relationship Id="rId21" Type="http://schemas.openxmlformats.org/officeDocument/2006/relationships/font" Target="fonts/Lato-italic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font" Target="fonts/Montserrat-regular.fntdata"/><Relationship Id="rId14" Type="http://schemas.openxmlformats.org/officeDocument/2006/relationships/slide" Target="slides/slide8.xml"/><Relationship Id="rId17" Type="http://schemas.openxmlformats.org/officeDocument/2006/relationships/font" Target="fonts/Montserrat-italic.fntdata"/><Relationship Id="rId16" Type="http://schemas.openxmlformats.org/officeDocument/2006/relationships/font" Target="fonts/Montserrat-bold.fntdata"/><Relationship Id="rId5" Type="http://schemas.openxmlformats.org/officeDocument/2006/relationships/slideMaster" Target="slideMasters/slideMaster1.xml"/><Relationship Id="rId19" Type="http://schemas.openxmlformats.org/officeDocument/2006/relationships/font" Target="fonts/Lato-regular.fntdata"/><Relationship Id="rId6" Type="http://schemas.openxmlformats.org/officeDocument/2006/relationships/notesMaster" Target="notesMasters/notesMaster1.xml"/><Relationship Id="rId18" Type="http://schemas.openxmlformats.org/officeDocument/2006/relationships/font" Target="fonts/Montserrat-bold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22db757f48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22db757f48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2b769b5eb40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2b769b5eb40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2b769b5eb40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2b769b5eb40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2b769b5eb40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2b769b5eb40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68738f7b16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368738f7b1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68738f7b16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368738f7b16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2b769b5eb40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" name="Google Shape;181;g2b769b5eb40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2b769b5eb40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" name="Google Shape;189;g2b769b5eb40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5400000">
            <a:off x="7500300" y="505"/>
            <a:ext cx="1643700" cy="1643700"/>
          </a:xfrm>
          <a:prstGeom prst="diagStripe">
            <a:avLst>
              <a:gd fmla="val 0" name="adj"/>
            </a:avLst>
          </a:prstGeom>
          <a:solidFill>
            <a:schemeClr val="lt1">
              <a:alpha val="303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0" y="490"/>
            <a:ext cx="5153705" cy="5134399"/>
            <a:chOff x="0" y="75"/>
            <a:chExt cx="5153705" cy="515295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455" y="-225"/>
              <a:ext cx="5152800" cy="51537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150" y="1145825"/>
              <a:ext cx="3996600" cy="3996900"/>
            </a:xfrm>
            <a:prstGeom prst="diagStripe">
              <a:avLst>
                <a:gd fmla="val 58774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-5400000">
              <a:off x="1646" y="-75"/>
              <a:ext cx="2299800" cy="23001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flipH="1">
              <a:off x="652821" y="590035"/>
              <a:ext cx="2300100" cy="2299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21" name="Google Shape;21;p3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3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3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" name="Google Shape;37;p3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" name="Google Shape;38;p3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9" name="Google Shape;39;p3"/>
          <p:cNvSpPr txBox="1"/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" name="Google Shape;40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oogle Shape;42;p4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43" name="Google Shape;43;p4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4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6" name="Google Shape;46;p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7" name="Google Shape;47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oogle Shape;49;p5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0" name="Google Shape;50;p5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5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3" name="Google Shape;53;p5"/>
          <p:cNvSpPr txBox="1"/>
          <p:nvPr>
            <p:ph idx="1" type="body"/>
          </p:nvPr>
        </p:nvSpPr>
        <p:spPr>
          <a:xfrm>
            <a:off x="1297500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5"/>
          <p:cNvSpPr txBox="1"/>
          <p:nvPr>
            <p:ph idx="2" type="body"/>
          </p:nvPr>
        </p:nvSpPr>
        <p:spPr>
          <a:xfrm>
            <a:off x="4933221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" name="Google Shape;5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oogle Shape;57;p6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8" name="Google Shape;58;p6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p6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0" name="Google Shape;60;p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1" name="Google Shape;61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7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64" name="Google Shape;64;p7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7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7"/>
          <p:cNvSpPr txBox="1"/>
          <p:nvPr>
            <p:ph type="title"/>
          </p:nvPr>
        </p:nvSpPr>
        <p:spPr>
          <a:xfrm>
            <a:off x="1297500" y="393750"/>
            <a:ext cx="3798900" cy="149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7" name="Google Shape;67;p7"/>
          <p:cNvSpPr txBox="1"/>
          <p:nvPr>
            <p:ph idx="1" type="body"/>
          </p:nvPr>
        </p:nvSpPr>
        <p:spPr>
          <a:xfrm>
            <a:off x="1297500" y="1972550"/>
            <a:ext cx="3798900" cy="241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8" name="Google Shape;6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8"/>
          <p:cNvGrpSpPr/>
          <p:nvPr/>
        </p:nvGrpSpPr>
        <p:grpSpPr>
          <a:xfrm>
            <a:off x="4406400" y="0"/>
            <a:ext cx="4737600" cy="5143500"/>
            <a:chOff x="4406400" y="0"/>
            <a:chExt cx="4737600" cy="5143500"/>
          </a:xfrm>
        </p:grpSpPr>
        <p:sp>
          <p:nvSpPr>
            <p:cNvPr id="71" name="Google Shape;71;p8"/>
            <p:cNvSpPr/>
            <p:nvPr/>
          </p:nvSpPr>
          <p:spPr>
            <a:xfrm rot="5400000">
              <a:off x="4407900" y="-1500"/>
              <a:ext cx="47346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8"/>
            <p:cNvSpPr/>
            <p:nvPr/>
          </p:nvSpPr>
          <p:spPr>
            <a:xfrm rot="5400000">
              <a:off x="4840825" y="6000"/>
              <a:ext cx="42987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8"/>
            <p:cNvSpPr/>
            <p:nvPr/>
          </p:nvSpPr>
          <p:spPr>
            <a:xfrm rot="-5400000">
              <a:off x="5618399" y="123664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8"/>
            <p:cNvSpPr/>
            <p:nvPr/>
          </p:nvSpPr>
          <p:spPr>
            <a:xfrm flipH="1">
              <a:off x="5849857" y="144407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8"/>
            <p:cNvSpPr/>
            <p:nvPr/>
          </p:nvSpPr>
          <p:spPr>
            <a:xfrm rot="-5400000">
              <a:off x="5987081" y="246974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8"/>
            <p:cNvSpPr/>
            <p:nvPr/>
          </p:nvSpPr>
          <p:spPr>
            <a:xfrm flipH="1">
              <a:off x="6222115" y="267717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8"/>
            <p:cNvSpPr/>
            <p:nvPr/>
          </p:nvSpPr>
          <p:spPr>
            <a:xfrm rot="-5400000">
              <a:off x="6675341" y="186224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8"/>
            <p:cNvSpPr/>
            <p:nvPr/>
          </p:nvSpPr>
          <p:spPr>
            <a:xfrm flipH="1">
              <a:off x="6908099" y="206968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8"/>
            <p:cNvSpPr/>
            <p:nvPr/>
          </p:nvSpPr>
          <p:spPr>
            <a:xfrm rot="-5400000">
              <a:off x="6861141" y="247808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8"/>
            <p:cNvSpPr/>
            <p:nvPr/>
          </p:nvSpPr>
          <p:spPr>
            <a:xfrm flipH="1">
              <a:off x="7965266" y="269319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8"/>
            <p:cNvSpPr/>
            <p:nvPr/>
          </p:nvSpPr>
          <p:spPr>
            <a:xfrm flipH="1">
              <a:off x="8145082" y="330903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 rot="-5400000">
              <a:off x="7047599" y="309534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 flipH="1">
              <a:off x="7276649" y="330278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8"/>
            <p:cNvSpPr/>
            <p:nvPr/>
          </p:nvSpPr>
          <p:spPr>
            <a:xfrm rot="-5400000">
              <a:off x="7227414" y="37111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8"/>
            <p:cNvSpPr/>
            <p:nvPr/>
          </p:nvSpPr>
          <p:spPr>
            <a:xfrm flipH="1">
              <a:off x="7462448" y="391862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8"/>
            <p:cNvSpPr/>
            <p:nvPr/>
          </p:nvSpPr>
          <p:spPr>
            <a:xfrm rot="-5400000">
              <a:off x="8102491" y="37188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 flipH="1">
              <a:off x="8334533" y="392629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 rot="-5400000">
              <a:off x="8288290" y="433470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9" name="Google Shape;89;p8"/>
          <p:cNvSpPr txBox="1"/>
          <p:nvPr>
            <p:ph type="title"/>
          </p:nvPr>
        </p:nvSpPr>
        <p:spPr>
          <a:xfrm>
            <a:off x="823850" y="866775"/>
            <a:ext cx="4587000" cy="352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0" name="Google Shape;9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9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93" name="Google Shape;93;p9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9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9"/>
          <p:cNvSpPr txBox="1"/>
          <p:nvPr>
            <p:ph type="title"/>
          </p:nvPr>
        </p:nvSpPr>
        <p:spPr>
          <a:xfrm>
            <a:off x="1297500" y="1658325"/>
            <a:ext cx="3036300" cy="175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6" name="Google Shape;96;p9"/>
          <p:cNvSpPr txBox="1"/>
          <p:nvPr>
            <p:ph idx="1" type="subTitle"/>
          </p:nvPr>
        </p:nvSpPr>
        <p:spPr>
          <a:xfrm>
            <a:off x="1297500" y="3538000"/>
            <a:ext cx="30363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97" name="Google Shape;97;p9"/>
          <p:cNvSpPr txBox="1"/>
          <p:nvPr>
            <p:ph idx="2" type="body"/>
          </p:nvPr>
        </p:nvSpPr>
        <p:spPr>
          <a:xfrm>
            <a:off x="4648200" y="1696600"/>
            <a:ext cx="3676800" cy="234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10"/>
          <p:cNvGrpSpPr/>
          <p:nvPr/>
        </p:nvGrpSpPr>
        <p:grpSpPr>
          <a:xfrm>
            <a:off x="0" y="4128572"/>
            <a:ext cx="698925" cy="684657"/>
            <a:chOff x="0" y="3785672"/>
            <a:chExt cx="698925" cy="684657"/>
          </a:xfrm>
        </p:grpSpPr>
        <p:sp>
          <p:nvSpPr>
            <p:cNvPr id="101" name="Google Shape;101;p10"/>
            <p:cNvSpPr/>
            <p:nvPr/>
          </p:nvSpPr>
          <p:spPr>
            <a:xfrm rot="-5400000">
              <a:off x="0" y="3785672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10"/>
            <p:cNvSpPr/>
            <p:nvPr/>
          </p:nvSpPr>
          <p:spPr>
            <a:xfrm flipH="1">
              <a:off x="154125" y="3925529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10"/>
          <p:cNvSpPr txBox="1"/>
          <p:nvPr>
            <p:ph idx="1" type="body"/>
          </p:nvPr>
        </p:nvSpPr>
        <p:spPr>
          <a:xfrm>
            <a:off x="812725" y="4305375"/>
            <a:ext cx="6936000" cy="52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04" name="Google Shape;10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11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107" name="Google Shape;107;p11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11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11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11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11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11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11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11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11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11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11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11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11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11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5" name="Google Shape;125;p11"/>
          <p:cNvSpPr txBox="1"/>
          <p:nvPr>
            <p:ph hasCustomPrompt="1" type="title"/>
          </p:nvPr>
        </p:nvSpPr>
        <p:spPr>
          <a:xfrm>
            <a:off x="823850" y="1284675"/>
            <a:ext cx="47760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126" name="Google Shape;126;p11"/>
          <p:cNvSpPr txBox="1"/>
          <p:nvPr>
            <p:ph idx="1" type="body"/>
          </p:nvPr>
        </p:nvSpPr>
        <p:spPr>
          <a:xfrm>
            <a:off x="823850" y="2643124"/>
            <a:ext cx="4776000" cy="121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7" name="Google Shape;12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focus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jpg"/><Relationship Id="rId4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3"/>
          <p:cNvSpPr txBox="1"/>
          <p:nvPr>
            <p:ph idx="1" type="subTitle"/>
          </p:nvPr>
        </p:nvSpPr>
        <p:spPr>
          <a:xfrm>
            <a:off x="311700" y="2355075"/>
            <a:ext cx="8642100" cy="134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u="sng"/>
              <a:t>Vous recherchez quel sport ? : </a:t>
            </a:r>
            <a:r>
              <a:rPr lang="fr">
                <a:solidFill>
                  <a:srgbClr val="FFFF00"/>
                </a:solidFill>
              </a:rPr>
              <a:t>Fitness</a:t>
            </a:r>
            <a:endParaRPr>
              <a:solidFill>
                <a:srgbClr val="FFFF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u="sng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u="sng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u="sng"/>
              <a:t>Où ? </a:t>
            </a:r>
            <a:r>
              <a:rPr lang="fr">
                <a:solidFill>
                  <a:srgbClr val="FFFF00"/>
                </a:solidFill>
              </a:rPr>
              <a:t>Niort</a:t>
            </a:r>
            <a:endParaRPr>
              <a:solidFill>
                <a:srgbClr val="FFFF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u="sng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u="sng"/>
              <a:t>                       </a:t>
            </a:r>
            <a:endParaRPr u="sng"/>
          </a:p>
        </p:txBody>
      </p:sp>
      <p:sp>
        <p:nvSpPr>
          <p:cNvPr id="135" name="Google Shape;135;p13"/>
          <p:cNvSpPr txBox="1"/>
          <p:nvPr/>
        </p:nvSpPr>
        <p:spPr>
          <a:xfrm>
            <a:off x="6546875" y="159375"/>
            <a:ext cx="25326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fr" sz="1800">
                <a:solidFill>
                  <a:schemeClr val="dk2"/>
                </a:solidFill>
              </a:rPr>
              <a:t>Créer son profil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fr" sz="1800">
                <a:solidFill>
                  <a:schemeClr val="dk2"/>
                </a:solidFill>
              </a:rPr>
              <a:t>Se connecter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36" name="Google Shape;136;p13"/>
          <p:cNvSpPr txBox="1"/>
          <p:nvPr/>
        </p:nvSpPr>
        <p:spPr>
          <a:xfrm>
            <a:off x="7213625" y="4575075"/>
            <a:ext cx="1949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lang="fr" sz="1800">
                <a:solidFill>
                  <a:schemeClr val="lt1"/>
                </a:solidFill>
              </a:rPr>
              <a:t>Langues :</a:t>
            </a:r>
            <a:endParaRPr sz="1800">
              <a:solidFill>
                <a:schemeClr val="lt1"/>
              </a:solidFill>
            </a:endParaRPr>
          </a:p>
        </p:txBody>
      </p:sp>
      <p:pic>
        <p:nvPicPr>
          <p:cNvPr id="137" name="Google Shape;137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0475" y="117300"/>
            <a:ext cx="3081800" cy="993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4"/>
          <p:cNvSpPr txBox="1"/>
          <p:nvPr>
            <p:ph type="title"/>
          </p:nvPr>
        </p:nvSpPr>
        <p:spPr>
          <a:xfrm>
            <a:off x="866250" y="341175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Basket-ball</a:t>
            </a:r>
            <a:endParaRPr/>
          </a:p>
        </p:txBody>
      </p:sp>
      <p:sp>
        <p:nvSpPr>
          <p:cNvPr id="143" name="Google Shape;143;p14"/>
          <p:cNvSpPr txBox="1"/>
          <p:nvPr>
            <p:ph idx="1" type="body"/>
          </p:nvPr>
        </p:nvSpPr>
        <p:spPr>
          <a:xfrm>
            <a:off x="311700" y="1457275"/>
            <a:ext cx="3258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Filtre</a:t>
            </a:r>
            <a:endParaRPr/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Char char="●"/>
            </a:pPr>
            <a:r>
              <a:rPr lang="fr"/>
              <a:t>uniquement coach feminin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fr"/>
              <a:t>uniquement entre femme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fr"/>
              <a:t>cours individuel uniquement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fr"/>
              <a:t>cours uniquement en </a:t>
            </a:r>
            <a:r>
              <a:rPr lang="fr"/>
              <a:t>intérieur</a:t>
            </a:r>
            <a:r>
              <a:rPr lang="fr"/>
              <a:t> 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fr"/>
              <a:t>Visio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fr"/>
              <a:t>Disponibilité</a:t>
            </a:r>
            <a:endParaRPr/>
          </a:p>
          <a:p>
            <a:pPr indent="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fr"/>
              <a:t>=&gt; aujourdhui</a:t>
            </a:r>
            <a:endParaRPr/>
          </a:p>
          <a:p>
            <a:pPr indent="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fr"/>
              <a:t>=&gt; demain</a:t>
            </a:r>
            <a:endParaRPr/>
          </a:p>
          <a:p>
            <a:pPr indent="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fr"/>
              <a:t>=&gt; choisir une date/heure 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14"/>
          <p:cNvSpPr txBox="1"/>
          <p:nvPr>
            <p:ph idx="1" type="body"/>
          </p:nvPr>
        </p:nvSpPr>
        <p:spPr>
          <a:xfrm>
            <a:off x="3969300" y="1152475"/>
            <a:ext cx="3258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Char char="●"/>
            </a:pPr>
            <a:r>
              <a:rPr lang="fr"/>
              <a:t>Trier par :</a:t>
            </a:r>
            <a:endParaRPr/>
          </a:p>
          <a:p>
            <a:pPr indent="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fr"/>
              <a:t>=&gt; sans </a:t>
            </a:r>
            <a:r>
              <a:rPr lang="fr"/>
              <a:t>préférence</a:t>
            </a:r>
            <a:endParaRPr/>
          </a:p>
          <a:p>
            <a:pPr indent="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fr"/>
              <a:t>=&gt; mieux noté</a:t>
            </a:r>
            <a:endParaRPr/>
          </a:p>
          <a:p>
            <a:pPr indent="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fr"/>
              <a:t>=&gt; + au - cher</a:t>
            </a:r>
            <a:endParaRPr/>
          </a:p>
          <a:p>
            <a:pPr indent="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fr"/>
              <a:t>=&gt; - au + cher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45" name="Google Shape;145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63000" y="194475"/>
            <a:ext cx="1905000" cy="790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5"/>
          <p:cNvSpPr txBox="1"/>
          <p:nvPr>
            <p:ph type="title"/>
          </p:nvPr>
        </p:nvSpPr>
        <p:spPr>
          <a:xfrm>
            <a:off x="1052550" y="404275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Basket-ball</a:t>
            </a:r>
            <a:endParaRPr/>
          </a:p>
        </p:txBody>
      </p:sp>
      <p:sp>
        <p:nvSpPr>
          <p:cNvPr id="151" name="Google Shape;151;p15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Les Coachs</a:t>
            </a:r>
            <a:endParaRPr/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Clr>
                <a:srgbClr val="FFFF00"/>
              </a:buClr>
              <a:buSzPts val="1300"/>
              <a:buChar char="●"/>
            </a:pPr>
            <a:r>
              <a:rPr lang="fr">
                <a:solidFill>
                  <a:srgbClr val="FFFF00"/>
                </a:solidFill>
              </a:rPr>
              <a:t>Mike.F</a:t>
            </a:r>
            <a:endParaRPr>
              <a:solidFill>
                <a:srgbClr val="FFFF00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fr"/>
              <a:t>Fabien.T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fr"/>
              <a:t>Chris.D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fr"/>
              <a:t>Pierre.E</a:t>
            </a:r>
            <a:endParaRPr/>
          </a:p>
        </p:txBody>
      </p:sp>
      <p:pic>
        <p:nvPicPr>
          <p:cNvPr id="152" name="Google Shape;152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63000" y="194475"/>
            <a:ext cx="1905000" cy="790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Basket-ball</a:t>
            </a:r>
            <a:endParaRPr/>
          </a:p>
        </p:txBody>
      </p:sp>
      <p:sp>
        <p:nvSpPr>
          <p:cNvPr id="158" name="Google Shape;158;p16"/>
          <p:cNvSpPr txBox="1"/>
          <p:nvPr>
            <p:ph idx="1" type="body"/>
          </p:nvPr>
        </p:nvSpPr>
        <p:spPr>
          <a:xfrm>
            <a:off x="349550" y="1199550"/>
            <a:ext cx="2724300" cy="387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550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Les Coachs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fr"/>
              <a:t>Mike.F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fr"/>
              <a:t>Mon </a:t>
            </a:r>
            <a:r>
              <a:rPr lang="fr"/>
              <a:t>professionnalisme vous permettra de progresser</a:t>
            </a:r>
            <a:r>
              <a:rPr lang="fr"/>
              <a:t>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fr"/>
              <a:t>Notes *****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fr"/>
              <a:t>Commentaire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fr"/>
              <a:t>“Très bon coach”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fr"/>
              <a:t>Tarifs :</a:t>
            </a:r>
            <a:endParaRPr/>
          </a:p>
          <a:p>
            <a:pPr indent="-274002" lvl="0" marL="457200" rtl="0" algn="l">
              <a:spcBef>
                <a:spcPts val="1200"/>
              </a:spcBef>
              <a:spcAft>
                <a:spcPts val="0"/>
              </a:spcAft>
              <a:buClr>
                <a:srgbClr val="FFFF00"/>
              </a:buClr>
              <a:buSzPct val="100000"/>
              <a:buChar char="●"/>
            </a:pPr>
            <a:r>
              <a:rPr lang="fr">
                <a:solidFill>
                  <a:srgbClr val="FFFF00"/>
                </a:solidFill>
              </a:rPr>
              <a:t>25€ / heure groupe de 4 max</a:t>
            </a:r>
            <a:endParaRPr>
              <a:solidFill>
                <a:srgbClr val="FFFF00"/>
              </a:solidFill>
            </a:endParaRPr>
          </a:p>
          <a:p>
            <a:pPr indent="-27400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fr"/>
              <a:t>40€ / heure individuel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fr"/>
              <a:t>Lieux proposé : </a:t>
            </a:r>
            <a:endParaRPr/>
          </a:p>
          <a:p>
            <a:pPr indent="-274002" lvl="0" marL="457200" rtl="0" algn="l">
              <a:spcBef>
                <a:spcPts val="1200"/>
              </a:spcBef>
              <a:spcAft>
                <a:spcPts val="0"/>
              </a:spcAft>
              <a:buClr>
                <a:srgbClr val="FFFF00"/>
              </a:buClr>
              <a:buSzPct val="100000"/>
              <a:buChar char="●"/>
            </a:pPr>
            <a:r>
              <a:rPr lang="fr">
                <a:solidFill>
                  <a:srgbClr val="FFFF00"/>
                </a:solidFill>
              </a:rPr>
              <a:t>Espinassou</a:t>
            </a:r>
            <a:endParaRPr>
              <a:solidFill>
                <a:srgbClr val="FFFF00"/>
              </a:solidFill>
            </a:endParaRPr>
          </a:p>
          <a:p>
            <a:pPr indent="-27400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fr"/>
              <a:t>René </a:t>
            </a:r>
            <a:r>
              <a:rPr lang="fr"/>
              <a:t>gaillard</a:t>
            </a:r>
            <a:endParaRPr/>
          </a:p>
          <a:p>
            <a:pPr indent="-27400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fr"/>
              <a:t>Pissardant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fr"/>
              <a:t>Travail proposé :</a:t>
            </a:r>
            <a:endParaRPr/>
          </a:p>
          <a:p>
            <a:pPr indent="-274002" lvl="0" marL="457200" rtl="0" algn="l">
              <a:spcBef>
                <a:spcPts val="1200"/>
              </a:spcBef>
              <a:spcAft>
                <a:spcPts val="0"/>
              </a:spcAft>
              <a:buClr>
                <a:srgbClr val="FFFF00"/>
              </a:buClr>
              <a:buSzPct val="100000"/>
              <a:buChar char="●"/>
            </a:pPr>
            <a:r>
              <a:rPr lang="fr">
                <a:solidFill>
                  <a:srgbClr val="FFFF00"/>
                </a:solidFill>
              </a:rPr>
              <a:t>Gainage </a:t>
            </a:r>
            <a:endParaRPr>
              <a:solidFill>
                <a:srgbClr val="FFFF00"/>
              </a:solidFill>
            </a:endParaRPr>
          </a:p>
          <a:p>
            <a:pPr indent="-27400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fr"/>
              <a:t>cardio</a:t>
            </a:r>
            <a:endParaRPr/>
          </a:p>
          <a:p>
            <a:pPr indent="-274002" lvl="0" marL="457200" rtl="0" algn="l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100000"/>
              <a:buChar char="●"/>
            </a:pPr>
            <a:r>
              <a:rPr lang="fr">
                <a:solidFill>
                  <a:srgbClr val="FFFF00"/>
                </a:solidFill>
              </a:rPr>
              <a:t>Renfo</a:t>
            </a:r>
            <a:endParaRPr>
              <a:solidFill>
                <a:srgbClr val="FFFF00"/>
              </a:solidFill>
            </a:endParaRPr>
          </a:p>
          <a:p>
            <a:pPr indent="-27400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fr"/>
              <a:t>circuit training</a:t>
            </a:r>
            <a:endParaRPr/>
          </a:p>
        </p:txBody>
      </p:sp>
      <p:pic>
        <p:nvPicPr>
          <p:cNvPr id="159" name="Google Shape;159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80273" y="243625"/>
            <a:ext cx="1372050" cy="192252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60" name="Google Shape;160;p16"/>
          <p:cNvGraphicFramePr/>
          <p:nvPr/>
        </p:nvGraphicFramePr>
        <p:xfrm>
          <a:off x="3073850" y="2558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{D6DCD9ED-6FD1-4566-9D89-0E4228CCA2EA}</a:tableStyleId>
              </a:tblPr>
              <a:tblGrid>
                <a:gridCol w="726975"/>
                <a:gridCol w="726975"/>
                <a:gridCol w="726975"/>
                <a:gridCol w="726975"/>
                <a:gridCol w="726975"/>
                <a:gridCol w="726975"/>
                <a:gridCol w="726975"/>
                <a:gridCol w="7269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100">
                          <a:solidFill>
                            <a:schemeClr val="lt1"/>
                          </a:solidFill>
                        </a:rPr>
                        <a:t>lundi</a:t>
                      </a:r>
                      <a:endParaRPr sz="11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100">
                          <a:solidFill>
                            <a:schemeClr val="lt1"/>
                          </a:solidFill>
                        </a:rPr>
                        <a:t>mardi</a:t>
                      </a:r>
                      <a:endParaRPr sz="11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100">
                          <a:solidFill>
                            <a:schemeClr val="lt1"/>
                          </a:solidFill>
                        </a:rPr>
                        <a:t>mercredi</a:t>
                      </a:r>
                      <a:endParaRPr sz="11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100">
                          <a:solidFill>
                            <a:schemeClr val="lt1"/>
                          </a:solidFill>
                        </a:rPr>
                        <a:t>jeudi</a:t>
                      </a:r>
                      <a:endParaRPr sz="11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100">
                          <a:solidFill>
                            <a:schemeClr val="lt1"/>
                          </a:solidFill>
                        </a:rPr>
                        <a:t>vendredi</a:t>
                      </a:r>
                      <a:endParaRPr sz="11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100">
                          <a:solidFill>
                            <a:schemeClr val="lt1"/>
                          </a:solidFill>
                        </a:rPr>
                        <a:t>samedi</a:t>
                      </a:r>
                      <a:endParaRPr sz="11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100">
                          <a:solidFill>
                            <a:schemeClr val="lt1"/>
                          </a:solidFill>
                        </a:rPr>
                        <a:t>dimanche</a:t>
                      </a:r>
                      <a:endParaRPr sz="11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100">
                          <a:solidFill>
                            <a:schemeClr val="lt1"/>
                          </a:solidFill>
                        </a:rPr>
                        <a:t>9h-10h</a:t>
                      </a:r>
                      <a:endParaRPr sz="11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100"/>
                        <a:t>1 place </a:t>
                      </a:r>
                      <a:endParaRPr sz="11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91425" marB="91425" marR="91425" marL="91425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91425" marB="91425" marR="91425" marL="91425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91425" marB="91425" marR="91425" marL="91425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100"/>
                        <a:t>1 place </a:t>
                      </a:r>
                      <a:endParaRPr sz="1100"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100"/>
                        <a:t>1 place </a:t>
                      </a:r>
                      <a:endParaRPr sz="11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FF00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100">
                          <a:solidFill>
                            <a:schemeClr val="lt1"/>
                          </a:solidFill>
                        </a:rPr>
                        <a:t>12h-13h</a:t>
                      </a:r>
                      <a:endParaRPr sz="11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100"/>
                        <a:t>2 places</a:t>
                      </a:r>
                      <a:endParaRPr sz="11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91425" marB="91425" marR="91425" marL="91425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91425" marB="91425" marR="91425" marL="91425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91425" marB="91425" marR="91425" marL="91425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100"/>
                        <a:t>2 places</a:t>
                      </a:r>
                      <a:endParaRPr sz="1100"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100"/>
                        <a:t>1 place </a:t>
                      </a:r>
                      <a:endParaRPr sz="11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FF00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100">
                          <a:solidFill>
                            <a:schemeClr val="lt1"/>
                          </a:solidFill>
                        </a:rPr>
                        <a:t>14h-15h</a:t>
                      </a:r>
                      <a:endParaRPr sz="11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91425" marB="91425" marR="91425" marL="91425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91425" marB="91425" marR="91425" marL="91425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100"/>
                        <a:t>2 places</a:t>
                      </a:r>
                      <a:endParaRPr sz="1100"/>
                    </a:p>
                  </a:txBody>
                  <a:tcPr marT="91425" marB="91425" marR="91425" marL="91425"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100"/>
                        <a:t>1 place</a:t>
                      </a:r>
                      <a:endParaRPr sz="1100"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100"/>
                        <a:t>1 place </a:t>
                      </a:r>
                      <a:endParaRPr sz="11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100"/>
                        <a:t>2 places</a:t>
                      </a:r>
                      <a:endParaRPr sz="11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FF00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100">
                          <a:solidFill>
                            <a:schemeClr val="lt1"/>
                          </a:solidFill>
                        </a:rPr>
                        <a:t>18h-19h</a:t>
                      </a:r>
                      <a:endParaRPr sz="11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91425" marB="91425" marR="91425" marL="91425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91425" marB="91425" marR="91425" marL="91425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91425" marB="91425" marR="91425" marL="91425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91425" marB="91425" marR="91425" marL="91425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100"/>
                        <a:t>2 places</a:t>
                      </a:r>
                      <a:endParaRPr sz="11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100"/>
                        <a:t>1 place </a:t>
                      </a:r>
                      <a:endParaRPr sz="11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FF00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100">
                          <a:solidFill>
                            <a:schemeClr val="lt1"/>
                          </a:solidFill>
                        </a:rPr>
                        <a:t>19h-20h</a:t>
                      </a:r>
                      <a:endParaRPr sz="11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100">
                          <a:solidFill>
                            <a:srgbClr val="FFFF00"/>
                          </a:solidFill>
                        </a:rPr>
                        <a:t>2 places</a:t>
                      </a:r>
                      <a:endParaRPr sz="1100">
                        <a:solidFill>
                          <a:srgbClr val="FFFF00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100">
                          <a:solidFill>
                            <a:schemeClr val="dk1"/>
                          </a:solidFill>
                        </a:rPr>
                        <a:t>2 places</a:t>
                      </a:r>
                      <a:endParaRPr sz="1100"/>
                    </a:p>
                  </a:txBody>
                  <a:tcPr marT="91425" marB="91425" marR="91425" marL="91425"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100"/>
                        <a:t>3 places</a:t>
                      </a:r>
                      <a:endParaRPr sz="1100"/>
                    </a:p>
                  </a:txBody>
                  <a:tcPr marT="91425" marB="91425" marR="91425" marL="91425"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fr" sz="1100">
                          <a:solidFill>
                            <a:schemeClr val="dk1"/>
                          </a:solidFill>
                        </a:rPr>
                        <a:t>4places</a:t>
                      </a:r>
                      <a:endParaRPr sz="1100"/>
                    </a:p>
                  </a:txBody>
                  <a:tcPr marT="91425" marB="91425" marR="91425" marL="91425"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fr" sz="1100">
                          <a:solidFill>
                            <a:schemeClr val="dk1"/>
                          </a:solidFill>
                        </a:rPr>
                        <a:t>4places</a:t>
                      </a:r>
                      <a:endParaRPr sz="1100"/>
                    </a:p>
                  </a:txBody>
                  <a:tcPr marT="91425" marB="91425" marR="91425" marL="91425"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100"/>
                        <a:t>4places</a:t>
                      </a:r>
                      <a:endParaRPr sz="1100"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100"/>
                        <a:t>2 places</a:t>
                      </a:r>
                      <a:endParaRPr sz="11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FF00"/>
                    </a:solidFill>
                  </a:tcPr>
                </a:tc>
              </a:tr>
            </a:tbl>
          </a:graphicData>
        </a:graphic>
      </p:graphicFrame>
      <p:sp>
        <p:nvSpPr>
          <p:cNvPr id="161" name="Google Shape;161;p16"/>
          <p:cNvSpPr txBox="1"/>
          <p:nvPr/>
        </p:nvSpPr>
        <p:spPr>
          <a:xfrm>
            <a:off x="3273450" y="2083025"/>
            <a:ext cx="5815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2"/>
                </a:solidFill>
              </a:rPr>
              <a:t>Disponibilités :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162" name="Google Shape;162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063000" y="194475"/>
            <a:ext cx="1905000" cy="790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7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400"/>
              <a:buChar char="●"/>
            </a:pPr>
            <a:r>
              <a:rPr lang="fr">
                <a:solidFill>
                  <a:srgbClr val="FFFF00"/>
                </a:solidFill>
              </a:rPr>
              <a:t>Veuillez </a:t>
            </a:r>
            <a:r>
              <a:rPr lang="fr">
                <a:solidFill>
                  <a:srgbClr val="FFFF00"/>
                </a:solidFill>
              </a:rPr>
              <a:t>créer</a:t>
            </a:r>
            <a:r>
              <a:rPr lang="fr">
                <a:solidFill>
                  <a:srgbClr val="FFFF00"/>
                </a:solidFill>
              </a:rPr>
              <a:t> votre profil</a:t>
            </a:r>
            <a:endParaRPr>
              <a:solidFill>
                <a:srgbClr val="FFFF00"/>
              </a:solidFill>
            </a:endParaRPr>
          </a:p>
        </p:txBody>
      </p:sp>
      <p:sp>
        <p:nvSpPr>
          <p:cNvPr id="168" name="Google Shape;168;p17"/>
          <p:cNvSpPr txBox="1"/>
          <p:nvPr>
            <p:ph idx="1" type="body"/>
          </p:nvPr>
        </p:nvSpPr>
        <p:spPr>
          <a:xfrm>
            <a:off x="1297500" y="1567550"/>
            <a:ext cx="7038900" cy="79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Font typeface="Montserrat"/>
              <a:buChar char="●"/>
            </a:pPr>
            <a:r>
              <a:rPr lang="fr" sz="2400">
                <a:latin typeface="Montserrat"/>
                <a:ea typeface="Montserrat"/>
                <a:cs typeface="Montserrat"/>
                <a:sym typeface="Montserrat"/>
              </a:rPr>
              <a:t>Connectez vous</a:t>
            </a:r>
            <a:endParaRPr sz="2400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69" name="Google Shape;169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63000" y="194475"/>
            <a:ext cx="1905000" cy="790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8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Identification sportif</a:t>
            </a:r>
            <a:endParaRPr/>
          </a:p>
        </p:txBody>
      </p:sp>
      <p:sp>
        <p:nvSpPr>
          <p:cNvPr id="175" name="Google Shape;175;p18"/>
          <p:cNvSpPr txBox="1"/>
          <p:nvPr>
            <p:ph idx="1" type="body"/>
          </p:nvPr>
        </p:nvSpPr>
        <p:spPr>
          <a:xfrm>
            <a:off x="45800" y="1472900"/>
            <a:ext cx="29331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000"/>
              <a:t>Nom :</a:t>
            </a:r>
            <a:endParaRPr sz="10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fr" sz="1000"/>
              <a:t>Prénom :</a:t>
            </a:r>
            <a:endParaRPr sz="10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fr" sz="1000"/>
              <a:t>Date de naissance :</a:t>
            </a:r>
            <a:endParaRPr sz="10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fr" sz="1000"/>
              <a:t>Sexe : M / F</a:t>
            </a:r>
            <a:endParaRPr sz="10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fr" sz="1000"/>
              <a:t>Mail :</a:t>
            </a:r>
            <a:endParaRPr sz="10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fr" sz="1000"/>
              <a:t>Téléphone</a:t>
            </a:r>
            <a:r>
              <a:rPr lang="fr" sz="1000"/>
              <a:t> :</a:t>
            </a:r>
            <a:endParaRPr sz="10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fr" sz="1000"/>
              <a:t>Mot de passe :</a:t>
            </a:r>
            <a:endParaRPr sz="1000">
              <a:solidFill>
                <a:srgbClr val="FFFFFF"/>
              </a:solidFill>
            </a:endParaRPr>
          </a:p>
        </p:txBody>
      </p:sp>
      <p:pic>
        <p:nvPicPr>
          <p:cNvPr id="176" name="Google Shape;176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63000" y="194475"/>
            <a:ext cx="1905000" cy="790575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18"/>
          <p:cNvSpPr txBox="1"/>
          <p:nvPr/>
        </p:nvSpPr>
        <p:spPr>
          <a:xfrm>
            <a:off x="7228375" y="1307850"/>
            <a:ext cx="1905000" cy="232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Connection Google ?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78" name="Google Shape;178;p18"/>
          <p:cNvSpPr txBox="1"/>
          <p:nvPr/>
        </p:nvSpPr>
        <p:spPr>
          <a:xfrm>
            <a:off x="3024050" y="1472900"/>
            <a:ext cx="3962400" cy="24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200"/>
              <a:buChar char="❖"/>
            </a:pPr>
            <a:r>
              <a:rPr lang="fr" sz="1200">
                <a:solidFill>
                  <a:srgbClr val="D9D9D9"/>
                </a:solidFill>
              </a:rPr>
              <a:t>Licencié Oui/Non, si Oui : nom du club</a:t>
            </a:r>
            <a:endParaRPr sz="1200">
              <a:solidFill>
                <a:srgbClr val="D9D9D9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200"/>
              <a:buChar char="❖"/>
            </a:pPr>
            <a:r>
              <a:rPr lang="fr" sz="1200">
                <a:solidFill>
                  <a:srgbClr val="D9D9D9"/>
                </a:solidFill>
              </a:rPr>
              <a:t>Considérez vous être </a:t>
            </a:r>
            <a:endParaRPr sz="1200">
              <a:solidFill>
                <a:srgbClr val="D9D9D9"/>
              </a:solidFill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200"/>
              <a:buChar char="➢"/>
            </a:pPr>
            <a:r>
              <a:rPr lang="fr" sz="1200">
                <a:solidFill>
                  <a:srgbClr val="D9D9D9"/>
                </a:solidFill>
              </a:rPr>
              <a:t>débutant</a:t>
            </a:r>
            <a:endParaRPr sz="1200">
              <a:solidFill>
                <a:srgbClr val="D9D9D9"/>
              </a:solidFill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200"/>
              <a:buChar char="➢"/>
            </a:pPr>
            <a:r>
              <a:rPr lang="fr" sz="1200">
                <a:solidFill>
                  <a:srgbClr val="D9D9D9"/>
                </a:solidFill>
              </a:rPr>
              <a:t>expérience régulière</a:t>
            </a:r>
            <a:endParaRPr sz="1200">
              <a:solidFill>
                <a:srgbClr val="D9D9D9"/>
              </a:solidFill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200"/>
              <a:buChar char="➢"/>
            </a:pPr>
            <a:r>
              <a:rPr lang="fr" sz="1200">
                <a:solidFill>
                  <a:srgbClr val="D9D9D9"/>
                </a:solidFill>
              </a:rPr>
              <a:t>haut niveau</a:t>
            </a:r>
            <a:endParaRPr sz="1200">
              <a:solidFill>
                <a:srgbClr val="D9D9D9"/>
              </a:solidFill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200"/>
              <a:buChar char="➢"/>
            </a:pPr>
            <a:r>
              <a:rPr lang="fr" sz="1200">
                <a:solidFill>
                  <a:srgbClr val="D9D9D9"/>
                </a:solidFill>
              </a:rPr>
              <a:t>professionnel</a:t>
            </a:r>
            <a:endParaRPr sz="1200">
              <a:solidFill>
                <a:srgbClr val="D9D9D9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200"/>
              <a:buChar char="❖"/>
            </a:pPr>
            <a:r>
              <a:rPr lang="fr" sz="1200">
                <a:solidFill>
                  <a:srgbClr val="D9D9D9"/>
                </a:solidFill>
              </a:rPr>
              <a:t>Présentation</a:t>
            </a:r>
            <a:endParaRPr sz="1200">
              <a:solidFill>
                <a:srgbClr val="D9D9D9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200"/>
              <a:buChar char="❖"/>
            </a:pPr>
            <a:r>
              <a:rPr lang="fr" sz="1200">
                <a:solidFill>
                  <a:srgbClr val="D9D9D9"/>
                </a:solidFill>
              </a:rPr>
              <a:t>Adresse Mail / numéro de téléphone</a:t>
            </a:r>
            <a:endParaRPr sz="1200">
              <a:solidFill>
                <a:srgbClr val="D9D9D9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200"/>
              <a:buChar char="❖"/>
            </a:pPr>
            <a:r>
              <a:rPr lang="fr" sz="1200">
                <a:solidFill>
                  <a:srgbClr val="D9D9D9"/>
                </a:solidFill>
              </a:rPr>
              <a:t>Carte d’identité</a:t>
            </a:r>
            <a:endParaRPr sz="1200">
              <a:solidFill>
                <a:srgbClr val="D9D9D9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200"/>
              <a:buChar char="❖"/>
            </a:pPr>
            <a:r>
              <a:rPr lang="fr" sz="1200">
                <a:solidFill>
                  <a:srgbClr val="D9D9D9"/>
                </a:solidFill>
              </a:rPr>
              <a:t>Photo d’identité (utilisé comme photo de profil)</a:t>
            </a:r>
            <a:endParaRPr sz="1200">
              <a:solidFill>
                <a:srgbClr val="D9D9D9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200"/>
              <a:buChar char="❖"/>
            </a:pPr>
            <a:r>
              <a:rPr lang="fr" sz="1200">
                <a:solidFill>
                  <a:srgbClr val="D9D9D9"/>
                </a:solidFill>
              </a:rPr>
              <a:t>Souhaitez vous enregistrer votre CB</a:t>
            </a:r>
            <a:endParaRPr sz="1200">
              <a:solidFill>
                <a:srgbClr val="D9D9D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9"/>
          <p:cNvSpPr txBox="1"/>
          <p:nvPr>
            <p:ph type="title"/>
          </p:nvPr>
        </p:nvSpPr>
        <p:spPr>
          <a:xfrm>
            <a:off x="1052550" y="41480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Basket-ball</a:t>
            </a:r>
            <a:endParaRPr/>
          </a:p>
        </p:txBody>
      </p:sp>
      <p:sp>
        <p:nvSpPr>
          <p:cNvPr id="184" name="Google Shape;184;p19"/>
          <p:cNvSpPr txBox="1"/>
          <p:nvPr>
            <p:ph idx="1" type="body"/>
          </p:nvPr>
        </p:nvSpPr>
        <p:spPr>
          <a:xfrm>
            <a:off x="311700" y="1457275"/>
            <a:ext cx="5117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u="sng"/>
              <a:t>Réservation</a:t>
            </a:r>
            <a:endParaRPr u="sng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fr" u="sng"/>
              <a:t>Souhaitez vous envoyer un message au coach ?</a:t>
            </a:r>
            <a:endParaRPr u="sng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fr"/>
              <a:t>joueur : Est ce que l’on pourra faire une séance spécifique gainage ?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fr"/>
              <a:t>Mike.F : Oui bien sûr, avez vous l’habitude d’en faire ?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fr"/>
              <a:t>Joueur : oui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fr"/>
              <a:t>Mike.F : Très bien j'emmènerai un tapis pour vos coudes 😉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fr"/>
              <a:t>Joueur : Super je valide, à lundi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fr"/>
              <a:t>Mike.F : A lundi !</a:t>
            </a:r>
            <a:endParaRPr/>
          </a:p>
        </p:txBody>
      </p:sp>
      <p:sp>
        <p:nvSpPr>
          <p:cNvPr id="185" name="Google Shape;185;p19"/>
          <p:cNvSpPr txBox="1"/>
          <p:nvPr/>
        </p:nvSpPr>
        <p:spPr>
          <a:xfrm>
            <a:off x="5727825" y="1796750"/>
            <a:ext cx="3290100" cy="93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" sz="1800">
                <a:solidFill>
                  <a:schemeClr val="dk2"/>
                </a:solidFill>
              </a:rPr>
              <a:t>Lundi 19h-20h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" sz="1800">
                <a:solidFill>
                  <a:schemeClr val="dk2"/>
                </a:solidFill>
              </a:rPr>
              <a:t>Individuel 40€ / heure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186" name="Google Shape;186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63000" y="194475"/>
            <a:ext cx="1905000" cy="790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20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Basket-ball</a:t>
            </a:r>
            <a:endParaRPr/>
          </a:p>
        </p:txBody>
      </p:sp>
      <p:sp>
        <p:nvSpPr>
          <p:cNvPr id="192" name="Google Shape;192;p20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u="sng"/>
              <a:t>Paiement</a:t>
            </a:r>
            <a:endParaRPr u="sng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fr"/>
              <a:t>Au moment du paiement vous aurez un code qu’il faudra transmettre au coach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fr"/>
              <a:t>Annulation gratuite à 48h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fr"/>
              <a:t>Annulation 50% à 24h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fr"/>
              <a:t>Annulation sous 24h pas de remboursement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fr"/>
              <a:t>Utiliser la carte bleu enregistré ?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