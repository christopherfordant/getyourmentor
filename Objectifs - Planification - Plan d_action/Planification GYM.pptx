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d8f3a2f0a1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d8f3a2f0a1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8f3a2f0a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8f3a2f0a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d8f3a2f0a1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d8f3a2f0a1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41b936c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41b936c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451060e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3451060e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41b936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341b936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0" y="1822825"/>
            <a:ext cx="6021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Planification des événements liés à la création de G Y M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Evolution des </a:t>
            </a:r>
            <a:r>
              <a:rPr lang="fr"/>
              <a:t>coûts</a:t>
            </a:r>
            <a:r>
              <a:rPr lang="fr"/>
              <a:t> Générale</a:t>
            </a:r>
            <a:endParaRPr/>
          </a:p>
        </p:txBody>
      </p:sp>
      <p:grpSp>
        <p:nvGrpSpPr>
          <p:cNvPr id="135" name="Google Shape;135;p14"/>
          <p:cNvGrpSpPr/>
          <p:nvPr/>
        </p:nvGrpSpPr>
        <p:grpSpPr>
          <a:xfrm>
            <a:off x="249355" y="1878822"/>
            <a:ext cx="1917734" cy="2315200"/>
            <a:chOff x="1083025" y="1574025"/>
            <a:chExt cx="1933200" cy="2315200"/>
          </a:xfrm>
        </p:grpSpPr>
        <p:sp>
          <p:nvSpPr>
            <p:cNvPr id="136" name="Google Shape;136;p14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Avril 2025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" name="Google Shape;137;p14"/>
            <p:cNvSpPr txBox="1"/>
            <p:nvPr/>
          </p:nvSpPr>
          <p:spPr>
            <a:xfrm>
              <a:off x="1181425" y="2695025"/>
              <a:ext cx="18348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Lancement de la création du site - Application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40 - 50 000 €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9" name="Google Shape;139;p14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" name="Google Shape;140;p14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1944585" y="1878822"/>
            <a:ext cx="1820221" cy="2315200"/>
            <a:chOff x="1083025" y="1574025"/>
            <a:chExt cx="1834900" cy="2315200"/>
          </a:xfrm>
        </p:grpSpPr>
        <p:sp>
          <p:nvSpPr>
            <p:cNvPr id="143" name="Google Shape;143;p14"/>
            <p:cNvSpPr txBox="1"/>
            <p:nvPr/>
          </p:nvSpPr>
          <p:spPr>
            <a:xfrm>
              <a:off x="1510077" y="1574025"/>
              <a:ext cx="718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décembre 2025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Frais Légaux et administratifs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45;p14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1500 - 5000 €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6" name="Google Shape;146;p14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" name="Google Shape;147;p14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14"/>
          <p:cNvGrpSpPr/>
          <p:nvPr/>
        </p:nvGrpSpPr>
        <p:grpSpPr>
          <a:xfrm>
            <a:off x="3642688" y="1878111"/>
            <a:ext cx="1820221" cy="2315200"/>
            <a:chOff x="1083025" y="1574025"/>
            <a:chExt cx="1834900" cy="2315200"/>
          </a:xfrm>
        </p:grpSpPr>
        <p:sp>
          <p:nvSpPr>
            <p:cNvPr id="150" name="Google Shape;150;p14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Février 2026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" name="Google Shape;151;p14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Ouverture du site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14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3" name="Google Shape;153;p14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14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14"/>
          <p:cNvGrpSpPr/>
          <p:nvPr/>
        </p:nvGrpSpPr>
        <p:grpSpPr>
          <a:xfrm>
            <a:off x="5342198" y="1878100"/>
            <a:ext cx="1820221" cy="2315200"/>
            <a:chOff x="1083025" y="1574025"/>
            <a:chExt cx="1834900" cy="2315200"/>
          </a:xfrm>
        </p:grpSpPr>
        <p:sp>
          <p:nvSpPr>
            <p:cNvPr id="157" name="Google Shape;157;p14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Février 2026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" name="Google Shape;158;p14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Marketing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" name="Google Shape;159;p14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5000 - 30 000 €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0" name="Google Shape;160;p14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" name="Google Shape;161;p14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14"/>
          <p:cNvGrpSpPr/>
          <p:nvPr/>
        </p:nvGrpSpPr>
        <p:grpSpPr>
          <a:xfrm>
            <a:off x="7048985" y="1878825"/>
            <a:ext cx="1820221" cy="2315200"/>
            <a:chOff x="1083025" y="1574025"/>
            <a:chExt cx="1834900" cy="2315200"/>
          </a:xfrm>
        </p:grpSpPr>
        <p:sp>
          <p:nvSpPr>
            <p:cNvPr id="164" name="Google Shape;164;p14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20XX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" name="Google Shape;165;p14"/>
            <p:cNvSpPr txBox="1"/>
            <p:nvPr/>
          </p:nvSpPr>
          <p:spPr>
            <a:xfrm>
              <a:off x="1083117" y="2923622"/>
              <a:ext cx="1815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fr" sz="1000">
                  <a:solidFill>
                    <a:srgbClr val="999999"/>
                  </a:solidFill>
                  <a:latin typeface="Roboto"/>
                  <a:ea typeface="Roboto"/>
                  <a:cs typeface="Roboto"/>
                  <a:sym typeface="Roboto"/>
                </a:rPr>
                <a:t>Support Client et Gestion des Utilisateurs  Estimation</a:t>
              </a:r>
              <a:endParaRPr b="1" sz="1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14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2000 - 10 000 €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7" name="Google Shape;167;p14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" name="Google Shape;168;p14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Evolution des </a:t>
            </a:r>
            <a:r>
              <a:rPr lang="fr"/>
              <a:t>tâches</a:t>
            </a:r>
            <a:r>
              <a:rPr lang="fr"/>
              <a:t> Générales</a:t>
            </a:r>
            <a:endParaRPr/>
          </a:p>
        </p:txBody>
      </p:sp>
      <p:grpSp>
        <p:nvGrpSpPr>
          <p:cNvPr id="175" name="Google Shape;175;p15"/>
          <p:cNvGrpSpPr/>
          <p:nvPr/>
        </p:nvGrpSpPr>
        <p:grpSpPr>
          <a:xfrm>
            <a:off x="249421" y="1878822"/>
            <a:ext cx="1614316" cy="2315200"/>
            <a:chOff x="1083025" y="1574025"/>
            <a:chExt cx="2069105" cy="2315200"/>
          </a:xfrm>
        </p:grpSpPr>
        <p:sp>
          <p:nvSpPr>
            <p:cNvPr id="176" name="Google Shape;176;p15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Avril 2025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" name="Google Shape;177;p15"/>
            <p:cNvSpPr txBox="1"/>
            <p:nvPr/>
          </p:nvSpPr>
          <p:spPr>
            <a:xfrm>
              <a:off x="1083030" y="2771228"/>
              <a:ext cx="206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Lancement de la création du site Application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p15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Trouver l’entreprise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Suivie de l’évolution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9" name="Google Shape;179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0" name="Google Shape;180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" name="Google Shape;182;p15"/>
          <p:cNvGrpSpPr/>
          <p:nvPr/>
        </p:nvGrpSpPr>
        <p:grpSpPr>
          <a:xfrm>
            <a:off x="1582621" y="1878825"/>
            <a:ext cx="1431589" cy="2315200"/>
            <a:chOff x="1083025" y="1574028"/>
            <a:chExt cx="1834900" cy="2315200"/>
          </a:xfrm>
        </p:grpSpPr>
        <p:sp>
          <p:nvSpPr>
            <p:cNvPr id="183" name="Google Shape;183;p15"/>
            <p:cNvSpPr txBox="1"/>
            <p:nvPr/>
          </p:nvSpPr>
          <p:spPr>
            <a:xfrm>
              <a:off x="1362604" y="1574028"/>
              <a:ext cx="8661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décembre 2025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" name="Google Shape;184;p15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Frais Légaux et administratifs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" name="Google Shape;185;p15"/>
            <p:cNvSpPr txBox="1"/>
            <p:nvPr/>
          </p:nvSpPr>
          <p:spPr>
            <a:xfrm>
              <a:off x="1083094" y="3151828"/>
              <a:ext cx="1834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Choisir un cabinet d’expert comptable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Avocat d’affaire ?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6" name="Google Shape;186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7" name="Google Shape;187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15"/>
          <p:cNvGrpSpPr/>
          <p:nvPr/>
        </p:nvGrpSpPr>
        <p:grpSpPr>
          <a:xfrm>
            <a:off x="4254643" y="1878100"/>
            <a:ext cx="1431589" cy="2315211"/>
            <a:chOff x="1083025" y="1574014"/>
            <a:chExt cx="1834900" cy="2315211"/>
          </a:xfrm>
        </p:grpSpPr>
        <p:sp>
          <p:nvSpPr>
            <p:cNvPr id="190" name="Google Shape;190;p15"/>
            <p:cNvSpPr txBox="1"/>
            <p:nvPr/>
          </p:nvSpPr>
          <p:spPr>
            <a:xfrm>
              <a:off x="1510072" y="1574014"/>
              <a:ext cx="718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Février 2026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" name="Google Shape;191;p15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Ouverture du site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" name="Google Shape;192;p15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800"/>
                <a:buFont typeface="Roboto"/>
                <a:buChar char="●"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Test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800"/>
                <a:buFont typeface="Roboto"/>
                <a:buChar char="●"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Etre vigilant aux retours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3" name="Google Shape;193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" name="Google Shape;194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5"/>
          <p:cNvGrpSpPr/>
          <p:nvPr/>
        </p:nvGrpSpPr>
        <p:grpSpPr>
          <a:xfrm>
            <a:off x="2908947" y="1878100"/>
            <a:ext cx="1508286" cy="2315200"/>
            <a:chOff x="1083025" y="1574025"/>
            <a:chExt cx="1933204" cy="2315200"/>
          </a:xfrm>
        </p:grpSpPr>
        <p:sp>
          <p:nvSpPr>
            <p:cNvPr id="197" name="Google Shape;197;p15"/>
            <p:cNvSpPr txBox="1"/>
            <p:nvPr/>
          </p:nvSpPr>
          <p:spPr>
            <a:xfrm>
              <a:off x="1510067" y="1574025"/>
              <a:ext cx="718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Février 2026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" name="Google Shape;198;p15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Marketing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" name="Google Shape;199;p15"/>
            <p:cNvSpPr txBox="1"/>
            <p:nvPr/>
          </p:nvSpPr>
          <p:spPr>
            <a:xfrm>
              <a:off x="1083029" y="3151825"/>
              <a:ext cx="1933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800"/>
                <a:buFont typeface="Roboto"/>
                <a:buChar char="●"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Recrutement de commerciaux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0" name="Google Shape;200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1" name="Google Shape;201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" name="Google Shape;203;p15"/>
          <p:cNvGrpSpPr/>
          <p:nvPr/>
        </p:nvGrpSpPr>
        <p:grpSpPr>
          <a:xfrm>
            <a:off x="5596950" y="1878825"/>
            <a:ext cx="1614345" cy="2620000"/>
            <a:chOff x="1083025" y="1574025"/>
            <a:chExt cx="1834900" cy="2620000"/>
          </a:xfrm>
        </p:grpSpPr>
        <p:sp>
          <p:nvSpPr>
            <p:cNvPr id="204" name="Google Shape;204;p15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20XX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" name="Google Shape;205;p15"/>
            <p:cNvSpPr txBox="1"/>
            <p:nvPr/>
          </p:nvSpPr>
          <p:spPr>
            <a:xfrm>
              <a:off x="1083117" y="3152222"/>
              <a:ext cx="1815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fr" sz="1000">
                  <a:solidFill>
                    <a:srgbClr val="999999"/>
                  </a:solidFill>
                  <a:latin typeface="Roboto"/>
                  <a:ea typeface="Roboto"/>
                  <a:cs typeface="Roboto"/>
                  <a:sym typeface="Roboto"/>
                </a:rPr>
                <a:t>Support Client et Gestion des Utilisateurs  Estimation</a:t>
              </a:r>
              <a:endParaRPr b="1" sz="1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" name="Google Shape;206;p15"/>
            <p:cNvSpPr txBox="1"/>
            <p:nvPr/>
          </p:nvSpPr>
          <p:spPr>
            <a:xfrm>
              <a:off x="1215700" y="34566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2000 - 10 000 €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7" name="Google Shape;207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8" name="Google Shape;208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15"/>
          <p:cNvGrpSpPr/>
          <p:nvPr/>
        </p:nvGrpSpPr>
        <p:grpSpPr>
          <a:xfrm>
            <a:off x="6926686" y="1878100"/>
            <a:ext cx="1492803" cy="2696200"/>
            <a:chOff x="1083025" y="1574025"/>
            <a:chExt cx="1913359" cy="2696200"/>
          </a:xfrm>
        </p:grpSpPr>
        <p:sp>
          <p:nvSpPr>
            <p:cNvPr id="211" name="Google Shape;211;p15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20XX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" name="Google Shape;212;p15"/>
            <p:cNvSpPr txBox="1"/>
            <p:nvPr/>
          </p:nvSpPr>
          <p:spPr>
            <a:xfrm>
              <a:off x="1180784" y="3152222"/>
              <a:ext cx="1815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fr" sz="1000">
                  <a:solidFill>
                    <a:srgbClr val="999999"/>
                  </a:solidFill>
                  <a:latin typeface="Roboto"/>
                  <a:ea typeface="Roboto"/>
                  <a:cs typeface="Roboto"/>
                  <a:sym typeface="Roboto"/>
                </a:rPr>
                <a:t>Support Client et Gestion des Utilisateurs  Estimation</a:t>
              </a:r>
              <a:endParaRPr b="1" sz="10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15"/>
            <p:cNvSpPr txBox="1"/>
            <p:nvPr/>
          </p:nvSpPr>
          <p:spPr>
            <a:xfrm>
              <a:off x="1313367" y="3532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2000 - 10 000 €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4" name="Google Shape;214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5" name="Google Shape;215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819150" y="83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GYM CANVA</a:t>
            </a:r>
            <a:endParaRPr/>
          </a:p>
        </p:txBody>
      </p:sp>
      <p:grpSp>
        <p:nvGrpSpPr>
          <p:cNvPr id="222" name="Google Shape;222;p16"/>
          <p:cNvGrpSpPr/>
          <p:nvPr/>
        </p:nvGrpSpPr>
        <p:grpSpPr>
          <a:xfrm>
            <a:off x="1494788" y="1687914"/>
            <a:ext cx="2374661" cy="2658592"/>
            <a:chOff x="692361" y="1574028"/>
            <a:chExt cx="2459769" cy="2467600"/>
          </a:xfrm>
        </p:grpSpPr>
        <p:sp>
          <p:nvSpPr>
            <p:cNvPr id="223" name="Google Shape;223;p16"/>
            <p:cNvSpPr txBox="1"/>
            <p:nvPr/>
          </p:nvSpPr>
          <p:spPr>
            <a:xfrm>
              <a:off x="1258274" y="1574028"/>
              <a:ext cx="9702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0 à 2 mois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" name="Google Shape;224;p16"/>
            <p:cNvSpPr txBox="1"/>
            <p:nvPr/>
          </p:nvSpPr>
          <p:spPr>
            <a:xfrm>
              <a:off x="1083030" y="2847428"/>
              <a:ext cx="206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Développement</a:t>
              </a: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 de la plateforme GetYourMentor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" name="Google Shape;225;p16"/>
            <p:cNvSpPr txBox="1"/>
            <p:nvPr/>
          </p:nvSpPr>
          <p:spPr>
            <a:xfrm>
              <a:off x="692361" y="3304228"/>
              <a:ext cx="24597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i="1"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Création du site web avec un focus sur l’expérience utilisateur et la fluidité des réservation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6" name="Google Shape;226;p16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7" name="Google Shape;227;p1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" name="Google Shape;229;p16"/>
          <p:cNvGrpSpPr/>
          <p:nvPr/>
        </p:nvGrpSpPr>
        <p:grpSpPr>
          <a:xfrm>
            <a:off x="5084839" y="1687914"/>
            <a:ext cx="2290605" cy="2570596"/>
            <a:chOff x="794579" y="1574028"/>
            <a:chExt cx="2372700" cy="2385926"/>
          </a:xfrm>
        </p:grpSpPr>
        <p:sp>
          <p:nvSpPr>
            <p:cNvPr id="230" name="Google Shape;230;p16"/>
            <p:cNvSpPr txBox="1"/>
            <p:nvPr/>
          </p:nvSpPr>
          <p:spPr>
            <a:xfrm>
              <a:off x="1362604" y="1574028"/>
              <a:ext cx="8661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4 à 6 mois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" name="Google Shape;231;p16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Test et corrections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" name="Google Shape;232;p16"/>
            <p:cNvSpPr txBox="1"/>
            <p:nvPr/>
          </p:nvSpPr>
          <p:spPr>
            <a:xfrm>
              <a:off x="794579" y="3222553"/>
              <a:ext cx="23727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i="1"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Bêta-test avec un </a:t>
              </a:r>
              <a:r>
                <a:rPr i="1"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panel</a:t>
              </a:r>
              <a:r>
                <a:rPr i="1"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 de coachs et de clubs pour optimiser la plateforme avant le lancement </a:t>
              </a:r>
              <a:r>
                <a:rPr i="1"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officiel avant</a:t>
              </a:r>
              <a:r>
                <a:rPr i="1"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 le lancement officiel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3" name="Google Shape;233;p16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4" name="Google Shape;234;p1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16"/>
          <p:cNvGrpSpPr/>
          <p:nvPr/>
        </p:nvGrpSpPr>
        <p:grpSpPr>
          <a:xfrm>
            <a:off x="3609983" y="1687133"/>
            <a:ext cx="1866315" cy="2570596"/>
            <a:chOff x="1083025" y="1574025"/>
            <a:chExt cx="1933204" cy="2385926"/>
          </a:xfrm>
        </p:grpSpPr>
        <p:sp>
          <p:nvSpPr>
            <p:cNvPr id="237" name="Google Shape;237;p16"/>
            <p:cNvSpPr txBox="1"/>
            <p:nvPr/>
          </p:nvSpPr>
          <p:spPr>
            <a:xfrm>
              <a:off x="1289419" y="1574025"/>
              <a:ext cx="939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 à 4 mois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8" name="Google Shape;238;p16"/>
            <p:cNvSpPr txBox="1"/>
            <p:nvPr/>
          </p:nvSpPr>
          <p:spPr>
            <a:xfrm>
              <a:off x="1138140" y="2836476"/>
              <a:ext cx="18348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Mise en place des outils de paiement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" name="Google Shape;239;p16"/>
            <p:cNvSpPr txBox="1"/>
            <p:nvPr/>
          </p:nvSpPr>
          <p:spPr>
            <a:xfrm>
              <a:off x="1083029" y="3222551"/>
              <a:ext cx="1933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58585"/>
                </a:buClr>
                <a:buSzPts val="800"/>
                <a:buFont typeface="Roboto"/>
                <a:buChar char="●"/>
              </a:pPr>
              <a:r>
                <a:rPr i="1"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système sécurisé de gestion des transaction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0" name="Google Shape;240;p16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1" name="Google Shape;241;p1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type="title"/>
          </p:nvPr>
        </p:nvSpPr>
        <p:spPr>
          <a:xfrm>
            <a:off x="819150" y="83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GYM CANVA</a:t>
            </a:r>
            <a:endParaRPr/>
          </a:p>
        </p:txBody>
      </p:sp>
      <p:grpSp>
        <p:nvGrpSpPr>
          <p:cNvPr id="248" name="Google Shape;248;p17"/>
          <p:cNvGrpSpPr/>
          <p:nvPr/>
        </p:nvGrpSpPr>
        <p:grpSpPr>
          <a:xfrm>
            <a:off x="1671950" y="1687940"/>
            <a:ext cx="2121245" cy="2502582"/>
            <a:chOff x="604017" y="1574028"/>
            <a:chExt cx="2459700" cy="2322797"/>
          </a:xfrm>
        </p:grpSpPr>
        <p:sp>
          <p:nvSpPr>
            <p:cNvPr id="249" name="Google Shape;249;p17"/>
            <p:cNvSpPr txBox="1"/>
            <p:nvPr/>
          </p:nvSpPr>
          <p:spPr>
            <a:xfrm>
              <a:off x="1258274" y="1574028"/>
              <a:ext cx="9702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6 à 8</a:t>
              </a: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 mois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" name="Google Shape;250;p17"/>
            <p:cNvSpPr txBox="1"/>
            <p:nvPr/>
          </p:nvSpPr>
          <p:spPr>
            <a:xfrm>
              <a:off x="647516" y="2847427"/>
              <a:ext cx="23727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Campagne de marketing </a:t>
              </a: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digital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604017" y="3293825"/>
              <a:ext cx="24597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publicités ciblées sur les réseaux sociaux, </a:t>
              </a: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référencement</a:t>
              </a: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 SEO, partenariats avec influenceurs et clubs sportifs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2" name="Google Shape;252;p17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3" name="Google Shape;253;p17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" name="Google Shape;255;p17"/>
          <p:cNvGrpSpPr/>
          <p:nvPr/>
        </p:nvGrpSpPr>
        <p:grpSpPr>
          <a:xfrm>
            <a:off x="5237239" y="1687914"/>
            <a:ext cx="2290605" cy="2722996"/>
            <a:chOff x="952441" y="1574028"/>
            <a:chExt cx="2372700" cy="2527377"/>
          </a:xfrm>
        </p:grpSpPr>
        <p:sp>
          <p:nvSpPr>
            <p:cNvPr id="256" name="Google Shape;256;p17"/>
            <p:cNvSpPr txBox="1"/>
            <p:nvPr/>
          </p:nvSpPr>
          <p:spPr>
            <a:xfrm>
              <a:off x="1362604" y="1574028"/>
              <a:ext cx="8661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10 à 12 </a:t>
              </a:r>
              <a:r>
                <a:rPr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mois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1110107" y="2836475"/>
              <a:ext cx="1933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Optimisation continue 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952441" y="3364005"/>
              <a:ext cx="23727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800"/>
                <a:buFont typeface="Roboto"/>
                <a:buChar char="●"/>
              </a:pPr>
              <a:r>
                <a:rPr i="1" lang="fr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ajustement des fonctionnalités en fonction des retours utilisateurs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9" name="Google Shape;259;p17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0" name="Google Shape;260;p17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261" name="Google Shape;261;p17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" name="Google Shape;262;p17"/>
          <p:cNvGrpSpPr/>
          <p:nvPr/>
        </p:nvGrpSpPr>
        <p:grpSpPr>
          <a:xfrm>
            <a:off x="3609983" y="1687133"/>
            <a:ext cx="1942515" cy="2722996"/>
            <a:chOff x="1083025" y="1574025"/>
            <a:chExt cx="2012135" cy="2527377"/>
          </a:xfrm>
        </p:grpSpPr>
        <p:sp>
          <p:nvSpPr>
            <p:cNvPr id="263" name="Google Shape;263;p17"/>
            <p:cNvSpPr txBox="1"/>
            <p:nvPr/>
          </p:nvSpPr>
          <p:spPr>
            <a:xfrm>
              <a:off x="1289419" y="1574025"/>
              <a:ext cx="939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8 à 10 </a:t>
              </a:r>
              <a:r>
                <a:rPr lang="fr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mois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4" name="Google Shape;264;p17"/>
            <p:cNvSpPr txBox="1"/>
            <p:nvPr/>
          </p:nvSpPr>
          <p:spPr>
            <a:xfrm>
              <a:off x="1217071" y="2977928"/>
              <a:ext cx="18348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00">
                  <a:solidFill>
                    <a:srgbClr val="C2C2C2"/>
                  </a:solidFill>
                  <a:latin typeface="Roboto"/>
                  <a:ea typeface="Roboto"/>
                  <a:cs typeface="Roboto"/>
                  <a:sym typeface="Roboto"/>
                </a:rPr>
                <a:t>Onboarding des premiers coachs et clubs</a:t>
              </a:r>
              <a:endParaRPr b="1" sz="1000">
                <a:solidFill>
                  <a:srgbClr val="C2C2C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1161960" y="3364002"/>
              <a:ext cx="19332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2C2C2"/>
                </a:buClr>
                <a:buSzPts val="800"/>
                <a:buFont typeface="Roboto"/>
                <a:buChar char="●"/>
              </a:pPr>
              <a:r>
                <a:rPr lang="fr" sz="800">
                  <a:solidFill>
                    <a:srgbClr val="C2C2C2"/>
                  </a:solidFill>
                  <a:latin typeface="Roboto"/>
                  <a:ea typeface="Roboto"/>
                  <a:cs typeface="Roboto"/>
                  <a:sym typeface="Roboto"/>
                </a:rPr>
                <a:t>accompagnement des utilisateurs pour garantir une adoption rapide</a:t>
              </a:r>
              <a:endParaRPr sz="800">
                <a:solidFill>
                  <a:srgbClr val="C2C2C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4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2C2C2"/>
                </a:buClr>
                <a:buSzPts val="800"/>
                <a:buFont typeface="Roboto"/>
                <a:buChar char="●"/>
              </a:pPr>
              <a:r>
                <a:t/>
              </a:r>
              <a:endParaRPr i="1" sz="800">
                <a:solidFill>
                  <a:srgbClr val="C2C2C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66" name="Google Shape;266;p17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7" name="Google Shape;267;p17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  </a:t>
              </a:r>
              <a:endParaRPr/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